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5753100" cy="3238500"/>
  <p:notesSz cx="6858000" cy="9144000"/>
  <p:embeddedFontLst>
    <p:embeddedFont>
      <p:font typeface="IBM Plex Sans Bold" charset="1" panose="020B0803050203000203"/>
      <p:regular r:id="rId12"/>
    </p:embeddedFont>
    <p:embeddedFont>
      <p:font typeface="IBM Plex Sans" charset="1" panose="020B0503050203000203"/>
      <p:regular r:id="rId13"/>
    </p:embeddedFont>
    <p:embeddedFont>
      <p:font typeface="IBM Plex Sans Condensed" charset="1" panose="020B0506050203000203"/>
      <p:regular r:id="rId14"/>
    </p:embeddedFont>
    <p:embeddedFont>
      <p:font typeface="IBM Plex Sans Condensed Bold" charset="1" panose="020B0806050203000203"/>
      <p:regular r:id="rId15"/>
    </p:embeddedFont>
    <p:embeddedFont>
      <p:font typeface="Open Sans Bold Italics" charset="1" panose="020B0806030504020204"/>
      <p:regular r:id="rId16"/>
    </p:embeddedFont>
    <p:embeddedFont>
      <p:font typeface="Lora Bold" charset="1" panose="00000800000000000000"/>
      <p:regular r:id="rId17"/>
    </p:embeddedFont>
    <p:embeddedFont>
      <p:font typeface="IBM Plex Sans Italics" charset="1" panose="020B05030502030002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00495" y="99117"/>
            <a:ext cx="809920" cy="381914"/>
            <a:chOff x="0" y="0"/>
            <a:chExt cx="1079894" cy="509219"/>
          </a:xfrm>
        </p:grpSpPr>
        <p:sp>
          <p:nvSpPr>
            <p:cNvPr name="Freeform 3" id="3"/>
            <p:cNvSpPr/>
            <p:nvPr/>
          </p:nvSpPr>
          <p:spPr>
            <a:xfrm flipH="false" flipV="false" rot="0">
              <a:off x="0" y="0"/>
              <a:ext cx="1079881" cy="509270"/>
            </a:xfrm>
            <a:custGeom>
              <a:avLst/>
              <a:gdLst/>
              <a:ahLst/>
              <a:cxnLst/>
              <a:rect r="r" b="b" t="t" l="l"/>
              <a:pathLst>
                <a:path h="509270" w="1079881">
                  <a:moveTo>
                    <a:pt x="0" y="0"/>
                  </a:moveTo>
                  <a:lnTo>
                    <a:pt x="1079881" y="0"/>
                  </a:lnTo>
                  <a:lnTo>
                    <a:pt x="1079881" y="509270"/>
                  </a:lnTo>
                  <a:lnTo>
                    <a:pt x="0" y="509270"/>
                  </a:lnTo>
                  <a:lnTo>
                    <a:pt x="0" y="0"/>
                  </a:lnTo>
                  <a:close/>
                </a:path>
              </a:pathLst>
            </a:custGeom>
            <a:blipFill>
              <a:blip r:embed="rId2"/>
              <a:stretch>
                <a:fillRect l="0" t="0" r="-1" b="9"/>
              </a:stretch>
            </a:blipFill>
          </p:spPr>
        </p:sp>
      </p:grpSp>
      <p:grpSp>
        <p:nvGrpSpPr>
          <p:cNvPr name="Group 4" id="4"/>
          <p:cNvGrpSpPr/>
          <p:nvPr/>
        </p:nvGrpSpPr>
        <p:grpSpPr>
          <a:xfrm rot="0">
            <a:off x="3004118" y="666026"/>
            <a:ext cx="2019757" cy="2159984"/>
            <a:chOff x="0" y="0"/>
            <a:chExt cx="2693010" cy="2879979"/>
          </a:xfrm>
        </p:grpSpPr>
        <p:sp>
          <p:nvSpPr>
            <p:cNvPr name="Freeform 5" id="5"/>
            <p:cNvSpPr/>
            <p:nvPr/>
          </p:nvSpPr>
          <p:spPr>
            <a:xfrm flipH="false" flipV="false" rot="0">
              <a:off x="0" y="0"/>
              <a:ext cx="2693035" cy="2879979"/>
            </a:xfrm>
            <a:custGeom>
              <a:avLst/>
              <a:gdLst/>
              <a:ahLst/>
              <a:cxnLst/>
              <a:rect r="r" b="b" t="t" l="l"/>
              <a:pathLst>
                <a:path h="2879979" w="2693035">
                  <a:moveTo>
                    <a:pt x="0" y="0"/>
                  </a:moveTo>
                  <a:lnTo>
                    <a:pt x="2693035" y="0"/>
                  </a:lnTo>
                  <a:lnTo>
                    <a:pt x="2693035" y="2879979"/>
                  </a:lnTo>
                  <a:lnTo>
                    <a:pt x="0" y="2879979"/>
                  </a:lnTo>
                  <a:lnTo>
                    <a:pt x="0" y="0"/>
                  </a:lnTo>
                  <a:close/>
                </a:path>
              </a:pathLst>
            </a:custGeom>
            <a:blipFill>
              <a:blip r:embed="rId3">
                <a:alphaModFix amt="9000"/>
              </a:blip>
              <a:stretch>
                <a:fillRect l="0" t="0" r="0" b="0"/>
              </a:stretch>
            </a:blipFill>
          </p:spPr>
        </p:sp>
      </p:grpSp>
      <p:grpSp>
        <p:nvGrpSpPr>
          <p:cNvPr name="Group 6" id="6"/>
          <p:cNvGrpSpPr/>
          <p:nvPr/>
        </p:nvGrpSpPr>
        <p:grpSpPr>
          <a:xfrm rot="0">
            <a:off x="3369564" y="1035158"/>
            <a:ext cx="1396860" cy="1493844"/>
            <a:chOff x="0" y="0"/>
            <a:chExt cx="1862480" cy="1991792"/>
          </a:xfrm>
        </p:grpSpPr>
        <p:sp>
          <p:nvSpPr>
            <p:cNvPr name="Freeform 7" id="7"/>
            <p:cNvSpPr/>
            <p:nvPr/>
          </p:nvSpPr>
          <p:spPr>
            <a:xfrm flipH="false" flipV="false" rot="0">
              <a:off x="0" y="0"/>
              <a:ext cx="1862455" cy="1991741"/>
            </a:xfrm>
            <a:custGeom>
              <a:avLst/>
              <a:gdLst/>
              <a:ahLst/>
              <a:cxnLst/>
              <a:rect r="r" b="b" t="t" l="l"/>
              <a:pathLst>
                <a:path h="1991741" w="1862455">
                  <a:moveTo>
                    <a:pt x="0" y="0"/>
                  </a:moveTo>
                  <a:lnTo>
                    <a:pt x="1862455" y="0"/>
                  </a:lnTo>
                  <a:lnTo>
                    <a:pt x="1862455" y="1991741"/>
                  </a:lnTo>
                  <a:lnTo>
                    <a:pt x="0" y="1991741"/>
                  </a:lnTo>
                  <a:lnTo>
                    <a:pt x="0" y="0"/>
                  </a:lnTo>
                  <a:close/>
                </a:path>
              </a:pathLst>
            </a:custGeom>
            <a:blipFill>
              <a:blip r:embed="rId3"/>
              <a:stretch>
                <a:fillRect l="0" t="0" r="-1" b="-2"/>
              </a:stretch>
            </a:blipFill>
          </p:spPr>
        </p:sp>
      </p:grpSp>
      <p:grpSp>
        <p:nvGrpSpPr>
          <p:cNvPr name="Group 8" id="8"/>
          <p:cNvGrpSpPr/>
          <p:nvPr/>
        </p:nvGrpSpPr>
        <p:grpSpPr>
          <a:xfrm rot="0">
            <a:off x="-38" y="3124810"/>
            <a:ext cx="5760072" cy="115205"/>
            <a:chOff x="0" y="0"/>
            <a:chExt cx="5760072" cy="115202"/>
          </a:xfrm>
        </p:grpSpPr>
        <p:sp>
          <p:nvSpPr>
            <p:cNvPr name="Freeform 9" id="9"/>
            <p:cNvSpPr/>
            <p:nvPr/>
          </p:nvSpPr>
          <p:spPr>
            <a:xfrm flipH="false" flipV="false" rot="0">
              <a:off x="0" y="0"/>
              <a:ext cx="5760083" cy="115187"/>
            </a:xfrm>
            <a:custGeom>
              <a:avLst/>
              <a:gdLst/>
              <a:ahLst/>
              <a:cxnLst/>
              <a:rect r="r" b="b" t="t" l="l"/>
              <a:pathLst>
                <a:path h="115187" w="5760083">
                  <a:moveTo>
                    <a:pt x="0" y="115187"/>
                  </a:moveTo>
                  <a:lnTo>
                    <a:pt x="0" y="0"/>
                  </a:lnTo>
                  <a:lnTo>
                    <a:pt x="5760083" y="0"/>
                  </a:lnTo>
                  <a:lnTo>
                    <a:pt x="5760083" y="115187"/>
                  </a:lnTo>
                  <a:close/>
                </a:path>
              </a:pathLst>
            </a:custGeom>
            <a:solidFill>
              <a:srgbClr val="087CC1"/>
            </a:solidFill>
          </p:spPr>
        </p:sp>
      </p:grpSp>
      <p:sp>
        <p:nvSpPr>
          <p:cNvPr name="TextBox 10" id="10"/>
          <p:cNvSpPr txBox="true"/>
          <p:nvPr/>
        </p:nvSpPr>
        <p:spPr>
          <a:xfrm rot="0">
            <a:off x="711860" y="2229"/>
            <a:ext cx="3894211" cy="324545"/>
          </a:xfrm>
          <a:prstGeom prst="rect">
            <a:avLst/>
          </a:prstGeom>
        </p:spPr>
        <p:txBody>
          <a:bodyPr anchor="t" rtlCol="false" tIns="0" lIns="0" bIns="0" rIns="0">
            <a:spAutoFit/>
          </a:bodyPr>
          <a:lstStyle/>
          <a:p>
            <a:pPr algn="l">
              <a:lnSpc>
                <a:spcPts val="2510"/>
              </a:lnSpc>
            </a:pPr>
            <a:r>
              <a:rPr lang="en-US" b="true" sz="1793" spc="-30">
                <a:solidFill>
                  <a:srgbClr val="183E69"/>
                </a:solidFill>
                <a:latin typeface="IBM Plex Sans Bold"/>
                <a:ea typeface="IBM Plex Sans Bold"/>
                <a:cs typeface="IBM Plex Sans Bold"/>
                <a:sym typeface="IBM Plex Sans Bold"/>
              </a:rPr>
              <a:t>SMART</a:t>
            </a:r>
            <a:r>
              <a:rPr lang="en-US" b="true" sz="1793" spc="-30">
                <a:solidFill>
                  <a:srgbClr val="FFFFFF"/>
                </a:solidFill>
                <a:latin typeface="IBM Plex Sans Bold"/>
                <a:ea typeface="IBM Plex Sans Bold"/>
                <a:cs typeface="IBM Plex Sans Bold"/>
                <a:sym typeface="IBM Plex Sans Bold"/>
              </a:rPr>
              <a:t> </a:t>
            </a:r>
            <a:r>
              <a:rPr lang="en-US" b="true" sz="1793" spc="-30">
                <a:solidFill>
                  <a:srgbClr val="183E69"/>
                </a:solidFill>
                <a:latin typeface="IBM Plex Sans Bold"/>
                <a:ea typeface="IBM Plex Sans Bold"/>
                <a:cs typeface="IBM Plex Sans Bold"/>
                <a:sym typeface="IBM Plex Sans Bold"/>
              </a:rPr>
              <a:t>INDIA</a:t>
            </a:r>
            <a:r>
              <a:rPr lang="en-US" b="true" sz="1793" spc="-30">
                <a:solidFill>
                  <a:srgbClr val="FFFFFF"/>
                </a:solidFill>
                <a:latin typeface="IBM Plex Sans Bold"/>
                <a:ea typeface="IBM Plex Sans Bold"/>
                <a:cs typeface="IBM Plex Sans Bold"/>
                <a:sym typeface="IBM Plex Sans Bold"/>
              </a:rPr>
              <a:t> </a:t>
            </a:r>
            <a:r>
              <a:rPr lang="en-US" b="true" sz="1793" spc="-30">
                <a:solidFill>
                  <a:srgbClr val="183E69"/>
                </a:solidFill>
                <a:latin typeface="IBM Plex Sans Bold"/>
                <a:ea typeface="IBM Plex Sans Bold"/>
                <a:cs typeface="IBM Plex Sans Bold"/>
                <a:sym typeface="IBM Plex Sans Bold"/>
              </a:rPr>
              <a:t>HACKATHON</a:t>
            </a:r>
            <a:r>
              <a:rPr lang="en-US" b="true" sz="1793" spc="-30">
                <a:solidFill>
                  <a:srgbClr val="FFFFFF"/>
                </a:solidFill>
                <a:latin typeface="IBM Plex Sans Bold"/>
                <a:ea typeface="IBM Plex Sans Bold"/>
                <a:cs typeface="IBM Plex Sans Bold"/>
                <a:sym typeface="IBM Plex Sans Bold"/>
              </a:rPr>
              <a:t> </a:t>
            </a:r>
            <a:r>
              <a:rPr lang="en-US" b="true" sz="1793" spc="-30">
                <a:solidFill>
                  <a:srgbClr val="183E69"/>
                </a:solidFill>
                <a:latin typeface="IBM Plex Sans Bold"/>
                <a:ea typeface="IBM Plex Sans Bold"/>
                <a:cs typeface="IBM Plex Sans Bold"/>
                <a:sym typeface="IBM Plex Sans Bold"/>
              </a:rPr>
              <a:t>2026</a:t>
            </a:r>
          </a:p>
        </p:txBody>
      </p:sp>
      <p:sp>
        <p:nvSpPr>
          <p:cNvPr name="TextBox 11" id="11"/>
          <p:cNvSpPr txBox="true"/>
          <p:nvPr/>
        </p:nvSpPr>
        <p:spPr>
          <a:xfrm rot="0">
            <a:off x="136169" y="304861"/>
            <a:ext cx="3081509" cy="1586692"/>
          </a:xfrm>
          <a:prstGeom prst="rect">
            <a:avLst/>
          </a:prstGeom>
        </p:spPr>
        <p:txBody>
          <a:bodyPr anchor="t" rtlCol="false" tIns="0" lIns="0" bIns="0" rIns="0">
            <a:spAutoFit/>
          </a:bodyPr>
          <a:lstStyle/>
          <a:p>
            <a:pPr algn="l">
              <a:lnSpc>
                <a:spcPts val="1865"/>
              </a:lnSpc>
            </a:pPr>
            <a:r>
              <a:rPr lang="en-US" sz="1090" spc="-18">
                <a:solidFill>
                  <a:srgbClr val="263746"/>
                </a:solidFill>
                <a:latin typeface="IBM Plex Sans"/>
                <a:ea typeface="IBM Plex Sans"/>
                <a:cs typeface="IBM Plex Sans"/>
                <a:sym typeface="IBM Plex Sans"/>
              </a:rPr>
              <a:t>•</a:t>
            </a:r>
            <a:r>
              <a:rPr lang="en-US" b="true" sz="1090" spc="-18">
                <a:solidFill>
                  <a:srgbClr val="FFFFFF"/>
                </a:solidFill>
                <a:latin typeface="IBM Plex Sans Bold"/>
                <a:ea typeface="IBM Plex Sans Bold"/>
                <a:cs typeface="IBM Plex Sans Bold"/>
                <a:sym typeface="IBM Plex Sans Bold"/>
              </a:rPr>
              <a:t> </a:t>
            </a:r>
            <a:r>
              <a:rPr lang="en-US" b="true" sz="1090" spc="-18">
                <a:solidFill>
                  <a:srgbClr val="263746"/>
                </a:solidFill>
                <a:latin typeface="IBM Plex Sans Bold"/>
                <a:ea typeface="IBM Plex Sans Bold"/>
                <a:cs typeface="IBM Plex Sans Bold"/>
                <a:sym typeface="IBM Plex Sans Bold"/>
              </a:rPr>
              <a:t>Problem</a:t>
            </a:r>
            <a:r>
              <a:rPr lang="en-US" b="true" sz="1090" spc="-18">
                <a:solidFill>
                  <a:srgbClr val="FFFFFF"/>
                </a:solidFill>
                <a:latin typeface="IBM Plex Sans Bold"/>
                <a:ea typeface="IBM Plex Sans Bold"/>
                <a:cs typeface="IBM Plex Sans Bold"/>
                <a:sym typeface="IBM Plex Sans Bold"/>
              </a:rPr>
              <a:t> </a:t>
            </a:r>
            <a:r>
              <a:rPr lang="en-US" b="true" sz="1090" spc="-18">
                <a:solidFill>
                  <a:srgbClr val="263746"/>
                </a:solidFill>
                <a:latin typeface="IBM Plex Sans Bold"/>
                <a:ea typeface="IBM Plex Sans Bold"/>
                <a:cs typeface="IBM Plex Sans Bold"/>
                <a:sym typeface="IBM Plex Sans Bold"/>
              </a:rPr>
              <a:t>Statement</a:t>
            </a:r>
            <a:r>
              <a:rPr lang="en-US" b="true" sz="1090" spc="-18">
                <a:solidFill>
                  <a:srgbClr val="FFFFFF"/>
                </a:solidFill>
                <a:latin typeface="IBM Plex Sans Bold"/>
                <a:ea typeface="IBM Plex Sans Bold"/>
                <a:cs typeface="IBM Plex Sans Bold"/>
                <a:sym typeface="IBM Plex Sans Bold"/>
              </a:rPr>
              <a:t> </a:t>
            </a:r>
            <a:r>
              <a:rPr lang="en-US" b="true" sz="1090" spc="-18">
                <a:solidFill>
                  <a:srgbClr val="263746"/>
                </a:solidFill>
                <a:latin typeface="IBM Plex Sans Bold"/>
                <a:ea typeface="IBM Plex Sans Bold"/>
                <a:cs typeface="IBM Plex Sans Bold"/>
                <a:sym typeface="IBM Plex Sans Bold"/>
              </a:rPr>
              <a:t>ID:</a:t>
            </a:r>
            <a:r>
              <a:rPr lang="en-US" sz="1090" spc="-18">
                <a:solidFill>
                  <a:srgbClr val="FFFFFF"/>
                </a:solidFill>
                <a:latin typeface="IBM Plex Sans"/>
                <a:ea typeface="IBM Plex Sans"/>
                <a:cs typeface="IBM Plex Sans"/>
                <a:sym typeface="IBM Plex Sans"/>
              </a:rPr>
              <a:t> </a:t>
            </a:r>
            <a:r>
              <a:rPr lang="en-US" sz="1090" spc="-18">
                <a:solidFill>
                  <a:srgbClr val="263746"/>
                </a:solidFill>
                <a:latin typeface="IBM Plex Sans"/>
                <a:ea typeface="IBM Plex Sans"/>
                <a:cs typeface="IBM Plex Sans"/>
                <a:sym typeface="IBM Plex Sans"/>
              </a:rPr>
              <a:t>SIH26049</a:t>
            </a:r>
          </a:p>
          <a:p>
            <a:pPr algn="l">
              <a:lnSpc>
                <a:spcPts val="1865"/>
              </a:lnSpc>
            </a:pPr>
            <a:r>
              <a:rPr lang="en-US" sz="1090" spc="17">
                <a:solidFill>
                  <a:srgbClr val="263746"/>
                </a:solidFill>
                <a:latin typeface="IBM Plex Sans Condensed"/>
                <a:ea typeface="IBM Plex Sans Condensed"/>
                <a:cs typeface="IBM Plex Sans Condensed"/>
                <a:sym typeface="IBM Plex Sans Condensed"/>
              </a:rPr>
              <a:t>•</a:t>
            </a:r>
            <a:r>
              <a:rPr lang="en-US" b="true" sz="1090" spc="17">
                <a:solidFill>
                  <a:srgbClr val="FFFFFF"/>
                </a:solidFill>
                <a:latin typeface="IBM Plex Sans Condensed Bold"/>
                <a:ea typeface="IBM Plex Sans Condensed Bold"/>
                <a:cs typeface="IBM Plex Sans Condensed Bold"/>
                <a:sym typeface="IBM Plex Sans Condensed Bold"/>
              </a:rPr>
              <a:t> </a:t>
            </a:r>
            <a:r>
              <a:rPr lang="en-US" b="true" sz="1090" spc="17">
                <a:solidFill>
                  <a:srgbClr val="263746"/>
                </a:solidFill>
                <a:latin typeface="IBM Plex Sans Condensed Bold"/>
                <a:ea typeface="IBM Plex Sans Condensed Bold"/>
                <a:cs typeface="IBM Plex Sans Condensed Bold"/>
                <a:sym typeface="IBM Plex Sans Condensed Bold"/>
              </a:rPr>
              <a:t>Problem Statement Title:</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Modifications to improve the reliability, efficiency,and lifespan of electrical and electronic equipment and systems in the ambient condition of subzero temperature and low pressure of High Altitude Areas(HAA) and Super High Altitude Areas (SHAA) of Ladakh region.</a:t>
            </a:r>
          </a:p>
        </p:txBody>
      </p:sp>
      <p:sp>
        <p:nvSpPr>
          <p:cNvPr name="TextBox 12" id="12"/>
          <p:cNvSpPr txBox="true"/>
          <p:nvPr/>
        </p:nvSpPr>
        <p:spPr>
          <a:xfrm rot="0">
            <a:off x="136169" y="1872502"/>
            <a:ext cx="1867776" cy="900892"/>
          </a:xfrm>
          <a:prstGeom prst="rect">
            <a:avLst/>
          </a:prstGeom>
        </p:spPr>
        <p:txBody>
          <a:bodyPr anchor="t" rtlCol="false" tIns="0" lIns="0" bIns="0" rIns="0">
            <a:spAutoFit/>
          </a:bodyPr>
          <a:lstStyle/>
          <a:p>
            <a:pPr algn="l">
              <a:lnSpc>
                <a:spcPts val="1865"/>
              </a:lnSpc>
            </a:pPr>
            <a:r>
              <a:rPr lang="en-US" sz="1090" spc="17">
                <a:solidFill>
                  <a:srgbClr val="263746"/>
                </a:solidFill>
                <a:latin typeface="IBM Plex Sans Condensed"/>
                <a:ea typeface="IBM Plex Sans Condensed"/>
                <a:cs typeface="IBM Plex Sans Condensed"/>
                <a:sym typeface="IBM Plex Sans Condensed"/>
              </a:rPr>
              <a:t>•</a:t>
            </a:r>
            <a:r>
              <a:rPr lang="en-US" b="true" sz="1090" spc="17">
                <a:solidFill>
                  <a:srgbClr val="FFFFFF"/>
                </a:solidFill>
                <a:latin typeface="IBM Plex Sans Condensed Bold"/>
                <a:ea typeface="IBM Plex Sans Condensed Bold"/>
                <a:cs typeface="IBM Plex Sans Condensed Bold"/>
                <a:sym typeface="IBM Plex Sans Condensed Bold"/>
              </a:rPr>
              <a:t> </a:t>
            </a:r>
            <a:r>
              <a:rPr lang="en-US" b="true" sz="1090" spc="17">
                <a:solidFill>
                  <a:srgbClr val="263746"/>
                </a:solidFill>
                <a:latin typeface="IBM Plex Sans Condensed Bold"/>
                <a:ea typeface="IBM Plex Sans Condensed Bold"/>
                <a:cs typeface="IBM Plex Sans Condensed Bold"/>
                <a:sym typeface="IBM Plex Sans Condensed Bold"/>
              </a:rPr>
              <a:t>Theme:</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Smart</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Automation </a:t>
            </a:r>
          </a:p>
          <a:p>
            <a:pPr algn="l">
              <a:lnSpc>
                <a:spcPts val="1865"/>
              </a:lnSpc>
            </a:pPr>
            <a:r>
              <a:rPr lang="en-US" sz="1090" spc="17">
                <a:solidFill>
                  <a:srgbClr val="263746"/>
                </a:solidFill>
                <a:latin typeface="IBM Plex Sans Condensed"/>
                <a:ea typeface="IBM Plex Sans Condensed"/>
                <a:cs typeface="IBM Plex Sans Condensed"/>
                <a:sym typeface="IBM Plex Sans Condensed"/>
              </a:rPr>
              <a:t>•</a:t>
            </a:r>
            <a:r>
              <a:rPr lang="en-US" b="true" sz="1090" spc="17">
                <a:solidFill>
                  <a:srgbClr val="FFFFFF"/>
                </a:solidFill>
                <a:latin typeface="IBM Plex Sans Condensed Bold"/>
                <a:ea typeface="IBM Plex Sans Condensed Bold"/>
                <a:cs typeface="IBM Plex Sans Condensed Bold"/>
                <a:sym typeface="IBM Plex Sans Condensed Bold"/>
              </a:rPr>
              <a:t> </a:t>
            </a:r>
            <a:r>
              <a:rPr lang="en-US" b="true" sz="1090" spc="17">
                <a:solidFill>
                  <a:srgbClr val="263746"/>
                </a:solidFill>
                <a:latin typeface="IBM Plex Sans Condensed Bold"/>
                <a:ea typeface="IBM Plex Sans Condensed Bold"/>
                <a:cs typeface="IBM Plex Sans Condensed Bold"/>
                <a:sym typeface="IBM Plex Sans Condensed Bold"/>
              </a:rPr>
              <a:t>Category:</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Hardware</a:t>
            </a:r>
          </a:p>
          <a:p>
            <a:pPr algn="l">
              <a:lnSpc>
                <a:spcPts val="1865"/>
              </a:lnSpc>
            </a:pPr>
            <a:r>
              <a:rPr lang="en-US" sz="1090" spc="17">
                <a:solidFill>
                  <a:srgbClr val="263746"/>
                </a:solidFill>
                <a:latin typeface="IBM Plex Sans Condensed"/>
                <a:ea typeface="IBM Plex Sans Condensed"/>
                <a:cs typeface="IBM Plex Sans Condensed"/>
                <a:sym typeface="IBM Plex Sans Condensed"/>
              </a:rPr>
              <a:t>•</a:t>
            </a:r>
            <a:r>
              <a:rPr lang="en-US" b="true" sz="1090" spc="17">
                <a:solidFill>
                  <a:srgbClr val="FFFFFF"/>
                </a:solidFill>
                <a:latin typeface="IBM Plex Sans Condensed Bold"/>
                <a:ea typeface="IBM Plex Sans Condensed Bold"/>
                <a:cs typeface="IBM Plex Sans Condensed Bold"/>
                <a:sym typeface="IBM Plex Sans Condensed Bold"/>
              </a:rPr>
              <a:t> </a:t>
            </a:r>
            <a:r>
              <a:rPr lang="en-US" b="true" sz="1090" spc="17">
                <a:solidFill>
                  <a:srgbClr val="263746"/>
                </a:solidFill>
                <a:latin typeface="IBM Plex Sans Condensed Bold"/>
                <a:ea typeface="IBM Plex Sans Condensed Bold"/>
                <a:cs typeface="IBM Plex Sans Condensed Bold"/>
                <a:sym typeface="IBM Plex Sans Condensed Bold"/>
              </a:rPr>
              <a:t>Team</a:t>
            </a:r>
            <a:r>
              <a:rPr lang="en-US" b="true" sz="1090" spc="17">
                <a:solidFill>
                  <a:srgbClr val="FFFFFF"/>
                </a:solidFill>
                <a:latin typeface="IBM Plex Sans Condensed Bold"/>
                <a:ea typeface="IBM Plex Sans Condensed Bold"/>
                <a:cs typeface="IBM Plex Sans Condensed Bold"/>
                <a:sym typeface="IBM Plex Sans Condensed Bold"/>
              </a:rPr>
              <a:t> </a:t>
            </a:r>
            <a:r>
              <a:rPr lang="en-US" b="true" sz="1090" spc="17">
                <a:solidFill>
                  <a:srgbClr val="263746"/>
                </a:solidFill>
                <a:latin typeface="IBM Plex Sans Condensed Bold"/>
                <a:ea typeface="IBM Plex Sans Condensed Bold"/>
                <a:cs typeface="IBM Plex Sans Condensed Bold"/>
                <a:sym typeface="IBM Plex Sans Condensed Bold"/>
              </a:rPr>
              <a:t>ID:</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SIH26-A0H-T341</a:t>
            </a:r>
          </a:p>
          <a:p>
            <a:pPr algn="l">
              <a:lnSpc>
                <a:spcPts val="1865"/>
              </a:lnSpc>
            </a:pPr>
            <a:r>
              <a:rPr lang="en-US" sz="1090" spc="17">
                <a:solidFill>
                  <a:srgbClr val="263746"/>
                </a:solidFill>
                <a:latin typeface="IBM Plex Sans Condensed"/>
                <a:ea typeface="IBM Plex Sans Condensed"/>
                <a:cs typeface="IBM Plex Sans Condensed"/>
                <a:sym typeface="IBM Plex Sans Condensed"/>
              </a:rPr>
              <a:t>•</a:t>
            </a:r>
            <a:r>
              <a:rPr lang="en-US" b="true" sz="1090" spc="17">
                <a:solidFill>
                  <a:srgbClr val="FFFFFF"/>
                </a:solidFill>
                <a:latin typeface="IBM Plex Sans Condensed Bold"/>
                <a:ea typeface="IBM Plex Sans Condensed Bold"/>
                <a:cs typeface="IBM Plex Sans Condensed Bold"/>
                <a:sym typeface="IBM Plex Sans Condensed Bold"/>
              </a:rPr>
              <a:t> </a:t>
            </a:r>
            <a:r>
              <a:rPr lang="en-US" b="true" sz="1090" spc="17">
                <a:solidFill>
                  <a:srgbClr val="263746"/>
                </a:solidFill>
                <a:latin typeface="IBM Plex Sans Condensed Bold"/>
                <a:ea typeface="IBM Plex Sans Condensed Bold"/>
                <a:cs typeface="IBM Plex Sans Condensed Bold"/>
                <a:sym typeface="IBM Plex Sans Condensed Bold"/>
              </a:rPr>
              <a:t>Team:</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Circuit</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Breakers</a:t>
            </a:r>
          </a:p>
        </p:txBody>
      </p:sp>
      <p:sp>
        <p:nvSpPr>
          <p:cNvPr name="TextBox 13" id="13"/>
          <p:cNvSpPr txBox="true"/>
          <p:nvPr/>
        </p:nvSpPr>
        <p:spPr>
          <a:xfrm rot="0">
            <a:off x="2410196" y="3120009"/>
            <a:ext cx="958386" cy="92888"/>
          </a:xfrm>
          <a:prstGeom prst="rect">
            <a:avLst/>
          </a:prstGeom>
        </p:spPr>
        <p:txBody>
          <a:bodyPr anchor="t" rtlCol="false" tIns="0" lIns="0" bIns="0" rIns="0">
            <a:spAutoFit/>
          </a:bodyPr>
          <a:lstStyle/>
          <a:p>
            <a:pPr algn="l">
              <a:lnSpc>
                <a:spcPts val="725"/>
              </a:lnSpc>
            </a:pPr>
            <a:r>
              <a:rPr lang="en-US" sz="518" spc="0">
                <a:solidFill>
                  <a:srgbClr val="FFFFFF"/>
                </a:solidFill>
                <a:latin typeface="IBM Plex Sans"/>
                <a:ea typeface="IBM Plex Sans"/>
                <a:cs typeface="IBM Plex Sans"/>
                <a:sym typeface="IBM Plex Sans"/>
              </a:rPr>
              <a:t>@SIH Idea submission–Template</a:t>
            </a:r>
          </a:p>
        </p:txBody>
      </p:sp>
      <p:sp>
        <p:nvSpPr>
          <p:cNvPr name="TextBox 14" id="14"/>
          <p:cNvSpPr txBox="true"/>
          <p:nvPr/>
        </p:nvSpPr>
        <p:spPr>
          <a:xfrm rot="0">
            <a:off x="5511384" y="3110865"/>
            <a:ext cx="49682" cy="120920"/>
          </a:xfrm>
          <a:prstGeom prst="rect">
            <a:avLst/>
          </a:prstGeom>
        </p:spPr>
        <p:txBody>
          <a:bodyPr anchor="t" rtlCol="false" tIns="0" lIns="0" bIns="0" rIns="0">
            <a:spAutoFit/>
          </a:bodyPr>
          <a:lstStyle/>
          <a:p>
            <a:pPr algn="l">
              <a:lnSpc>
                <a:spcPts val="976"/>
              </a:lnSpc>
            </a:pPr>
            <a:r>
              <a:rPr lang="en-US" b="true" sz="697" spc="-11">
                <a:solidFill>
                  <a:srgbClr val="FFFFFF"/>
                </a:solidFill>
                <a:latin typeface="IBM Plex Sans Bold"/>
                <a:ea typeface="IBM Plex Sans Bold"/>
                <a:cs typeface="IBM Plex Sans Bold"/>
                <a:sym typeface="IBM Plex Sans Bold"/>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504" y="113500"/>
            <a:ext cx="425196" cy="201987"/>
            <a:chOff x="0" y="0"/>
            <a:chExt cx="425196" cy="201994"/>
          </a:xfrm>
        </p:grpSpPr>
        <p:sp>
          <p:nvSpPr>
            <p:cNvPr name="Freeform 3" id="3"/>
            <p:cNvSpPr/>
            <p:nvPr/>
          </p:nvSpPr>
          <p:spPr>
            <a:xfrm flipH="false" flipV="false" rot="0">
              <a:off x="0" y="0"/>
              <a:ext cx="425194" cy="201932"/>
            </a:xfrm>
            <a:custGeom>
              <a:avLst/>
              <a:gdLst/>
              <a:ahLst/>
              <a:cxnLst/>
              <a:rect r="r" b="b" t="t" l="l"/>
              <a:pathLst>
                <a:path h="201932" w="425194">
                  <a:moveTo>
                    <a:pt x="396111" y="7620"/>
                  </a:moveTo>
                  <a:lnTo>
                    <a:pt x="29083" y="7620"/>
                  </a:lnTo>
                  <a:lnTo>
                    <a:pt x="29083" y="3810"/>
                  </a:lnTo>
                  <a:lnTo>
                    <a:pt x="29083" y="7620"/>
                  </a:lnTo>
                  <a:cubicBezTo>
                    <a:pt x="17272" y="7620"/>
                    <a:pt x="7620" y="17272"/>
                    <a:pt x="7620" y="29083"/>
                  </a:cubicBezTo>
                  <a:lnTo>
                    <a:pt x="3810" y="29083"/>
                  </a:lnTo>
                  <a:lnTo>
                    <a:pt x="7620" y="29083"/>
                  </a:lnTo>
                  <a:lnTo>
                    <a:pt x="7620" y="172849"/>
                  </a:lnTo>
                  <a:lnTo>
                    <a:pt x="3810" y="172849"/>
                  </a:lnTo>
                  <a:lnTo>
                    <a:pt x="7620" y="172849"/>
                  </a:lnTo>
                  <a:cubicBezTo>
                    <a:pt x="7620" y="184787"/>
                    <a:pt x="17272" y="194312"/>
                    <a:pt x="29083" y="194312"/>
                  </a:cubicBezTo>
                  <a:lnTo>
                    <a:pt x="29083" y="198122"/>
                  </a:lnTo>
                  <a:lnTo>
                    <a:pt x="29083" y="194312"/>
                  </a:lnTo>
                  <a:lnTo>
                    <a:pt x="396111" y="194312"/>
                  </a:lnTo>
                  <a:lnTo>
                    <a:pt x="396111" y="198122"/>
                  </a:lnTo>
                  <a:lnTo>
                    <a:pt x="396111" y="194312"/>
                  </a:lnTo>
                  <a:cubicBezTo>
                    <a:pt x="408049" y="194312"/>
                    <a:pt x="417574" y="184660"/>
                    <a:pt x="417574" y="172849"/>
                  </a:cubicBezTo>
                  <a:lnTo>
                    <a:pt x="421384" y="172849"/>
                  </a:lnTo>
                  <a:lnTo>
                    <a:pt x="417574" y="172849"/>
                  </a:lnTo>
                  <a:lnTo>
                    <a:pt x="417574" y="29083"/>
                  </a:lnTo>
                  <a:lnTo>
                    <a:pt x="421384" y="29083"/>
                  </a:lnTo>
                  <a:lnTo>
                    <a:pt x="417574" y="29083"/>
                  </a:lnTo>
                  <a:cubicBezTo>
                    <a:pt x="417574" y="17145"/>
                    <a:pt x="407922" y="7620"/>
                    <a:pt x="396111" y="7620"/>
                  </a:cubicBezTo>
                  <a:lnTo>
                    <a:pt x="396111" y="3810"/>
                  </a:lnTo>
                  <a:lnTo>
                    <a:pt x="396111" y="7620"/>
                  </a:lnTo>
                  <a:moveTo>
                    <a:pt x="396111" y="0"/>
                  </a:moveTo>
                  <a:cubicBezTo>
                    <a:pt x="412240" y="0"/>
                    <a:pt x="425194" y="13081"/>
                    <a:pt x="425194" y="29083"/>
                  </a:cubicBezTo>
                  <a:lnTo>
                    <a:pt x="425194" y="172849"/>
                  </a:lnTo>
                  <a:cubicBezTo>
                    <a:pt x="425194" y="188978"/>
                    <a:pt x="412113" y="201932"/>
                    <a:pt x="396111" y="201932"/>
                  </a:cubicBezTo>
                  <a:lnTo>
                    <a:pt x="29083" y="201932"/>
                  </a:lnTo>
                  <a:cubicBezTo>
                    <a:pt x="13081" y="201932"/>
                    <a:pt x="0" y="188978"/>
                    <a:pt x="0" y="172849"/>
                  </a:cubicBezTo>
                  <a:lnTo>
                    <a:pt x="0" y="29083"/>
                  </a:lnTo>
                  <a:cubicBezTo>
                    <a:pt x="0" y="13081"/>
                    <a:pt x="13081" y="0"/>
                    <a:pt x="29083" y="0"/>
                  </a:cubicBezTo>
                  <a:lnTo>
                    <a:pt x="396111" y="0"/>
                  </a:lnTo>
                  <a:close/>
                </a:path>
              </a:pathLst>
            </a:custGeom>
            <a:solidFill>
              <a:srgbClr val="70419B"/>
            </a:solidFill>
          </p:spPr>
        </p:sp>
      </p:grpSp>
      <p:grpSp>
        <p:nvGrpSpPr>
          <p:cNvPr name="Group 4" id="4"/>
          <p:cNvGrpSpPr/>
          <p:nvPr/>
        </p:nvGrpSpPr>
        <p:grpSpPr>
          <a:xfrm rot="0">
            <a:off x="4854483" y="77495"/>
            <a:ext cx="755990" cy="356483"/>
            <a:chOff x="0" y="0"/>
            <a:chExt cx="1007986" cy="475310"/>
          </a:xfrm>
        </p:grpSpPr>
        <p:sp>
          <p:nvSpPr>
            <p:cNvPr name="Freeform 5" id="5"/>
            <p:cNvSpPr/>
            <p:nvPr/>
          </p:nvSpPr>
          <p:spPr>
            <a:xfrm flipH="false" flipV="false" rot="0">
              <a:off x="0" y="0"/>
              <a:ext cx="1007999" cy="475361"/>
            </a:xfrm>
            <a:custGeom>
              <a:avLst/>
              <a:gdLst/>
              <a:ahLst/>
              <a:cxnLst/>
              <a:rect r="r" b="b" t="t" l="l"/>
              <a:pathLst>
                <a:path h="475361" w="1007999">
                  <a:moveTo>
                    <a:pt x="0" y="0"/>
                  </a:moveTo>
                  <a:lnTo>
                    <a:pt x="1007999" y="0"/>
                  </a:lnTo>
                  <a:lnTo>
                    <a:pt x="1007999" y="475361"/>
                  </a:lnTo>
                  <a:lnTo>
                    <a:pt x="0" y="475361"/>
                  </a:lnTo>
                  <a:lnTo>
                    <a:pt x="0" y="0"/>
                  </a:lnTo>
                  <a:close/>
                </a:path>
              </a:pathLst>
            </a:custGeom>
            <a:blipFill>
              <a:blip r:embed="rId2"/>
              <a:stretch>
                <a:fillRect l="0" t="0" r="1" b="10"/>
              </a:stretch>
            </a:blipFill>
          </p:spPr>
        </p:sp>
      </p:grpSp>
      <p:grpSp>
        <p:nvGrpSpPr>
          <p:cNvPr name="Group 6" id="6"/>
          <p:cNvGrpSpPr/>
          <p:nvPr/>
        </p:nvGrpSpPr>
        <p:grpSpPr>
          <a:xfrm rot="0">
            <a:off x="131747" y="638346"/>
            <a:ext cx="1719342" cy="1712033"/>
            <a:chOff x="0" y="0"/>
            <a:chExt cx="1763408" cy="1755902"/>
          </a:xfrm>
        </p:grpSpPr>
        <p:sp>
          <p:nvSpPr>
            <p:cNvPr name="Freeform 7" id="7"/>
            <p:cNvSpPr/>
            <p:nvPr/>
          </p:nvSpPr>
          <p:spPr>
            <a:xfrm flipH="false" flipV="false" rot="0">
              <a:off x="66040" y="66040"/>
              <a:ext cx="1631318" cy="382651"/>
            </a:xfrm>
            <a:custGeom>
              <a:avLst/>
              <a:gdLst/>
              <a:ahLst/>
              <a:cxnLst/>
              <a:rect r="r" b="b" t="t" l="l"/>
              <a:pathLst>
                <a:path h="382651" w="1631318">
                  <a:moveTo>
                    <a:pt x="1606045" y="0"/>
                  </a:moveTo>
                  <a:lnTo>
                    <a:pt x="25273" y="0"/>
                  </a:lnTo>
                  <a:cubicBezTo>
                    <a:pt x="11303" y="0"/>
                    <a:pt x="0" y="11303"/>
                    <a:pt x="0" y="25273"/>
                  </a:cubicBezTo>
                  <a:lnTo>
                    <a:pt x="0" y="357378"/>
                  </a:lnTo>
                  <a:cubicBezTo>
                    <a:pt x="0" y="371348"/>
                    <a:pt x="11303" y="382651"/>
                    <a:pt x="25273" y="382651"/>
                  </a:cubicBezTo>
                  <a:lnTo>
                    <a:pt x="1606045" y="382651"/>
                  </a:lnTo>
                  <a:cubicBezTo>
                    <a:pt x="1620015" y="382651"/>
                    <a:pt x="1631318" y="371348"/>
                    <a:pt x="1631318" y="357378"/>
                  </a:cubicBezTo>
                  <a:lnTo>
                    <a:pt x="1631318" y="25273"/>
                  </a:lnTo>
                  <a:cubicBezTo>
                    <a:pt x="1631318" y="11303"/>
                    <a:pt x="1620015" y="0"/>
                    <a:pt x="1606045" y="0"/>
                  </a:cubicBezTo>
                  <a:close/>
                </a:path>
              </a:pathLst>
            </a:custGeom>
            <a:solidFill>
              <a:srgbClr val="FF914D"/>
            </a:solidFill>
          </p:spPr>
        </p:sp>
        <p:sp>
          <p:nvSpPr>
            <p:cNvPr name="Freeform 8" id="8"/>
            <p:cNvSpPr/>
            <p:nvPr/>
          </p:nvSpPr>
          <p:spPr>
            <a:xfrm flipH="false" flipV="false" rot="0">
              <a:off x="63500" y="63500"/>
              <a:ext cx="1636398" cy="387732"/>
            </a:xfrm>
            <a:custGeom>
              <a:avLst/>
              <a:gdLst/>
              <a:ahLst/>
              <a:cxnLst/>
              <a:rect r="r" b="b" t="t" l="l"/>
              <a:pathLst>
                <a:path h="387732" w="1636398">
                  <a:moveTo>
                    <a:pt x="1608585" y="5080"/>
                  </a:moveTo>
                  <a:lnTo>
                    <a:pt x="27813" y="5080"/>
                  </a:lnTo>
                  <a:lnTo>
                    <a:pt x="27813" y="2540"/>
                  </a:lnTo>
                  <a:lnTo>
                    <a:pt x="27813" y="5080"/>
                  </a:lnTo>
                  <a:cubicBezTo>
                    <a:pt x="15240" y="5080"/>
                    <a:pt x="5080" y="15240"/>
                    <a:pt x="5080" y="27813"/>
                  </a:cubicBezTo>
                  <a:lnTo>
                    <a:pt x="2540" y="27813"/>
                  </a:lnTo>
                  <a:lnTo>
                    <a:pt x="5080" y="27813"/>
                  </a:lnTo>
                  <a:lnTo>
                    <a:pt x="5080" y="359918"/>
                  </a:lnTo>
                  <a:lnTo>
                    <a:pt x="2540" y="359918"/>
                  </a:lnTo>
                  <a:lnTo>
                    <a:pt x="5080" y="359918"/>
                  </a:lnTo>
                  <a:cubicBezTo>
                    <a:pt x="5080" y="372491"/>
                    <a:pt x="15240" y="382651"/>
                    <a:pt x="27813" y="382651"/>
                  </a:cubicBezTo>
                  <a:lnTo>
                    <a:pt x="27813" y="385191"/>
                  </a:lnTo>
                  <a:lnTo>
                    <a:pt x="27813" y="382651"/>
                  </a:lnTo>
                  <a:lnTo>
                    <a:pt x="1608585" y="382651"/>
                  </a:lnTo>
                  <a:lnTo>
                    <a:pt x="1608585" y="385191"/>
                  </a:lnTo>
                  <a:lnTo>
                    <a:pt x="1608585" y="382651"/>
                  </a:lnTo>
                  <a:cubicBezTo>
                    <a:pt x="1621158" y="382651"/>
                    <a:pt x="1631318" y="372491"/>
                    <a:pt x="1631318" y="359918"/>
                  </a:cubicBezTo>
                  <a:lnTo>
                    <a:pt x="1633858" y="359918"/>
                  </a:lnTo>
                  <a:lnTo>
                    <a:pt x="1631318" y="359918"/>
                  </a:lnTo>
                  <a:lnTo>
                    <a:pt x="1631318" y="27813"/>
                  </a:lnTo>
                  <a:lnTo>
                    <a:pt x="1633858" y="27813"/>
                  </a:lnTo>
                  <a:lnTo>
                    <a:pt x="1631318" y="27813"/>
                  </a:lnTo>
                  <a:cubicBezTo>
                    <a:pt x="1631318" y="15240"/>
                    <a:pt x="1621158" y="5080"/>
                    <a:pt x="1608585" y="5080"/>
                  </a:cubicBezTo>
                  <a:lnTo>
                    <a:pt x="1608585" y="2540"/>
                  </a:lnTo>
                  <a:lnTo>
                    <a:pt x="1608585" y="5080"/>
                  </a:lnTo>
                  <a:moveTo>
                    <a:pt x="1608585" y="0"/>
                  </a:moveTo>
                  <a:cubicBezTo>
                    <a:pt x="1623952" y="0"/>
                    <a:pt x="1636398" y="12446"/>
                    <a:pt x="1636398" y="27813"/>
                  </a:cubicBezTo>
                  <a:lnTo>
                    <a:pt x="1636398" y="359918"/>
                  </a:lnTo>
                  <a:cubicBezTo>
                    <a:pt x="1636398" y="375285"/>
                    <a:pt x="1623952" y="387731"/>
                    <a:pt x="1608585" y="387731"/>
                  </a:cubicBezTo>
                  <a:lnTo>
                    <a:pt x="27813" y="387731"/>
                  </a:lnTo>
                  <a:cubicBezTo>
                    <a:pt x="12446" y="387858"/>
                    <a:pt x="0" y="375285"/>
                    <a:pt x="0" y="359918"/>
                  </a:cubicBezTo>
                  <a:lnTo>
                    <a:pt x="0" y="27813"/>
                  </a:lnTo>
                  <a:cubicBezTo>
                    <a:pt x="0" y="12446"/>
                    <a:pt x="12446" y="0"/>
                    <a:pt x="27813" y="0"/>
                  </a:cubicBezTo>
                  <a:lnTo>
                    <a:pt x="1608585" y="0"/>
                  </a:lnTo>
                  <a:close/>
                </a:path>
              </a:pathLst>
            </a:custGeom>
            <a:solidFill>
              <a:srgbClr val="E69C84"/>
            </a:solidFill>
          </p:spPr>
        </p:sp>
        <p:sp>
          <p:nvSpPr>
            <p:cNvPr name="Freeform 9" id="9"/>
            <p:cNvSpPr/>
            <p:nvPr/>
          </p:nvSpPr>
          <p:spPr>
            <a:xfrm flipH="false" flipV="false" rot="0">
              <a:off x="66040" y="484505"/>
              <a:ext cx="1631318" cy="382651"/>
            </a:xfrm>
            <a:custGeom>
              <a:avLst/>
              <a:gdLst/>
              <a:ahLst/>
              <a:cxnLst/>
              <a:rect r="r" b="b" t="t" l="l"/>
              <a:pathLst>
                <a:path h="382651" w="1631318">
                  <a:moveTo>
                    <a:pt x="1606045" y="0"/>
                  </a:moveTo>
                  <a:lnTo>
                    <a:pt x="25273" y="0"/>
                  </a:lnTo>
                  <a:cubicBezTo>
                    <a:pt x="11303" y="0"/>
                    <a:pt x="0" y="11303"/>
                    <a:pt x="0" y="25273"/>
                  </a:cubicBezTo>
                  <a:lnTo>
                    <a:pt x="0" y="357379"/>
                  </a:lnTo>
                  <a:cubicBezTo>
                    <a:pt x="0" y="371349"/>
                    <a:pt x="11303" y="382652"/>
                    <a:pt x="25273" y="382652"/>
                  </a:cubicBezTo>
                  <a:lnTo>
                    <a:pt x="1606045" y="382652"/>
                  </a:lnTo>
                  <a:cubicBezTo>
                    <a:pt x="1620015" y="382652"/>
                    <a:pt x="1631318" y="371349"/>
                    <a:pt x="1631318" y="357379"/>
                  </a:cubicBezTo>
                  <a:lnTo>
                    <a:pt x="1631318" y="25273"/>
                  </a:lnTo>
                  <a:cubicBezTo>
                    <a:pt x="1631318" y="11303"/>
                    <a:pt x="1620015" y="0"/>
                    <a:pt x="1606045" y="0"/>
                  </a:cubicBezTo>
                  <a:close/>
                </a:path>
              </a:pathLst>
            </a:custGeom>
            <a:solidFill>
              <a:srgbClr val="FF914D"/>
            </a:solidFill>
          </p:spPr>
        </p:sp>
        <p:sp>
          <p:nvSpPr>
            <p:cNvPr name="Freeform 10" id="10"/>
            <p:cNvSpPr/>
            <p:nvPr/>
          </p:nvSpPr>
          <p:spPr>
            <a:xfrm flipH="false" flipV="false" rot="0">
              <a:off x="63500" y="481965"/>
              <a:ext cx="1636398" cy="387731"/>
            </a:xfrm>
            <a:custGeom>
              <a:avLst/>
              <a:gdLst/>
              <a:ahLst/>
              <a:cxnLst/>
              <a:rect r="r" b="b" t="t" l="l"/>
              <a:pathLst>
                <a:path h="387731" w="1636398">
                  <a:moveTo>
                    <a:pt x="1608585" y="5080"/>
                  </a:moveTo>
                  <a:lnTo>
                    <a:pt x="27813" y="5080"/>
                  </a:lnTo>
                  <a:lnTo>
                    <a:pt x="27813" y="2540"/>
                  </a:lnTo>
                  <a:lnTo>
                    <a:pt x="27813" y="5080"/>
                  </a:lnTo>
                  <a:cubicBezTo>
                    <a:pt x="15240" y="5080"/>
                    <a:pt x="5080" y="15240"/>
                    <a:pt x="5080" y="27813"/>
                  </a:cubicBezTo>
                  <a:lnTo>
                    <a:pt x="2540" y="27813"/>
                  </a:lnTo>
                  <a:lnTo>
                    <a:pt x="5080" y="27813"/>
                  </a:lnTo>
                  <a:lnTo>
                    <a:pt x="5080" y="359919"/>
                  </a:lnTo>
                  <a:lnTo>
                    <a:pt x="2540" y="359919"/>
                  </a:lnTo>
                  <a:lnTo>
                    <a:pt x="5080" y="359919"/>
                  </a:lnTo>
                  <a:cubicBezTo>
                    <a:pt x="5080" y="372492"/>
                    <a:pt x="15240" y="382652"/>
                    <a:pt x="27813" y="382652"/>
                  </a:cubicBezTo>
                  <a:lnTo>
                    <a:pt x="27813" y="385192"/>
                  </a:lnTo>
                  <a:lnTo>
                    <a:pt x="27813" y="382652"/>
                  </a:lnTo>
                  <a:lnTo>
                    <a:pt x="1608585" y="382652"/>
                  </a:lnTo>
                  <a:lnTo>
                    <a:pt x="1608585" y="385192"/>
                  </a:lnTo>
                  <a:lnTo>
                    <a:pt x="1608585" y="382652"/>
                  </a:lnTo>
                  <a:cubicBezTo>
                    <a:pt x="1621158" y="382652"/>
                    <a:pt x="1631318" y="372492"/>
                    <a:pt x="1631318" y="359919"/>
                  </a:cubicBezTo>
                  <a:lnTo>
                    <a:pt x="1633858" y="359919"/>
                  </a:lnTo>
                  <a:lnTo>
                    <a:pt x="1631318" y="359919"/>
                  </a:lnTo>
                  <a:lnTo>
                    <a:pt x="1631318" y="27813"/>
                  </a:lnTo>
                  <a:lnTo>
                    <a:pt x="1633858" y="27813"/>
                  </a:lnTo>
                  <a:lnTo>
                    <a:pt x="1631318" y="27813"/>
                  </a:lnTo>
                  <a:cubicBezTo>
                    <a:pt x="1631318" y="15240"/>
                    <a:pt x="1621158" y="5080"/>
                    <a:pt x="1608585" y="5080"/>
                  </a:cubicBezTo>
                  <a:lnTo>
                    <a:pt x="1608585" y="2540"/>
                  </a:lnTo>
                  <a:lnTo>
                    <a:pt x="1608585" y="5080"/>
                  </a:lnTo>
                  <a:moveTo>
                    <a:pt x="1608585" y="0"/>
                  </a:moveTo>
                  <a:cubicBezTo>
                    <a:pt x="1623952" y="0"/>
                    <a:pt x="1636398" y="12446"/>
                    <a:pt x="1636398" y="27813"/>
                  </a:cubicBezTo>
                  <a:lnTo>
                    <a:pt x="1636398" y="359919"/>
                  </a:lnTo>
                  <a:cubicBezTo>
                    <a:pt x="1636398" y="375286"/>
                    <a:pt x="1623952" y="387732"/>
                    <a:pt x="1608585" y="387732"/>
                  </a:cubicBezTo>
                  <a:lnTo>
                    <a:pt x="27813" y="387732"/>
                  </a:lnTo>
                  <a:cubicBezTo>
                    <a:pt x="12446" y="387732"/>
                    <a:pt x="0" y="375286"/>
                    <a:pt x="0" y="359919"/>
                  </a:cubicBezTo>
                  <a:lnTo>
                    <a:pt x="0" y="27813"/>
                  </a:lnTo>
                  <a:cubicBezTo>
                    <a:pt x="0" y="12446"/>
                    <a:pt x="12446" y="0"/>
                    <a:pt x="27813" y="0"/>
                  </a:cubicBezTo>
                  <a:lnTo>
                    <a:pt x="1608585" y="0"/>
                  </a:lnTo>
                  <a:close/>
                </a:path>
              </a:pathLst>
            </a:custGeom>
            <a:solidFill>
              <a:srgbClr val="6BB0DA"/>
            </a:solidFill>
          </p:spPr>
        </p:sp>
        <p:sp>
          <p:nvSpPr>
            <p:cNvPr name="Freeform 11" id="11"/>
            <p:cNvSpPr/>
            <p:nvPr/>
          </p:nvSpPr>
          <p:spPr>
            <a:xfrm flipH="false" flipV="false" rot="0">
              <a:off x="66040" y="902971"/>
              <a:ext cx="1631318" cy="368427"/>
            </a:xfrm>
            <a:custGeom>
              <a:avLst/>
              <a:gdLst/>
              <a:ahLst/>
              <a:cxnLst/>
              <a:rect r="r" b="b" t="t" l="l"/>
              <a:pathLst>
                <a:path h="368427" w="1631318">
                  <a:moveTo>
                    <a:pt x="1606045" y="0"/>
                  </a:moveTo>
                  <a:lnTo>
                    <a:pt x="25273" y="0"/>
                  </a:lnTo>
                  <a:cubicBezTo>
                    <a:pt x="11303" y="0"/>
                    <a:pt x="0" y="11303"/>
                    <a:pt x="0" y="25273"/>
                  </a:cubicBezTo>
                  <a:lnTo>
                    <a:pt x="0" y="343154"/>
                  </a:lnTo>
                  <a:cubicBezTo>
                    <a:pt x="0" y="357124"/>
                    <a:pt x="11303" y="368427"/>
                    <a:pt x="25273" y="368427"/>
                  </a:cubicBezTo>
                  <a:lnTo>
                    <a:pt x="1606045" y="368427"/>
                  </a:lnTo>
                  <a:cubicBezTo>
                    <a:pt x="1620015" y="368427"/>
                    <a:pt x="1631318" y="357124"/>
                    <a:pt x="1631318" y="343154"/>
                  </a:cubicBezTo>
                  <a:lnTo>
                    <a:pt x="1631318" y="25273"/>
                  </a:lnTo>
                  <a:cubicBezTo>
                    <a:pt x="1631318" y="11303"/>
                    <a:pt x="1620015" y="0"/>
                    <a:pt x="1606045" y="0"/>
                  </a:cubicBezTo>
                  <a:close/>
                </a:path>
              </a:pathLst>
            </a:custGeom>
            <a:solidFill>
              <a:srgbClr val="FF914D"/>
            </a:solidFill>
          </p:spPr>
        </p:sp>
        <p:sp>
          <p:nvSpPr>
            <p:cNvPr name="Freeform 12" id="12"/>
            <p:cNvSpPr/>
            <p:nvPr/>
          </p:nvSpPr>
          <p:spPr>
            <a:xfrm flipH="false" flipV="false" rot="0">
              <a:off x="63500" y="900431"/>
              <a:ext cx="1636398" cy="373507"/>
            </a:xfrm>
            <a:custGeom>
              <a:avLst/>
              <a:gdLst/>
              <a:ahLst/>
              <a:cxnLst/>
              <a:rect r="r" b="b" t="t" l="l"/>
              <a:pathLst>
                <a:path h="373507" w="1636398">
                  <a:moveTo>
                    <a:pt x="1608585" y="5080"/>
                  </a:moveTo>
                  <a:lnTo>
                    <a:pt x="27813" y="5080"/>
                  </a:lnTo>
                  <a:lnTo>
                    <a:pt x="27813" y="2540"/>
                  </a:lnTo>
                  <a:lnTo>
                    <a:pt x="27813" y="5080"/>
                  </a:lnTo>
                  <a:cubicBezTo>
                    <a:pt x="15240" y="5080"/>
                    <a:pt x="5080" y="15240"/>
                    <a:pt x="5080" y="27813"/>
                  </a:cubicBezTo>
                  <a:lnTo>
                    <a:pt x="2540" y="27813"/>
                  </a:lnTo>
                  <a:lnTo>
                    <a:pt x="5080" y="27813"/>
                  </a:lnTo>
                  <a:lnTo>
                    <a:pt x="5080" y="345694"/>
                  </a:lnTo>
                  <a:lnTo>
                    <a:pt x="2540" y="345694"/>
                  </a:lnTo>
                  <a:lnTo>
                    <a:pt x="5080" y="345694"/>
                  </a:lnTo>
                  <a:cubicBezTo>
                    <a:pt x="5080" y="358267"/>
                    <a:pt x="15240" y="368427"/>
                    <a:pt x="27813" y="368427"/>
                  </a:cubicBezTo>
                  <a:lnTo>
                    <a:pt x="27813" y="370967"/>
                  </a:lnTo>
                  <a:lnTo>
                    <a:pt x="27813" y="368427"/>
                  </a:lnTo>
                  <a:lnTo>
                    <a:pt x="1608585" y="368427"/>
                  </a:lnTo>
                  <a:lnTo>
                    <a:pt x="1608585" y="370967"/>
                  </a:lnTo>
                  <a:lnTo>
                    <a:pt x="1608585" y="368427"/>
                  </a:lnTo>
                  <a:cubicBezTo>
                    <a:pt x="1621158" y="368427"/>
                    <a:pt x="1631318" y="358267"/>
                    <a:pt x="1631318" y="345694"/>
                  </a:cubicBezTo>
                  <a:lnTo>
                    <a:pt x="1633858" y="345694"/>
                  </a:lnTo>
                  <a:lnTo>
                    <a:pt x="1631318" y="345694"/>
                  </a:lnTo>
                  <a:lnTo>
                    <a:pt x="1631318" y="27813"/>
                  </a:lnTo>
                  <a:lnTo>
                    <a:pt x="1633858" y="27813"/>
                  </a:lnTo>
                  <a:lnTo>
                    <a:pt x="1631318" y="27813"/>
                  </a:lnTo>
                  <a:cubicBezTo>
                    <a:pt x="1631318" y="15240"/>
                    <a:pt x="1621158" y="5080"/>
                    <a:pt x="1608585" y="5080"/>
                  </a:cubicBezTo>
                  <a:lnTo>
                    <a:pt x="1608585" y="2540"/>
                  </a:lnTo>
                  <a:lnTo>
                    <a:pt x="1608585" y="5080"/>
                  </a:lnTo>
                  <a:moveTo>
                    <a:pt x="1608585" y="0"/>
                  </a:moveTo>
                  <a:cubicBezTo>
                    <a:pt x="1623952" y="0"/>
                    <a:pt x="1636398" y="12446"/>
                    <a:pt x="1636398" y="27813"/>
                  </a:cubicBezTo>
                  <a:lnTo>
                    <a:pt x="1636398" y="345694"/>
                  </a:lnTo>
                  <a:cubicBezTo>
                    <a:pt x="1636398" y="361061"/>
                    <a:pt x="1623952" y="373507"/>
                    <a:pt x="1608585" y="373507"/>
                  </a:cubicBezTo>
                  <a:lnTo>
                    <a:pt x="27813" y="373507"/>
                  </a:lnTo>
                  <a:cubicBezTo>
                    <a:pt x="12446" y="373507"/>
                    <a:pt x="0" y="361061"/>
                    <a:pt x="0" y="345694"/>
                  </a:cubicBezTo>
                  <a:lnTo>
                    <a:pt x="0" y="27813"/>
                  </a:lnTo>
                  <a:cubicBezTo>
                    <a:pt x="0" y="12446"/>
                    <a:pt x="12446" y="0"/>
                    <a:pt x="27813" y="0"/>
                  </a:cubicBezTo>
                  <a:lnTo>
                    <a:pt x="1608585" y="0"/>
                  </a:lnTo>
                  <a:close/>
                </a:path>
              </a:pathLst>
            </a:custGeom>
            <a:solidFill>
              <a:srgbClr val="74B996"/>
            </a:solidFill>
          </p:spPr>
        </p:sp>
        <p:sp>
          <p:nvSpPr>
            <p:cNvPr name="Freeform 13" id="13"/>
            <p:cNvSpPr/>
            <p:nvPr/>
          </p:nvSpPr>
          <p:spPr>
            <a:xfrm flipH="false" flipV="false" rot="0">
              <a:off x="66040" y="1307085"/>
              <a:ext cx="1631318" cy="382651"/>
            </a:xfrm>
            <a:custGeom>
              <a:avLst/>
              <a:gdLst/>
              <a:ahLst/>
              <a:cxnLst/>
              <a:rect r="r" b="b" t="t" l="l"/>
              <a:pathLst>
                <a:path h="382651" w="1631318">
                  <a:moveTo>
                    <a:pt x="1606045" y="0"/>
                  </a:moveTo>
                  <a:lnTo>
                    <a:pt x="25273" y="0"/>
                  </a:lnTo>
                  <a:cubicBezTo>
                    <a:pt x="11303" y="0"/>
                    <a:pt x="0" y="11303"/>
                    <a:pt x="0" y="25273"/>
                  </a:cubicBezTo>
                  <a:lnTo>
                    <a:pt x="0" y="357378"/>
                  </a:lnTo>
                  <a:cubicBezTo>
                    <a:pt x="0" y="371348"/>
                    <a:pt x="11303" y="382651"/>
                    <a:pt x="25273" y="382651"/>
                  </a:cubicBezTo>
                  <a:lnTo>
                    <a:pt x="1606045" y="382651"/>
                  </a:lnTo>
                  <a:cubicBezTo>
                    <a:pt x="1620015" y="382651"/>
                    <a:pt x="1631318" y="371348"/>
                    <a:pt x="1631318" y="357378"/>
                  </a:cubicBezTo>
                  <a:lnTo>
                    <a:pt x="1631318" y="25400"/>
                  </a:lnTo>
                  <a:cubicBezTo>
                    <a:pt x="1631318" y="11430"/>
                    <a:pt x="1620015" y="127"/>
                    <a:pt x="1606045" y="127"/>
                  </a:cubicBezTo>
                  <a:close/>
                </a:path>
              </a:pathLst>
            </a:custGeom>
            <a:solidFill>
              <a:srgbClr val="FF914D"/>
            </a:solidFill>
          </p:spPr>
        </p:sp>
        <p:sp>
          <p:nvSpPr>
            <p:cNvPr name="Freeform 14" id="14"/>
            <p:cNvSpPr/>
            <p:nvPr/>
          </p:nvSpPr>
          <p:spPr>
            <a:xfrm flipH="false" flipV="false" rot="0">
              <a:off x="63500" y="1304672"/>
              <a:ext cx="1636398" cy="387731"/>
            </a:xfrm>
            <a:custGeom>
              <a:avLst/>
              <a:gdLst/>
              <a:ahLst/>
              <a:cxnLst/>
              <a:rect r="r" b="b" t="t" l="l"/>
              <a:pathLst>
                <a:path h="387731" w="1636398">
                  <a:moveTo>
                    <a:pt x="1608585" y="4953"/>
                  </a:moveTo>
                  <a:lnTo>
                    <a:pt x="27813" y="4953"/>
                  </a:lnTo>
                  <a:lnTo>
                    <a:pt x="27813" y="2413"/>
                  </a:lnTo>
                  <a:lnTo>
                    <a:pt x="27813" y="4953"/>
                  </a:lnTo>
                  <a:cubicBezTo>
                    <a:pt x="15240" y="4953"/>
                    <a:pt x="5080" y="15113"/>
                    <a:pt x="5080" y="27686"/>
                  </a:cubicBezTo>
                  <a:lnTo>
                    <a:pt x="2540" y="27686"/>
                  </a:lnTo>
                  <a:lnTo>
                    <a:pt x="5080" y="27686"/>
                  </a:lnTo>
                  <a:lnTo>
                    <a:pt x="5080" y="359791"/>
                  </a:lnTo>
                  <a:lnTo>
                    <a:pt x="2540" y="359791"/>
                  </a:lnTo>
                  <a:lnTo>
                    <a:pt x="5080" y="359791"/>
                  </a:lnTo>
                  <a:cubicBezTo>
                    <a:pt x="5080" y="372364"/>
                    <a:pt x="15240" y="382524"/>
                    <a:pt x="27813" y="382524"/>
                  </a:cubicBezTo>
                  <a:lnTo>
                    <a:pt x="27813" y="385064"/>
                  </a:lnTo>
                  <a:lnTo>
                    <a:pt x="27813" y="382524"/>
                  </a:lnTo>
                  <a:lnTo>
                    <a:pt x="1608585" y="382524"/>
                  </a:lnTo>
                  <a:lnTo>
                    <a:pt x="1608585" y="385064"/>
                  </a:lnTo>
                  <a:lnTo>
                    <a:pt x="1608585" y="382524"/>
                  </a:lnTo>
                  <a:cubicBezTo>
                    <a:pt x="1621158" y="382524"/>
                    <a:pt x="1631318" y="372364"/>
                    <a:pt x="1631318" y="359791"/>
                  </a:cubicBezTo>
                  <a:lnTo>
                    <a:pt x="1633858" y="359791"/>
                  </a:lnTo>
                  <a:lnTo>
                    <a:pt x="1631318" y="359791"/>
                  </a:lnTo>
                  <a:lnTo>
                    <a:pt x="1631318" y="27813"/>
                  </a:lnTo>
                  <a:lnTo>
                    <a:pt x="1633858" y="27813"/>
                  </a:lnTo>
                  <a:lnTo>
                    <a:pt x="1631318" y="27813"/>
                  </a:lnTo>
                  <a:cubicBezTo>
                    <a:pt x="1631318" y="15240"/>
                    <a:pt x="1621158" y="5080"/>
                    <a:pt x="1608585" y="5080"/>
                  </a:cubicBezTo>
                  <a:lnTo>
                    <a:pt x="1608585" y="2540"/>
                  </a:lnTo>
                  <a:lnTo>
                    <a:pt x="1608585" y="5080"/>
                  </a:lnTo>
                  <a:moveTo>
                    <a:pt x="1608585" y="0"/>
                  </a:moveTo>
                  <a:cubicBezTo>
                    <a:pt x="1623952" y="0"/>
                    <a:pt x="1636398" y="12446"/>
                    <a:pt x="1636398" y="27813"/>
                  </a:cubicBezTo>
                  <a:lnTo>
                    <a:pt x="1636398" y="359918"/>
                  </a:lnTo>
                  <a:cubicBezTo>
                    <a:pt x="1636398" y="375285"/>
                    <a:pt x="1623952" y="387731"/>
                    <a:pt x="1608585" y="387731"/>
                  </a:cubicBezTo>
                  <a:lnTo>
                    <a:pt x="27813" y="387731"/>
                  </a:lnTo>
                  <a:cubicBezTo>
                    <a:pt x="12446" y="387731"/>
                    <a:pt x="0" y="375285"/>
                    <a:pt x="0" y="359918"/>
                  </a:cubicBezTo>
                  <a:lnTo>
                    <a:pt x="0" y="27813"/>
                  </a:lnTo>
                  <a:cubicBezTo>
                    <a:pt x="0" y="12446"/>
                    <a:pt x="12446" y="0"/>
                    <a:pt x="27813" y="0"/>
                  </a:cubicBezTo>
                  <a:lnTo>
                    <a:pt x="1608585" y="0"/>
                  </a:lnTo>
                  <a:close/>
                </a:path>
              </a:pathLst>
            </a:custGeom>
            <a:solidFill>
              <a:srgbClr val="A98DC3"/>
            </a:solidFill>
          </p:spPr>
        </p:sp>
      </p:grpSp>
      <p:grpSp>
        <p:nvGrpSpPr>
          <p:cNvPr name="Group 15" id="15"/>
          <p:cNvGrpSpPr/>
          <p:nvPr/>
        </p:nvGrpSpPr>
        <p:grpSpPr>
          <a:xfrm rot="0">
            <a:off x="1896861" y="979333"/>
            <a:ext cx="2203065" cy="619677"/>
            <a:chOff x="0" y="0"/>
            <a:chExt cx="2001545" cy="563004"/>
          </a:xfrm>
        </p:grpSpPr>
        <p:sp>
          <p:nvSpPr>
            <p:cNvPr name="Freeform 16" id="16"/>
            <p:cNvSpPr/>
            <p:nvPr/>
          </p:nvSpPr>
          <p:spPr>
            <a:xfrm flipH="false" flipV="false" rot="0">
              <a:off x="63500" y="63501"/>
              <a:ext cx="821184" cy="259210"/>
            </a:xfrm>
            <a:custGeom>
              <a:avLst/>
              <a:gdLst/>
              <a:ahLst/>
              <a:cxnLst/>
              <a:rect r="r" b="b" t="t" l="l"/>
              <a:pathLst>
                <a:path h="259210" w="821184">
                  <a:moveTo>
                    <a:pt x="0" y="259210"/>
                  </a:moveTo>
                  <a:lnTo>
                    <a:pt x="821184" y="259210"/>
                  </a:lnTo>
                  <a:lnTo>
                    <a:pt x="821184" y="0"/>
                  </a:lnTo>
                  <a:lnTo>
                    <a:pt x="0" y="0"/>
                  </a:lnTo>
                  <a:close/>
                </a:path>
              </a:pathLst>
            </a:custGeom>
            <a:solidFill>
              <a:srgbClr val="087CC1"/>
            </a:solidFill>
          </p:spPr>
        </p:sp>
        <p:sp>
          <p:nvSpPr>
            <p:cNvPr name="Freeform 17" id="17"/>
            <p:cNvSpPr/>
            <p:nvPr/>
          </p:nvSpPr>
          <p:spPr>
            <a:xfrm flipH="false" flipV="false" rot="0">
              <a:off x="1267717" y="63501"/>
              <a:ext cx="670307" cy="259210"/>
            </a:xfrm>
            <a:custGeom>
              <a:avLst/>
              <a:gdLst/>
              <a:ahLst/>
              <a:cxnLst/>
              <a:rect r="r" b="b" t="t" l="l"/>
              <a:pathLst>
                <a:path h="259210" w="670307">
                  <a:moveTo>
                    <a:pt x="0" y="259210"/>
                  </a:moveTo>
                  <a:lnTo>
                    <a:pt x="670307" y="259210"/>
                  </a:lnTo>
                  <a:lnTo>
                    <a:pt x="670307" y="0"/>
                  </a:lnTo>
                  <a:lnTo>
                    <a:pt x="0" y="0"/>
                  </a:lnTo>
                  <a:close/>
                </a:path>
              </a:pathLst>
            </a:custGeom>
            <a:solidFill>
              <a:srgbClr val="77B7DD"/>
            </a:solidFill>
          </p:spPr>
        </p:sp>
        <p:sp>
          <p:nvSpPr>
            <p:cNvPr name="Freeform 18" id="18"/>
            <p:cNvSpPr/>
            <p:nvPr/>
          </p:nvSpPr>
          <p:spPr>
            <a:xfrm flipH="false" flipV="false" rot="0">
              <a:off x="887224" y="185549"/>
              <a:ext cx="337440" cy="15240"/>
            </a:xfrm>
            <a:custGeom>
              <a:avLst/>
              <a:gdLst/>
              <a:ahLst/>
              <a:cxnLst/>
              <a:rect r="r" b="b" t="t" l="l"/>
              <a:pathLst>
                <a:path h="15240" w="337440">
                  <a:moveTo>
                    <a:pt x="0" y="0"/>
                  </a:moveTo>
                  <a:lnTo>
                    <a:pt x="337439" y="0"/>
                  </a:lnTo>
                  <a:lnTo>
                    <a:pt x="337439" y="15240"/>
                  </a:lnTo>
                  <a:lnTo>
                    <a:pt x="0" y="15240"/>
                  </a:lnTo>
                  <a:close/>
                </a:path>
              </a:pathLst>
            </a:custGeom>
            <a:solidFill>
              <a:srgbClr val="183E69"/>
            </a:solidFill>
          </p:spPr>
        </p:sp>
        <p:sp>
          <p:nvSpPr>
            <p:cNvPr name="Freeform 19" id="19"/>
            <p:cNvSpPr/>
            <p:nvPr/>
          </p:nvSpPr>
          <p:spPr>
            <a:xfrm flipH="false" flipV="false" rot="0">
              <a:off x="1200406" y="160657"/>
              <a:ext cx="64770" cy="64771"/>
            </a:xfrm>
            <a:custGeom>
              <a:avLst/>
              <a:gdLst/>
              <a:ahLst/>
              <a:cxnLst/>
              <a:rect r="r" b="b" t="t" l="l"/>
              <a:pathLst>
                <a:path h="64771" w="64770">
                  <a:moveTo>
                    <a:pt x="64771" y="32385"/>
                  </a:moveTo>
                  <a:lnTo>
                    <a:pt x="0" y="0"/>
                  </a:lnTo>
                  <a:lnTo>
                    <a:pt x="24257" y="32385"/>
                  </a:lnTo>
                  <a:lnTo>
                    <a:pt x="0" y="64771"/>
                  </a:lnTo>
                </a:path>
              </a:pathLst>
            </a:custGeom>
            <a:solidFill>
              <a:srgbClr val="183E69"/>
            </a:solidFill>
          </p:spPr>
        </p:sp>
        <p:sp>
          <p:nvSpPr>
            <p:cNvPr name="Freeform 20" id="20"/>
            <p:cNvSpPr/>
            <p:nvPr/>
          </p:nvSpPr>
          <p:spPr>
            <a:xfrm flipH="false" flipV="false" rot="0">
              <a:off x="201549" y="374527"/>
              <a:ext cx="1673863" cy="122302"/>
            </a:xfrm>
            <a:custGeom>
              <a:avLst/>
              <a:gdLst/>
              <a:ahLst/>
              <a:cxnLst/>
              <a:rect r="r" b="b" t="t" l="l"/>
              <a:pathLst>
                <a:path h="122302" w="1673863">
                  <a:moveTo>
                    <a:pt x="1654941" y="0"/>
                  </a:moveTo>
                  <a:lnTo>
                    <a:pt x="18923" y="0"/>
                  </a:lnTo>
                  <a:cubicBezTo>
                    <a:pt x="8382" y="0"/>
                    <a:pt x="0" y="8509"/>
                    <a:pt x="0" y="18923"/>
                  </a:cubicBezTo>
                  <a:lnTo>
                    <a:pt x="0" y="103379"/>
                  </a:lnTo>
                  <a:cubicBezTo>
                    <a:pt x="0" y="113920"/>
                    <a:pt x="8509" y="122303"/>
                    <a:pt x="18923" y="122303"/>
                  </a:cubicBezTo>
                  <a:lnTo>
                    <a:pt x="1654941" y="122303"/>
                  </a:lnTo>
                  <a:cubicBezTo>
                    <a:pt x="1665482" y="122303"/>
                    <a:pt x="1673864" y="113793"/>
                    <a:pt x="1673864" y="103379"/>
                  </a:cubicBezTo>
                  <a:lnTo>
                    <a:pt x="1673864" y="19050"/>
                  </a:lnTo>
                  <a:cubicBezTo>
                    <a:pt x="1673864" y="8509"/>
                    <a:pt x="1665355" y="127"/>
                    <a:pt x="1654941" y="127"/>
                  </a:cubicBezTo>
                  <a:close/>
                </a:path>
              </a:pathLst>
            </a:custGeom>
            <a:blipFill>
              <a:blip r:embed="rId3"/>
              <a:stretch>
                <a:fillRect l="-12040" t="-394947" r="-7535" b="-142818"/>
              </a:stretch>
            </a:blipFill>
          </p:spPr>
        </p:sp>
        <p:sp>
          <p:nvSpPr>
            <p:cNvPr name="Freeform 21" id="21"/>
            <p:cNvSpPr/>
            <p:nvPr/>
          </p:nvSpPr>
          <p:spPr>
            <a:xfrm flipH="false" flipV="false" rot="0">
              <a:off x="199009" y="371987"/>
              <a:ext cx="1678943" cy="127382"/>
            </a:xfrm>
            <a:custGeom>
              <a:avLst/>
              <a:gdLst/>
              <a:ahLst/>
              <a:cxnLst/>
              <a:rect r="r" b="b" t="t" l="l"/>
              <a:pathLst>
                <a:path h="127382" w="1678943">
                  <a:moveTo>
                    <a:pt x="1657481" y="5080"/>
                  </a:moveTo>
                  <a:lnTo>
                    <a:pt x="21463" y="5080"/>
                  </a:lnTo>
                  <a:lnTo>
                    <a:pt x="21463" y="2540"/>
                  </a:lnTo>
                  <a:lnTo>
                    <a:pt x="21463" y="5080"/>
                  </a:lnTo>
                  <a:cubicBezTo>
                    <a:pt x="12319" y="5080"/>
                    <a:pt x="4953" y="12446"/>
                    <a:pt x="4953" y="21590"/>
                  </a:cubicBezTo>
                  <a:lnTo>
                    <a:pt x="2413" y="21590"/>
                  </a:lnTo>
                  <a:lnTo>
                    <a:pt x="4953" y="21590"/>
                  </a:lnTo>
                  <a:lnTo>
                    <a:pt x="4953" y="106046"/>
                  </a:lnTo>
                  <a:lnTo>
                    <a:pt x="2413" y="106046"/>
                  </a:lnTo>
                  <a:lnTo>
                    <a:pt x="4953" y="106046"/>
                  </a:lnTo>
                  <a:cubicBezTo>
                    <a:pt x="4953" y="115190"/>
                    <a:pt x="12319" y="122557"/>
                    <a:pt x="21463" y="122557"/>
                  </a:cubicBezTo>
                  <a:lnTo>
                    <a:pt x="21463" y="125097"/>
                  </a:lnTo>
                  <a:lnTo>
                    <a:pt x="21463" y="122557"/>
                  </a:lnTo>
                  <a:lnTo>
                    <a:pt x="1657481" y="122557"/>
                  </a:lnTo>
                  <a:lnTo>
                    <a:pt x="1657481" y="125097"/>
                  </a:lnTo>
                  <a:lnTo>
                    <a:pt x="1657481" y="122557"/>
                  </a:lnTo>
                  <a:cubicBezTo>
                    <a:pt x="1666625" y="122557"/>
                    <a:pt x="1673991" y="115190"/>
                    <a:pt x="1673991" y="106046"/>
                  </a:cubicBezTo>
                  <a:lnTo>
                    <a:pt x="1676531" y="106046"/>
                  </a:lnTo>
                  <a:lnTo>
                    <a:pt x="1673991" y="106046"/>
                  </a:lnTo>
                  <a:lnTo>
                    <a:pt x="1673991" y="21590"/>
                  </a:lnTo>
                  <a:lnTo>
                    <a:pt x="1676531" y="21590"/>
                  </a:lnTo>
                  <a:lnTo>
                    <a:pt x="1673991" y="21590"/>
                  </a:lnTo>
                  <a:cubicBezTo>
                    <a:pt x="1673991" y="12446"/>
                    <a:pt x="1666625" y="5080"/>
                    <a:pt x="1657481" y="5080"/>
                  </a:cubicBezTo>
                  <a:lnTo>
                    <a:pt x="1657481" y="2540"/>
                  </a:lnTo>
                  <a:lnTo>
                    <a:pt x="1657481" y="5080"/>
                  </a:lnTo>
                  <a:moveTo>
                    <a:pt x="1657481" y="0"/>
                  </a:moveTo>
                  <a:cubicBezTo>
                    <a:pt x="1669419" y="0"/>
                    <a:pt x="1678944" y="9652"/>
                    <a:pt x="1678944" y="21463"/>
                  </a:cubicBezTo>
                  <a:lnTo>
                    <a:pt x="1678944" y="105919"/>
                  </a:lnTo>
                  <a:cubicBezTo>
                    <a:pt x="1678944" y="117857"/>
                    <a:pt x="1669292" y="127383"/>
                    <a:pt x="1657481" y="127383"/>
                  </a:cubicBezTo>
                  <a:lnTo>
                    <a:pt x="21463" y="127383"/>
                  </a:lnTo>
                  <a:cubicBezTo>
                    <a:pt x="9525" y="127383"/>
                    <a:pt x="0" y="117730"/>
                    <a:pt x="0" y="105919"/>
                  </a:cubicBezTo>
                  <a:lnTo>
                    <a:pt x="0" y="21590"/>
                  </a:lnTo>
                  <a:cubicBezTo>
                    <a:pt x="0" y="9652"/>
                    <a:pt x="9652" y="127"/>
                    <a:pt x="21463" y="127"/>
                  </a:cubicBezTo>
                  <a:lnTo>
                    <a:pt x="1657481" y="127"/>
                  </a:lnTo>
                  <a:close/>
                </a:path>
              </a:pathLst>
            </a:custGeom>
            <a:solidFill>
              <a:srgbClr val="77B7DD"/>
            </a:solidFill>
          </p:spPr>
        </p:sp>
      </p:grpSp>
      <p:grpSp>
        <p:nvGrpSpPr>
          <p:cNvPr name="Group 22" id="22"/>
          <p:cNvGrpSpPr/>
          <p:nvPr/>
        </p:nvGrpSpPr>
        <p:grpSpPr>
          <a:xfrm rot="0">
            <a:off x="-7" y="3124800"/>
            <a:ext cx="5760072" cy="115205"/>
            <a:chOff x="0" y="0"/>
            <a:chExt cx="5760072" cy="115202"/>
          </a:xfrm>
        </p:grpSpPr>
        <p:sp>
          <p:nvSpPr>
            <p:cNvPr name="Freeform 23" id="23"/>
            <p:cNvSpPr/>
            <p:nvPr/>
          </p:nvSpPr>
          <p:spPr>
            <a:xfrm flipH="false" flipV="false" rot="0">
              <a:off x="0" y="0"/>
              <a:ext cx="5760083" cy="115187"/>
            </a:xfrm>
            <a:custGeom>
              <a:avLst/>
              <a:gdLst/>
              <a:ahLst/>
              <a:cxnLst/>
              <a:rect r="r" b="b" t="t" l="l"/>
              <a:pathLst>
                <a:path h="115187" w="5760083">
                  <a:moveTo>
                    <a:pt x="0" y="115187"/>
                  </a:moveTo>
                  <a:lnTo>
                    <a:pt x="0" y="0"/>
                  </a:lnTo>
                  <a:lnTo>
                    <a:pt x="5760083" y="0"/>
                  </a:lnTo>
                  <a:lnTo>
                    <a:pt x="5760083" y="115187"/>
                  </a:lnTo>
                  <a:close/>
                </a:path>
              </a:pathLst>
            </a:custGeom>
            <a:solidFill>
              <a:srgbClr val="087CC1"/>
            </a:solidFill>
          </p:spPr>
        </p:sp>
      </p:grpSp>
      <p:sp>
        <p:nvSpPr>
          <p:cNvPr name="TextBox 24" id="24"/>
          <p:cNvSpPr txBox="true"/>
          <p:nvPr/>
        </p:nvSpPr>
        <p:spPr>
          <a:xfrm rot="0">
            <a:off x="249746" y="153791"/>
            <a:ext cx="229229" cy="122815"/>
          </a:xfrm>
          <a:prstGeom prst="rect">
            <a:avLst/>
          </a:prstGeom>
        </p:spPr>
        <p:txBody>
          <a:bodyPr anchor="t" rtlCol="false" tIns="0" lIns="0" bIns="0" rIns="0">
            <a:spAutoFit/>
          </a:bodyPr>
          <a:lstStyle/>
          <a:p>
            <a:pPr algn="ctr">
              <a:lnSpc>
                <a:spcPts val="478"/>
              </a:lnSpc>
            </a:pPr>
            <a:r>
              <a:rPr lang="en-US" b="true" sz="448" spc="-7">
                <a:solidFill>
                  <a:srgbClr val="263746"/>
                </a:solidFill>
                <a:latin typeface="IBM Plex Sans Bold"/>
                <a:ea typeface="IBM Plex Sans Bold"/>
                <a:cs typeface="IBM Plex Sans Bold"/>
                <a:sym typeface="IBM Plex Sans Bold"/>
              </a:rPr>
              <a:t>Circuit Breakers</a:t>
            </a:r>
          </a:p>
        </p:txBody>
      </p:sp>
      <p:sp>
        <p:nvSpPr>
          <p:cNvPr name="TextBox 25" id="25"/>
          <p:cNvSpPr txBox="true"/>
          <p:nvPr/>
        </p:nvSpPr>
        <p:spPr>
          <a:xfrm rot="0">
            <a:off x="1641719" y="23422"/>
            <a:ext cx="2525878" cy="299114"/>
          </a:xfrm>
          <a:prstGeom prst="rect">
            <a:avLst/>
          </a:prstGeom>
        </p:spPr>
        <p:txBody>
          <a:bodyPr anchor="t" rtlCol="false" tIns="0" lIns="0" bIns="0" rIns="0">
            <a:spAutoFit/>
          </a:bodyPr>
          <a:lstStyle/>
          <a:p>
            <a:pPr algn="l">
              <a:lnSpc>
                <a:spcPts val="2371"/>
              </a:lnSpc>
            </a:pPr>
            <a:r>
              <a:rPr lang="en-US" b="true" sz="1693" spc="-28">
                <a:solidFill>
                  <a:srgbClr val="183E69"/>
                </a:solidFill>
                <a:latin typeface="IBM Plex Sans Bold"/>
                <a:ea typeface="IBM Plex Sans Bold"/>
                <a:cs typeface="IBM Plex Sans Bold"/>
                <a:sym typeface="IBM Plex Sans Bold"/>
              </a:rPr>
              <a:t>PROPOSED</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SOLUTION</a:t>
            </a:r>
          </a:p>
        </p:txBody>
      </p:sp>
      <p:sp>
        <p:nvSpPr>
          <p:cNvPr name="TextBox 26" id="26"/>
          <p:cNvSpPr txBox="true"/>
          <p:nvPr/>
        </p:nvSpPr>
        <p:spPr>
          <a:xfrm rot="0">
            <a:off x="151190" y="498329"/>
            <a:ext cx="838486" cy="140017"/>
          </a:xfrm>
          <a:prstGeom prst="rect">
            <a:avLst/>
          </a:prstGeom>
        </p:spPr>
        <p:txBody>
          <a:bodyPr anchor="t" rtlCol="false" tIns="0" lIns="0" bIns="0" rIns="0">
            <a:spAutoFit/>
          </a:bodyPr>
          <a:lstStyle/>
          <a:p>
            <a:pPr algn="l">
              <a:lnSpc>
                <a:spcPts val="1143"/>
              </a:lnSpc>
            </a:pPr>
            <a:r>
              <a:rPr lang="en-US" b="true" sz="816" spc="-13">
                <a:solidFill>
                  <a:srgbClr val="D65A32"/>
                </a:solidFill>
                <a:latin typeface="IBM Plex Sans Bold"/>
                <a:ea typeface="IBM Plex Sans Bold"/>
                <a:cs typeface="IBM Plex Sans Bold"/>
                <a:sym typeface="IBM Plex Sans Bold"/>
              </a:rPr>
              <a:t>Problem</a:t>
            </a:r>
            <a:r>
              <a:rPr lang="en-US" b="true" sz="816" spc="-13">
                <a:solidFill>
                  <a:srgbClr val="FFFFFF"/>
                </a:solidFill>
                <a:latin typeface="IBM Plex Sans Bold"/>
                <a:ea typeface="IBM Plex Sans Bold"/>
                <a:cs typeface="IBM Plex Sans Bold"/>
                <a:sym typeface="IBM Plex Sans Bold"/>
              </a:rPr>
              <a:t> </a:t>
            </a:r>
            <a:r>
              <a:rPr lang="en-US" b="true" sz="816" spc="-13">
                <a:solidFill>
                  <a:srgbClr val="D65A32"/>
                </a:solidFill>
                <a:latin typeface="IBM Plex Sans Bold"/>
                <a:ea typeface="IBM Plex Sans Bold"/>
                <a:cs typeface="IBM Plex Sans Bold"/>
                <a:sym typeface="IBM Plex Sans Bold"/>
              </a:rPr>
              <a:t>at</a:t>
            </a:r>
            <a:r>
              <a:rPr lang="en-US" b="true" sz="816" spc="-13">
                <a:solidFill>
                  <a:srgbClr val="FFFFFF"/>
                </a:solidFill>
                <a:latin typeface="IBM Plex Sans Bold"/>
                <a:ea typeface="IBM Plex Sans Bold"/>
                <a:cs typeface="IBM Plex Sans Bold"/>
                <a:sym typeface="IBM Plex Sans Bold"/>
              </a:rPr>
              <a:t> </a:t>
            </a:r>
            <a:r>
              <a:rPr lang="en-US" b="true" sz="816" spc="-13">
                <a:solidFill>
                  <a:srgbClr val="D65A32"/>
                </a:solidFill>
                <a:latin typeface="IBM Plex Sans Bold"/>
                <a:ea typeface="IBM Plex Sans Bold"/>
                <a:cs typeface="IBM Plex Sans Bold"/>
                <a:sym typeface="IBM Plex Sans Bold"/>
              </a:rPr>
              <a:t>Hand</a:t>
            </a:r>
          </a:p>
        </p:txBody>
      </p:sp>
      <p:sp>
        <p:nvSpPr>
          <p:cNvPr name="TextBox 27" id="27"/>
          <p:cNvSpPr txBox="true"/>
          <p:nvPr/>
        </p:nvSpPr>
        <p:spPr>
          <a:xfrm rot="0">
            <a:off x="1965874" y="460229"/>
            <a:ext cx="1656245" cy="519104"/>
          </a:xfrm>
          <a:prstGeom prst="rect">
            <a:avLst/>
          </a:prstGeom>
        </p:spPr>
        <p:txBody>
          <a:bodyPr anchor="t" rtlCol="false" tIns="0" lIns="0" bIns="0" rIns="0">
            <a:spAutoFit/>
          </a:bodyPr>
          <a:lstStyle/>
          <a:p>
            <a:pPr algn="l">
              <a:lnSpc>
                <a:spcPts val="1587"/>
              </a:lnSpc>
            </a:pPr>
            <a:r>
              <a:rPr lang="en-US" b="true" sz="816" spc="-13">
                <a:solidFill>
                  <a:srgbClr val="188A50"/>
                </a:solidFill>
                <a:latin typeface="IBM Plex Sans Bold"/>
                <a:ea typeface="IBM Plex Sans Bold"/>
                <a:cs typeface="IBM Plex Sans Bold"/>
                <a:sym typeface="IBM Plex Sans Bold"/>
              </a:rPr>
              <a:t>Our</a:t>
            </a:r>
            <a:r>
              <a:rPr lang="en-US" b="true" sz="816" spc="-13">
                <a:solidFill>
                  <a:srgbClr val="FFFFFF"/>
                </a:solidFill>
                <a:latin typeface="IBM Plex Sans Bold"/>
                <a:ea typeface="IBM Plex Sans Bold"/>
                <a:cs typeface="IBM Plex Sans Bold"/>
                <a:sym typeface="IBM Plex Sans Bold"/>
              </a:rPr>
              <a:t> </a:t>
            </a:r>
            <a:r>
              <a:rPr lang="en-US" b="true" sz="816" spc="-13">
                <a:solidFill>
                  <a:srgbClr val="188A50"/>
                </a:solidFill>
                <a:latin typeface="IBM Plex Sans Bold"/>
                <a:ea typeface="IBM Plex Sans Bold"/>
                <a:cs typeface="IBM Plex Sans Bold"/>
                <a:sym typeface="IBM Plex Sans Bold"/>
              </a:rPr>
              <a:t>Solution</a:t>
            </a:r>
          </a:p>
          <a:p>
            <a:pPr algn="l">
              <a:lnSpc>
                <a:spcPts val="1355"/>
              </a:lnSpc>
            </a:pPr>
            <a:r>
              <a:rPr lang="en-US" b="true" sz="697" i="true" spc="0">
                <a:solidFill>
                  <a:srgbClr val="263746"/>
                </a:solidFill>
                <a:latin typeface="Open Sans Bold Italics"/>
                <a:ea typeface="Open Sans Bold Italics"/>
                <a:cs typeface="Open Sans Bold Italics"/>
                <a:sym typeface="Open Sans Bold Italics"/>
              </a:rPr>
              <a:t> Environmental-Compensation</a:t>
            </a:r>
            <a:r>
              <a:rPr lang="en-US" b="true" sz="697" i="true" spc="0">
                <a:solidFill>
                  <a:srgbClr val="FFFFFF"/>
                </a:solidFill>
                <a:latin typeface="Open Sans Bold Italics"/>
                <a:ea typeface="Open Sans Bold Italics"/>
                <a:cs typeface="Open Sans Bold Italics"/>
                <a:sym typeface="Open Sans Bold Italics"/>
              </a:rPr>
              <a:t>   </a:t>
            </a:r>
            <a:r>
              <a:rPr lang="en-US" b="true" sz="697" i="true" spc="0">
                <a:solidFill>
                  <a:srgbClr val="263746"/>
                </a:solidFill>
                <a:latin typeface="Open Sans Bold Italics"/>
                <a:ea typeface="Open Sans Bold Italics"/>
                <a:cs typeface="Open Sans Bold Italics"/>
                <a:sym typeface="Open Sans Bold Italics"/>
              </a:rPr>
              <a:t>Controller</a:t>
            </a:r>
          </a:p>
        </p:txBody>
      </p:sp>
      <p:sp>
        <p:nvSpPr>
          <p:cNvPr name="TextBox 28" id="28"/>
          <p:cNvSpPr txBox="true"/>
          <p:nvPr/>
        </p:nvSpPr>
        <p:spPr>
          <a:xfrm rot="0">
            <a:off x="4107990" y="498329"/>
            <a:ext cx="637975" cy="140017"/>
          </a:xfrm>
          <a:prstGeom prst="rect">
            <a:avLst/>
          </a:prstGeom>
        </p:spPr>
        <p:txBody>
          <a:bodyPr anchor="t" rtlCol="false" tIns="0" lIns="0" bIns="0" rIns="0">
            <a:spAutoFit/>
          </a:bodyPr>
          <a:lstStyle/>
          <a:p>
            <a:pPr algn="l">
              <a:lnSpc>
                <a:spcPts val="1143"/>
              </a:lnSpc>
            </a:pPr>
            <a:r>
              <a:rPr lang="en-US" b="true" sz="816" spc="-13">
                <a:solidFill>
                  <a:srgbClr val="70419B"/>
                </a:solidFill>
                <a:latin typeface="IBM Plex Sans Bold"/>
                <a:ea typeface="IBM Plex Sans Bold"/>
                <a:cs typeface="IBM Plex Sans Bold"/>
                <a:sym typeface="IBM Plex Sans Bold"/>
              </a:rPr>
              <a:t>Key</a:t>
            </a:r>
            <a:r>
              <a:rPr lang="en-US" b="true" sz="816" spc="-13">
                <a:solidFill>
                  <a:srgbClr val="FFFFFF"/>
                </a:solidFill>
                <a:latin typeface="IBM Plex Sans Bold"/>
                <a:ea typeface="IBM Plex Sans Bold"/>
                <a:cs typeface="IBM Plex Sans Bold"/>
                <a:sym typeface="IBM Plex Sans Bold"/>
              </a:rPr>
              <a:t> </a:t>
            </a:r>
            <a:r>
              <a:rPr lang="en-US" b="true" sz="816" spc="-13">
                <a:solidFill>
                  <a:srgbClr val="70419B"/>
                </a:solidFill>
                <a:latin typeface="IBM Plex Sans Bold"/>
                <a:ea typeface="IBM Plex Sans Bold"/>
                <a:cs typeface="IBM Plex Sans Bold"/>
                <a:sym typeface="IBM Plex Sans Bold"/>
              </a:rPr>
              <a:t>Features</a:t>
            </a:r>
          </a:p>
        </p:txBody>
      </p:sp>
      <p:sp>
        <p:nvSpPr>
          <p:cNvPr name="TextBox 29" id="29"/>
          <p:cNvSpPr txBox="true"/>
          <p:nvPr/>
        </p:nvSpPr>
        <p:spPr>
          <a:xfrm rot="0">
            <a:off x="197368" y="729748"/>
            <a:ext cx="1600073" cy="1538754"/>
          </a:xfrm>
          <a:prstGeom prst="rect">
            <a:avLst/>
          </a:prstGeom>
        </p:spPr>
        <p:txBody>
          <a:bodyPr anchor="t" rtlCol="false" tIns="0" lIns="0" bIns="0" rIns="0">
            <a:spAutoFit/>
          </a:bodyPr>
          <a:lstStyle/>
          <a:p>
            <a:pPr algn="l">
              <a:lnSpc>
                <a:spcPts val="839"/>
              </a:lnSpc>
            </a:pPr>
            <a:r>
              <a:rPr lang="en-US" b="true" sz="734" spc="-12">
                <a:solidFill>
                  <a:srgbClr val="263746"/>
                </a:solidFill>
                <a:latin typeface="IBM Plex Sans Bold"/>
                <a:ea typeface="IBM Plex Sans Bold"/>
                <a:cs typeface="IBM Plex Sans Bold"/>
                <a:sym typeface="IBM Plex Sans Bold"/>
              </a:rPr>
              <a:t>Battery Degradation</a:t>
            </a:r>
          </a:p>
          <a:p>
            <a:pPr algn="l">
              <a:lnSpc>
                <a:spcPts val="716"/>
              </a:lnSpc>
            </a:pPr>
            <a:r>
              <a:rPr lang="en-US" sz="626" spc="0">
                <a:solidFill>
                  <a:srgbClr val="263746"/>
                </a:solidFill>
                <a:latin typeface="IBM Plex Sans"/>
                <a:ea typeface="IBM Plex Sans"/>
                <a:cs typeface="IBM Plex Sans"/>
                <a:sym typeface="IBM Plex Sans"/>
              </a:rPr>
              <a:t>Cold reduces usable capacity and increases</a:t>
            </a:r>
          </a:p>
          <a:p>
            <a:pPr algn="l">
              <a:lnSpc>
                <a:spcPts val="936"/>
              </a:lnSpc>
            </a:pPr>
            <a:r>
              <a:rPr lang="en-US" sz="626" spc="0">
                <a:solidFill>
                  <a:srgbClr val="263746"/>
                </a:solidFill>
                <a:latin typeface="IBM Plex Sans"/>
                <a:ea typeface="IBM Plex Sans"/>
                <a:cs typeface="IBM Plex Sans"/>
                <a:sym typeface="IBM Plex Sans"/>
              </a:rPr>
              <a:t>voltage sag—shortening mission endurance.</a:t>
            </a:r>
          </a:p>
          <a:p>
            <a:pPr algn="l" rtl="true">
              <a:lnSpc>
                <a:spcPts val="936"/>
              </a:lnSpc>
            </a:pPr>
          </a:p>
          <a:p>
            <a:pPr algn="l">
              <a:lnSpc>
                <a:spcPts val="839"/>
              </a:lnSpc>
            </a:pPr>
            <a:r>
              <a:rPr lang="en-US" b="true" sz="734" spc="-12">
                <a:solidFill>
                  <a:srgbClr val="263746"/>
                </a:solidFill>
                <a:latin typeface="IBM Plex Sans Bold"/>
                <a:ea typeface="IBM Plex Sans Bold"/>
                <a:cs typeface="IBM Plex Sans Bold"/>
                <a:sym typeface="IBM Plex Sans Bold"/>
              </a:rPr>
              <a:t>Insulation Breakdown</a:t>
            </a:r>
          </a:p>
          <a:p>
            <a:pPr algn="l">
              <a:lnSpc>
                <a:spcPts val="716"/>
              </a:lnSpc>
            </a:pPr>
            <a:r>
              <a:rPr lang="en-US" sz="626" spc="0">
                <a:solidFill>
                  <a:srgbClr val="263746"/>
                </a:solidFill>
                <a:latin typeface="IBM Plex Sans"/>
                <a:ea typeface="IBM Plex Sans"/>
                <a:cs typeface="IBM Plex Sans"/>
                <a:sym typeface="IBM Plex Sans"/>
              </a:rPr>
              <a:t>Low pressure lowers dielectric strength, in-</a:t>
            </a:r>
          </a:p>
          <a:p>
            <a:pPr algn="l">
              <a:lnSpc>
                <a:spcPts val="936"/>
              </a:lnSpc>
            </a:pPr>
            <a:r>
              <a:rPr lang="en-US" sz="626" spc="0">
                <a:solidFill>
                  <a:srgbClr val="263746"/>
                </a:solidFill>
                <a:latin typeface="IBM Plex Sans"/>
                <a:ea typeface="IBM Plex Sans"/>
                <a:cs typeface="IBM Plex Sans"/>
                <a:sym typeface="IBM Plex Sans"/>
              </a:rPr>
              <a:t>creasing corona and arcing risk.</a:t>
            </a:r>
          </a:p>
          <a:p>
            <a:pPr algn="l" rtl="true">
              <a:lnSpc>
                <a:spcPts val="936"/>
              </a:lnSpc>
            </a:pPr>
          </a:p>
          <a:p>
            <a:pPr algn="l">
              <a:lnSpc>
                <a:spcPts val="839"/>
              </a:lnSpc>
            </a:pPr>
            <a:r>
              <a:rPr lang="en-US" b="true" sz="734" spc="-12">
                <a:solidFill>
                  <a:srgbClr val="263746"/>
                </a:solidFill>
                <a:latin typeface="IBM Plex Sans Bold"/>
                <a:ea typeface="IBM Plex Sans Bold"/>
                <a:cs typeface="IBM Plex Sans Bold"/>
                <a:sym typeface="IBM Plex Sans Bold"/>
              </a:rPr>
              <a:t>Communication Degradation</a:t>
            </a:r>
          </a:p>
          <a:p>
            <a:pPr algn="l">
              <a:lnSpc>
                <a:spcPts val="716"/>
              </a:lnSpc>
            </a:pPr>
            <a:r>
              <a:rPr lang="en-US" sz="626" spc="0">
                <a:solidFill>
                  <a:srgbClr val="263746"/>
                </a:solidFill>
                <a:latin typeface="IBM Plex Sans"/>
                <a:ea typeface="IBM Plex Sans"/>
                <a:cs typeface="IBM Plex Sans"/>
                <a:sym typeface="IBM Plex Sans"/>
              </a:rPr>
              <a:t>Ice accumulation detunes antennas and</a:t>
            </a:r>
          </a:p>
          <a:p>
            <a:pPr algn="l">
              <a:lnSpc>
                <a:spcPts val="936"/>
              </a:lnSpc>
            </a:pPr>
            <a:r>
              <a:rPr lang="en-US" sz="626" spc="0">
                <a:solidFill>
                  <a:srgbClr val="263746"/>
                </a:solidFill>
                <a:latin typeface="IBM Plex Sans"/>
                <a:ea typeface="IBM Plex Sans"/>
                <a:cs typeface="IBM Plex Sans"/>
                <a:sym typeface="IBM Plex Sans"/>
              </a:rPr>
              <a:t>weakens critical communication links.</a:t>
            </a:r>
          </a:p>
          <a:p>
            <a:pPr algn="l" rtl="true">
              <a:lnSpc>
                <a:spcPts val="936"/>
              </a:lnSpc>
            </a:pPr>
          </a:p>
          <a:p>
            <a:pPr algn="l">
              <a:lnSpc>
                <a:spcPts val="839"/>
              </a:lnSpc>
            </a:pPr>
            <a:r>
              <a:rPr lang="en-US" b="true" sz="734" spc="-12">
                <a:solidFill>
                  <a:srgbClr val="263746"/>
                </a:solidFill>
                <a:latin typeface="IBM Plex Sans Bold"/>
                <a:ea typeface="IBM Plex Sans Bold"/>
                <a:cs typeface="IBM Plex Sans Bold"/>
                <a:sym typeface="IBM Plex Sans Bold"/>
              </a:rPr>
              <a:t>Thermal Cycling</a:t>
            </a:r>
          </a:p>
          <a:p>
            <a:pPr algn="l">
              <a:lnSpc>
                <a:spcPts val="716"/>
              </a:lnSpc>
            </a:pPr>
            <a:r>
              <a:rPr lang="en-US" sz="626">
                <a:solidFill>
                  <a:srgbClr val="263746"/>
                </a:solidFill>
                <a:latin typeface="IBM Plex Sans"/>
                <a:ea typeface="IBM Plex Sans"/>
                <a:cs typeface="IBM Plex Sans"/>
                <a:sym typeface="IBM Plex Sans"/>
              </a:rPr>
              <a:t>Repeated expansion and contraction fatigue</a:t>
            </a:r>
          </a:p>
          <a:p>
            <a:pPr algn="l">
              <a:lnSpc>
                <a:spcPts val="936"/>
              </a:lnSpc>
            </a:pPr>
            <a:r>
              <a:rPr lang="en-US" sz="626" spc="0">
                <a:solidFill>
                  <a:srgbClr val="263746"/>
                </a:solidFill>
                <a:latin typeface="IBM Plex Sans"/>
                <a:ea typeface="IBM Plex Sans"/>
                <a:cs typeface="IBM Plex Sans"/>
                <a:sym typeface="IBM Plex Sans"/>
              </a:rPr>
              <a:t>solder joints and PCB assemblies.</a:t>
            </a:r>
          </a:p>
        </p:txBody>
      </p:sp>
      <p:sp>
        <p:nvSpPr>
          <p:cNvPr name="TextBox 30" id="30"/>
          <p:cNvSpPr txBox="true"/>
          <p:nvPr/>
        </p:nvSpPr>
        <p:spPr>
          <a:xfrm rot="0">
            <a:off x="5511384" y="3110855"/>
            <a:ext cx="49682" cy="120920"/>
          </a:xfrm>
          <a:prstGeom prst="rect">
            <a:avLst/>
          </a:prstGeom>
        </p:spPr>
        <p:txBody>
          <a:bodyPr anchor="t" rtlCol="false" tIns="0" lIns="0" bIns="0" rIns="0">
            <a:spAutoFit/>
          </a:bodyPr>
          <a:lstStyle/>
          <a:p>
            <a:pPr algn="l">
              <a:lnSpc>
                <a:spcPts val="976"/>
              </a:lnSpc>
            </a:pPr>
            <a:r>
              <a:rPr lang="en-US" b="true" sz="697" spc="-11">
                <a:solidFill>
                  <a:srgbClr val="FFFFFF"/>
                </a:solidFill>
                <a:latin typeface="IBM Plex Sans Bold"/>
                <a:ea typeface="IBM Plex Sans Bold"/>
                <a:cs typeface="IBM Plex Sans Bold"/>
                <a:sym typeface="IBM Plex Sans Bold"/>
              </a:rPr>
              <a:t>2</a:t>
            </a:r>
          </a:p>
        </p:txBody>
      </p:sp>
      <p:sp>
        <p:nvSpPr>
          <p:cNvPr name="TextBox 31" id="31"/>
          <p:cNvSpPr txBox="true"/>
          <p:nvPr/>
        </p:nvSpPr>
        <p:spPr>
          <a:xfrm rot="0">
            <a:off x="2012051" y="1100012"/>
            <a:ext cx="743360" cy="165074"/>
          </a:xfrm>
          <a:prstGeom prst="rect">
            <a:avLst/>
          </a:prstGeom>
        </p:spPr>
        <p:txBody>
          <a:bodyPr anchor="t" rtlCol="false" tIns="0" lIns="0" bIns="0" rIns="0">
            <a:spAutoFit/>
          </a:bodyPr>
          <a:lstStyle/>
          <a:p>
            <a:pPr algn="ctr">
              <a:lnSpc>
                <a:spcPts val="697"/>
              </a:lnSpc>
            </a:pPr>
            <a:r>
              <a:rPr lang="en-US" b="true" sz="647" spc="-11">
                <a:solidFill>
                  <a:srgbClr val="FFFFFF"/>
                </a:solidFill>
                <a:latin typeface="Lora Bold"/>
                <a:ea typeface="Lora Bold"/>
                <a:cs typeface="Lora Bold"/>
                <a:sym typeface="Lora Bold"/>
              </a:rPr>
              <a:t>MILITARY</a:t>
            </a:r>
          </a:p>
          <a:p>
            <a:pPr algn="ctr">
              <a:lnSpc>
                <a:spcPts val="697"/>
              </a:lnSpc>
            </a:pPr>
            <a:r>
              <a:rPr lang="en-US" b="true" sz="647" spc="-11">
                <a:solidFill>
                  <a:srgbClr val="FFFFFF"/>
                </a:solidFill>
                <a:latin typeface="Lora Bold"/>
                <a:ea typeface="Lora Bold"/>
                <a:cs typeface="Lora Bold"/>
                <a:sym typeface="Lora Bold"/>
              </a:rPr>
              <a:t>E&amp;E EQUIPMENT</a:t>
            </a:r>
          </a:p>
        </p:txBody>
      </p:sp>
      <p:sp>
        <p:nvSpPr>
          <p:cNvPr name="TextBox 32" id="32"/>
          <p:cNvSpPr txBox="true"/>
          <p:nvPr/>
        </p:nvSpPr>
        <p:spPr>
          <a:xfrm rot="0">
            <a:off x="3294794" y="1036796"/>
            <a:ext cx="725680" cy="281927"/>
          </a:xfrm>
          <a:prstGeom prst="rect">
            <a:avLst/>
          </a:prstGeom>
        </p:spPr>
        <p:txBody>
          <a:bodyPr anchor="t" rtlCol="false" tIns="0" lIns="0" bIns="0" rIns="0">
            <a:spAutoFit/>
          </a:bodyPr>
          <a:lstStyle/>
          <a:p>
            <a:pPr algn="l">
              <a:lnSpc>
                <a:spcPts val="775"/>
              </a:lnSpc>
            </a:pPr>
            <a:r>
              <a:rPr lang="en-US" b="true" sz="553" spc="-8">
                <a:solidFill>
                  <a:srgbClr val="263746"/>
                </a:solidFill>
                <a:latin typeface="IBM Plex Sans Bold"/>
                <a:ea typeface="IBM Plex Sans Bold"/>
                <a:cs typeface="IBM Plex Sans Bold"/>
                <a:sym typeface="IBM Plex Sans Bold"/>
              </a:rPr>
              <a:t>Retrofit environmental-compensation module</a:t>
            </a:r>
          </a:p>
        </p:txBody>
      </p:sp>
      <p:sp>
        <p:nvSpPr>
          <p:cNvPr name="TextBox 33" id="33"/>
          <p:cNvSpPr txBox="true"/>
          <p:nvPr/>
        </p:nvSpPr>
        <p:spPr>
          <a:xfrm rot="0">
            <a:off x="1965874" y="1522305"/>
            <a:ext cx="2031107" cy="89845"/>
          </a:xfrm>
          <a:prstGeom prst="rect">
            <a:avLst/>
          </a:prstGeom>
        </p:spPr>
        <p:txBody>
          <a:bodyPr anchor="t" rtlCol="false" tIns="0" lIns="0" bIns="0" rIns="0">
            <a:spAutoFit/>
          </a:bodyPr>
          <a:lstStyle/>
          <a:p>
            <a:pPr algn="l">
              <a:lnSpc>
                <a:spcPts val="822"/>
              </a:lnSpc>
            </a:pPr>
            <a:r>
              <a:rPr lang="en-US" sz="587" spc="0">
                <a:solidFill>
                  <a:srgbClr val="188A50"/>
                </a:solidFill>
                <a:latin typeface="IBM Plex Sans"/>
                <a:ea typeface="IBM Plex Sans"/>
                <a:cs typeface="IBM Plex Sans"/>
                <a:sym typeface="IBM Plex Sans"/>
              </a:rPr>
              <a:t>•</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Fuses pressure,temperature and vibration data through an  </a:t>
            </a:r>
          </a:p>
        </p:txBody>
      </p:sp>
      <p:sp>
        <p:nvSpPr>
          <p:cNvPr name="TextBox 34" id="34"/>
          <p:cNvSpPr txBox="true"/>
          <p:nvPr/>
        </p:nvSpPr>
        <p:spPr>
          <a:xfrm rot="0">
            <a:off x="3981336" y="1522305"/>
            <a:ext cx="170061" cy="89845"/>
          </a:xfrm>
          <a:prstGeom prst="rect">
            <a:avLst/>
          </a:prstGeom>
        </p:spPr>
        <p:txBody>
          <a:bodyPr anchor="t" rtlCol="false" tIns="0" lIns="0" bIns="0" rIns="0">
            <a:spAutoFit/>
          </a:bodyPr>
          <a:lstStyle/>
          <a:p>
            <a:pPr algn="l">
              <a:lnSpc>
                <a:spcPts val="822"/>
              </a:lnSpc>
            </a:pPr>
            <a:r>
              <a:rPr lang="en-US" sz="587" spc="0">
                <a:solidFill>
                  <a:srgbClr val="263746"/>
                </a:solidFill>
                <a:latin typeface="IBM Plex Sans"/>
                <a:ea typeface="IBM Plex Sans"/>
                <a:cs typeface="IBM Plex Sans"/>
                <a:sym typeface="IBM Plex Sans"/>
              </a:rPr>
              <a:t>EKF .</a:t>
            </a:r>
          </a:p>
        </p:txBody>
      </p:sp>
      <p:sp>
        <p:nvSpPr>
          <p:cNvPr name="TextBox 35" id="35"/>
          <p:cNvSpPr txBox="true"/>
          <p:nvPr/>
        </p:nvSpPr>
        <p:spPr>
          <a:xfrm rot="0">
            <a:off x="1965874" y="1616888"/>
            <a:ext cx="2015461" cy="185020"/>
          </a:xfrm>
          <a:prstGeom prst="rect">
            <a:avLst/>
          </a:prstGeom>
        </p:spPr>
        <p:txBody>
          <a:bodyPr anchor="t" rtlCol="false" tIns="0" lIns="0" bIns="0" rIns="0">
            <a:spAutoFit/>
          </a:bodyPr>
          <a:lstStyle/>
          <a:p>
            <a:pPr algn="l">
              <a:lnSpc>
                <a:spcPts val="823"/>
              </a:lnSpc>
            </a:pPr>
            <a:r>
              <a:rPr lang="en-US" sz="587" spc="0">
                <a:solidFill>
                  <a:srgbClr val="188A50"/>
                </a:solidFill>
                <a:latin typeface="IBM Plex Sans"/>
                <a:ea typeface="IBM Plex Sans"/>
                <a:cs typeface="IBM Plex Sans"/>
                <a:sym typeface="IBM Plex Sans"/>
              </a:rPr>
              <a:t>•</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Preheats</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batteries</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before</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cold-induced</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performance</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loss . </a:t>
            </a:r>
          </a:p>
          <a:p>
            <a:pPr algn="l">
              <a:lnSpc>
                <a:spcPts val="823"/>
              </a:lnSpc>
            </a:pPr>
            <a:r>
              <a:rPr lang="en-US" sz="587" spc="0">
                <a:solidFill>
                  <a:srgbClr val="188A50"/>
                </a:solidFill>
                <a:latin typeface="IBM Plex Sans"/>
                <a:ea typeface="IBM Plex Sans"/>
                <a:cs typeface="IBM Plex Sans"/>
                <a:sym typeface="IBM Plex Sans"/>
              </a:rPr>
              <a:t>•</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Adapts converter </a:t>
            </a:r>
            <a:r>
              <a:rPr lang="en-US" sz="587" i="true" spc="0">
                <a:solidFill>
                  <a:srgbClr val="263746"/>
                </a:solidFill>
                <a:latin typeface="IBM Plex Sans Italics"/>
                <a:ea typeface="IBM Plex Sans Italics"/>
                <a:cs typeface="IBM Plex Sans Italics"/>
                <a:sym typeface="IBM Plex Sans Italics"/>
              </a:rPr>
              <a:t>dV</a:t>
            </a:r>
            <a:r>
              <a:rPr lang="en-US" sz="587" spc="0">
                <a:solidFill>
                  <a:srgbClr val="263746"/>
                </a:solidFill>
                <a:latin typeface="IBM Plex Sans"/>
                <a:ea typeface="IBM Plex Sans"/>
                <a:cs typeface="IBM Plex Sans"/>
                <a:sym typeface="IBM Plex Sans"/>
              </a:rPr>
              <a:t>/</a:t>
            </a:r>
            <a:r>
              <a:rPr lang="en-US" sz="587" i="true" spc="0">
                <a:solidFill>
                  <a:srgbClr val="263746"/>
                </a:solidFill>
                <a:latin typeface="IBM Plex Sans Italics"/>
                <a:ea typeface="IBM Plex Sans Italics"/>
                <a:cs typeface="IBM Plex Sans Italics"/>
                <a:sym typeface="IBM Plex Sans Italics"/>
              </a:rPr>
              <a:t>dt </a:t>
            </a:r>
            <a:r>
              <a:rPr lang="en-US" sz="587" spc="0">
                <a:solidFill>
                  <a:srgbClr val="263746"/>
                </a:solidFill>
                <a:latin typeface="IBM Plex Sans"/>
                <a:ea typeface="IBM Plex Sans"/>
                <a:cs typeface="IBM Plex Sans"/>
                <a:sym typeface="IBM Plex Sans"/>
              </a:rPr>
              <a:t>and dead time to ambient</a:t>
            </a:r>
          </a:p>
        </p:txBody>
      </p:sp>
      <p:sp>
        <p:nvSpPr>
          <p:cNvPr name="TextBox 36" id="36"/>
          <p:cNvSpPr txBox="true"/>
          <p:nvPr/>
        </p:nvSpPr>
        <p:spPr>
          <a:xfrm rot="0">
            <a:off x="3678435" y="1704635"/>
            <a:ext cx="332184" cy="89845"/>
          </a:xfrm>
          <a:prstGeom prst="rect">
            <a:avLst/>
          </a:prstGeom>
        </p:spPr>
        <p:txBody>
          <a:bodyPr anchor="t" rtlCol="false" tIns="0" lIns="0" bIns="0" rIns="0">
            <a:spAutoFit/>
          </a:bodyPr>
          <a:lstStyle/>
          <a:p>
            <a:pPr algn="l">
              <a:lnSpc>
                <a:spcPts val="822"/>
              </a:lnSpc>
            </a:pPr>
            <a:r>
              <a:rPr lang="en-US" sz="587" spc="0">
                <a:solidFill>
                  <a:srgbClr val="263746"/>
                </a:solidFill>
                <a:latin typeface="IBM Plex Sans"/>
                <a:ea typeface="IBM Plex Sans"/>
                <a:cs typeface="IBM Plex Sans"/>
                <a:sym typeface="IBM Plex Sans"/>
              </a:rPr>
              <a:t>pressure .</a:t>
            </a:r>
          </a:p>
        </p:txBody>
      </p:sp>
      <p:sp>
        <p:nvSpPr>
          <p:cNvPr name="TextBox 37" id="37"/>
          <p:cNvSpPr txBox="true"/>
          <p:nvPr/>
        </p:nvSpPr>
        <p:spPr>
          <a:xfrm rot="0">
            <a:off x="1965874" y="1815054"/>
            <a:ext cx="1922316" cy="185020"/>
          </a:xfrm>
          <a:prstGeom prst="rect">
            <a:avLst/>
          </a:prstGeom>
        </p:spPr>
        <p:txBody>
          <a:bodyPr anchor="t" rtlCol="false" tIns="0" lIns="0" bIns="0" rIns="0">
            <a:spAutoFit/>
          </a:bodyPr>
          <a:lstStyle/>
          <a:p>
            <a:pPr algn="l">
              <a:lnSpc>
                <a:spcPts val="823"/>
              </a:lnSpc>
            </a:pPr>
            <a:r>
              <a:rPr lang="en-US" sz="587" spc="0">
                <a:solidFill>
                  <a:srgbClr val="188A50"/>
                </a:solidFill>
                <a:latin typeface="IBM Plex Sans"/>
                <a:ea typeface="IBM Plex Sans"/>
                <a:cs typeface="IBM Plex Sans"/>
                <a:sym typeface="IBM Plex Sans"/>
              </a:rPr>
              <a:t>•</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De-ices antennas using closed-loop resistive heating .</a:t>
            </a:r>
          </a:p>
          <a:p>
            <a:pPr algn="l">
              <a:lnSpc>
                <a:spcPts val="823"/>
              </a:lnSpc>
            </a:pPr>
            <a:r>
              <a:rPr lang="en-US" sz="587" spc="0">
                <a:solidFill>
                  <a:srgbClr val="188A50"/>
                </a:solidFill>
                <a:latin typeface="IBM Plex Sans"/>
                <a:ea typeface="IBM Plex Sans"/>
                <a:cs typeface="IBM Plex Sans"/>
                <a:sym typeface="IBM Plex Sans"/>
              </a:rPr>
              <a:t>•</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Tracks thermal fatigue and issues maintenance alerts.</a:t>
            </a:r>
          </a:p>
        </p:txBody>
      </p:sp>
      <p:sp>
        <p:nvSpPr>
          <p:cNvPr name="TextBox 38" id="38"/>
          <p:cNvSpPr txBox="true"/>
          <p:nvPr/>
        </p:nvSpPr>
        <p:spPr>
          <a:xfrm rot="0">
            <a:off x="4254970" y="675932"/>
            <a:ext cx="998801" cy="1287578"/>
          </a:xfrm>
          <a:prstGeom prst="rect">
            <a:avLst/>
          </a:prstGeom>
        </p:spPr>
        <p:txBody>
          <a:bodyPr anchor="t" rtlCol="false" tIns="0" lIns="0" bIns="0" rIns="0">
            <a:spAutoFit/>
          </a:bodyPr>
          <a:lstStyle/>
          <a:p>
            <a:pPr algn="l" marL="124753" indent="-62377" lvl="1">
              <a:lnSpc>
                <a:spcPts val="647"/>
              </a:lnSpc>
              <a:buFont typeface="Arial"/>
              <a:buChar char="•"/>
            </a:pPr>
            <a:r>
              <a:rPr lang="en-US" b="true" sz="577" spc="-9">
                <a:solidFill>
                  <a:srgbClr val="263746"/>
                </a:solidFill>
                <a:latin typeface="IBM Plex Sans Bold"/>
                <a:ea typeface="IBM Plex Sans Bold"/>
                <a:cs typeface="IBM Plex Sans Bold"/>
                <a:sym typeface="IBM Plex Sans Bold"/>
              </a:rPr>
              <a:t>Predictive</a:t>
            </a:r>
            <a:r>
              <a:rPr lang="en-US" b="true" sz="577" spc="-9">
                <a:solidFill>
                  <a:srgbClr val="FFFFFF"/>
                </a:solidFill>
                <a:latin typeface="IBM Plex Sans Bold"/>
                <a:ea typeface="IBM Plex Sans Bold"/>
                <a:cs typeface="IBM Plex Sans Bold"/>
                <a:sym typeface="IBM Plex Sans Bold"/>
              </a:rPr>
              <a:t>  </a:t>
            </a:r>
          </a:p>
          <a:p>
            <a:pPr algn="l" marL="124753" indent="-62377" lvl="1">
              <a:lnSpc>
                <a:spcPts val="647"/>
              </a:lnSpc>
              <a:buFont typeface="Arial"/>
              <a:buChar char="•"/>
            </a:pPr>
            <a:r>
              <a:rPr lang="en-US" b="true" sz="577" spc="-9">
                <a:solidFill>
                  <a:srgbClr val="263746"/>
                </a:solidFill>
                <a:latin typeface="IBM Plex Sans Bold"/>
                <a:ea typeface="IBM Plex Sans Bold"/>
                <a:cs typeface="IBM Plex Sans Bold"/>
                <a:sym typeface="IBM Plex Sans Bold"/>
              </a:rPr>
              <a:t>Heating</a:t>
            </a:r>
          </a:p>
          <a:p>
            <a:pPr algn="r" rtl="true">
              <a:lnSpc>
                <a:spcPts val="647"/>
              </a:lnSpc>
            </a:pPr>
          </a:p>
          <a:p>
            <a:pPr algn="l" marL="124753" indent="-62377" lvl="1">
              <a:lnSpc>
                <a:spcPts val="647"/>
              </a:lnSpc>
              <a:buFont typeface="Arial"/>
              <a:buChar char="•"/>
            </a:pPr>
            <a:r>
              <a:rPr lang="en-US" b="true" sz="577" spc="-9">
                <a:solidFill>
                  <a:srgbClr val="263746"/>
                </a:solidFill>
                <a:latin typeface="IBM Plex Sans Bold"/>
                <a:ea typeface="IBM Plex Sans Bold"/>
                <a:cs typeface="IBM Plex Sans Bold"/>
                <a:sym typeface="IBM Plex Sans Bold"/>
              </a:rPr>
              <a:t>EKF</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Thermal</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&amp;</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Fatigue</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Es- timation</a:t>
            </a:r>
          </a:p>
          <a:p>
            <a:pPr algn="l" marL="124753" indent="-62377" lvl="1">
              <a:lnSpc>
                <a:spcPts val="1079"/>
              </a:lnSpc>
              <a:buFont typeface="Arial"/>
              <a:buChar char="•"/>
            </a:pPr>
            <a:r>
              <a:rPr lang="en-US" b="true" sz="577" spc="-9">
                <a:solidFill>
                  <a:srgbClr val="263746"/>
                </a:solidFill>
                <a:latin typeface="IBM Plex Sans Bold"/>
                <a:ea typeface="IBM Plex Sans Bold"/>
                <a:cs typeface="IBM Plex Sans Bold"/>
                <a:sym typeface="IBM Plex Sans Bold"/>
              </a:rPr>
              <a:t>Pressure-Adaptive</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Power</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De-</a:t>
            </a:r>
            <a:r>
              <a:rPr lang="en-US" b="true" sz="577" spc="-9">
                <a:solidFill>
                  <a:srgbClr val="263746"/>
                </a:solidFill>
                <a:latin typeface="IBM Plex Sans Bold"/>
                <a:ea typeface="IBM Plex Sans Bold"/>
                <a:cs typeface="IBM Plex Sans Bold"/>
                <a:sym typeface="IBM Plex Sans Bold"/>
              </a:rPr>
              <a:t>rating</a:t>
            </a:r>
          </a:p>
          <a:p>
            <a:pPr algn="r" rtl="true">
              <a:lnSpc>
                <a:spcPts val="288"/>
              </a:lnSpc>
            </a:pPr>
          </a:p>
          <a:p>
            <a:pPr algn="l" marL="124753" indent="-62377" lvl="1">
              <a:lnSpc>
                <a:spcPts val="647"/>
              </a:lnSpc>
              <a:buFont typeface="Arial"/>
              <a:buChar char="•"/>
            </a:pPr>
            <a:r>
              <a:rPr lang="en-US" b="true" sz="577" spc="-9">
                <a:solidFill>
                  <a:srgbClr val="263746"/>
                </a:solidFill>
                <a:latin typeface="IBM Plex Sans Bold"/>
                <a:ea typeface="IBM Plex Sans Bold"/>
                <a:cs typeface="IBM Plex Sans Bold"/>
                <a:sym typeface="IBM Plex Sans Bold"/>
              </a:rPr>
              <a:t>Antenna</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De-Icing</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Control</a:t>
            </a:r>
          </a:p>
          <a:p>
            <a:pPr algn="r" rtl="true">
              <a:lnSpc>
                <a:spcPts val="647"/>
              </a:lnSpc>
            </a:pPr>
          </a:p>
          <a:p>
            <a:pPr algn="l" marL="124753" indent="-62377" lvl="1">
              <a:lnSpc>
                <a:spcPts val="647"/>
              </a:lnSpc>
              <a:buFont typeface="Arial"/>
              <a:buChar char="•"/>
            </a:pPr>
            <a:r>
              <a:rPr lang="en-US" b="true" sz="577" spc="-9">
                <a:solidFill>
                  <a:srgbClr val="263746"/>
                </a:solidFill>
                <a:latin typeface="IBM Plex Sans Bold"/>
                <a:ea typeface="IBM Plex Sans Bold"/>
                <a:cs typeface="IBM Plex Sans Bold"/>
                <a:sym typeface="IBM Plex Sans Bold"/>
              </a:rPr>
              <a:t>Real-Time</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Health</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Monitoring</a:t>
            </a:r>
          </a:p>
          <a:p>
            <a:pPr algn="l" marL="124753" indent="-62377" lvl="1">
              <a:lnSpc>
                <a:spcPts val="1167"/>
              </a:lnSpc>
              <a:buFont typeface="Arial"/>
              <a:buChar char="•"/>
            </a:pPr>
            <a:r>
              <a:rPr lang="en-US" b="true" sz="577" spc="-9">
                <a:solidFill>
                  <a:srgbClr val="263746"/>
                </a:solidFill>
                <a:latin typeface="IBM Plex Sans Bold"/>
                <a:ea typeface="IBM Plex Sans Bold"/>
                <a:cs typeface="IBM Plex Sans Bold"/>
                <a:sym typeface="IBM Plex Sans Bold"/>
              </a:rPr>
              <a:t>Modular</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Retrofit</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Architec</a:t>
            </a:r>
            <a:r>
              <a:rPr lang="en-US" b="true" sz="577" spc="-9">
                <a:solidFill>
                  <a:srgbClr val="263746"/>
                </a:solidFill>
                <a:latin typeface="IBM Plex Sans Bold"/>
                <a:ea typeface="IBM Plex Sans Bold"/>
                <a:cs typeface="IBM Plex Sans Bold"/>
                <a:sym typeface="IBM Plex Sans Bold"/>
              </a:rPr>
              <a:t>ture</a:t>
            </a:r>
          </a:p>
        </p:txBody>
      </p:sp>
      <p:sp>
        <p:nvSpPr>
          <p:cNvPr name="TextBox 39" id="39"/>
          <p:cNvSpPr txBox="true"/>
          <p:nvPr/>
        </p:nvSpPr>
        <p:spPr>
          <a:xfrm rot="0">
            <a:off x="4709027" y="656882"/>
            <a:ext cx="280293" cy="99623"/>
          </a:xfrm>
          <a:prstGeom prst="rect">
            <a:avLst/>
          </a:prstGeom>
        </p:spPr>
        <p:txBody>
          <a:bodyPr anchor="t" rtlCol="false" tIns="0" lIns="0" bIns="0" rIns="0">
            <a:spAutoFit/>
          </a:bodyPr>
          <a:lstStyle/>
          <a:p>
            <a:pPr algn="l">
              <a:lnSpc>
                <a:spcPts val="808"/>
              </a:lnSpc>
            </a:pPr>
            <a:r>
              <a:rPr lang="en-US" b="true" sz="577" spc="-9">
                <a:solidFill>
                  <a:srgbClr val="263746"/>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Battery</a:t>
            </a:r>
            <a:r>
              <a:rPr lang="en-US" b="true" sz="577" spc="-9">
                <a:solidFill>
                  <a:srgbClr val="FFFFFF"/>
                </a:solidFill>
                <a:latin typeface="IBM Plex Sans Bold"/>
                <a:ea typeface="IBM Plex Sans Bold"/>
                <a:cs typeface="IBM Plex Sans Bold"/>
                <a:sym typeface="IBM Plex Sans Bold"/>
              </a:rPr>
              <a:t> </a:t>
            </a:r>
          </a:p>
        </p:txBody>
      </p:sp>
      <p:sp>
        <p:nvSpPr>
          <p:cNvPr name="TextBox 40" id="40"/>
          <p:cNvSpPr txBox="true"/>
          <p:nvPr/>
        </p:nvSpPr>
        <p:spPr>
          <a:xfrm rot="0">
            <a:off x="5081530" y="656882"/>
            <a:ext cx="155734" cy="111347"/>
          </a:xfrm>
          <a:prstGeom prst="rect">
            <a:avLst/>
          </a:prstGeom>
        </p:spPr>
        <p:txBody>
          <a:bodyPr anchor="t" rtlCol="false" tIns="0" lIns="0" bIns="0" rIns="0">
            <a:spAutoFit/>
          </a:bodyPr>
          <a:lstStyle/>
          <a:p>
            <a:pPr algn="l">
              <a:lnSpc>
                <a:spcPts val="808"/>
              </a:lnSpc>
            </a:pPr>
            <a:r>
              <a:rPr lang="en-US" b="true" sz="577" spc="-9">
                <a:solidFill>
                  <a:srgbClr val="263746"/>
                </a:solidFill>
                <a:latin typeface="IBM Plex Sans Bold"/>
                <a:ea typeface="IBM Plex Sans Bold"/>
                <a:cs typeface="IBM Plex Sans Bold"/>
                <a:sym typeface="IBM Plex Sans Bold"/>
              </a:rPr>
              <a:t>Self-</a:t>
            </a:r>
          </a:p>
        </p:txBody>
      </p:sp>
      <p:sp>
        <p:nvSpPr>
          <p:cNvPr name="TextBox 41" id="41"/>
          <p:cNvSpPr txBox="true"/>
          <p:nvPr/>
        </p:nvSpPr>
        <p:spPr>
          <a:xfrm rot="0">
            <a:off x="197368" y="2539117"/>
            <a:ext cx="1718558" cy="179043"/>
          </a:xfrm>
          <a:prstGeom prst="rect">
            <a:avLst/>
          </a:prstGeom>
        </p:spPr>
        <p:txBody>
          <a:bodyPr anchor="t" rtlCol="false" tIns="0" lIns="0" bIns="0" rIns="0">
            <a:spAutoFit/>
          </a:bodyPr>
          <a:lstStyle/>
          <a:p>
            <a:pPr algn="l">
              <a:lnSpc>
                <a:spcPts val="689"/>
              </a:lnSpc>
            </a:pPr>
            <a:r>
              <a:rPr lang="en-US" b="true" sz="614" spc="0">
                <a:solidFill>
                  <a:srgbClr val="183E69"/>
                </a:solidFill>
                <a:latin typeface="IBM Plex Sans Bold"/>
                <a:ea typeface="IBM Plex Sans Bold"/>
                <a:cs typeface="IBM Plex Sans Bold"/>
                <a:sym typeface="IBM Plex Sans Bold"/>
              </a:rPr>
              <a:t>Adaptive:</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Adjusts</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protection</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and</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heating</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in</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real time—not</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through</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fixed</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worst-case</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settings.</a:t>
            </a:r>
          </a:p>
        </p:txBody>
      </p:sp>
      <p:sp>
        <p:nvSpPr>
          <p:cNvPr name="TextBox 42" id="42"/>
          <p:cNvSpPr txBox="true"/>
          <p:nvPr/>
        </p:nvSpPr>
        <p:spPr>
          <a:xfrm rot="0">
            <a:off x="2012051" y="2539117"/>
            <a:ext cx="1791153" cy="172337"/>
          </a:xfrm>
          <a:prstGeom prst="rect">
            <a:avLst/>
          </a:prstGeom>
        </p:spPr>
        <p:txBody>
          <a:bodyPr anchor="t" rtlCol="false" tIns="0" lIns="0" bIns="0" rIns="0">
            <a:spAutoFit/>
          </a:bodyPr>
          <a:lstStyle/>
          <a:p>
            <a:pPr algn="l">
              <a:lnSpc>
                <a:spcPts val="665"/>
              </a:lnSpc>
            </a:pPr>
            <a:r>
              <a:rPr lang="en-US" b="true" sz="592" spc="0">
                <a:solidFill>
                  <a:srgbClr val="183E69"/>
                </a:solidFill>
                <a:latin typeface="IBM Plex Sans Bold"/>
                <a:ea typeface="IBM Plex Sans Bold"/>
                <a:cs typeface="IBM Plex Sans Bold"/>
                <a:sym typeface="IBM Plex Sans Bold"/>
              </a:rPr>
              <a:t>Predictive:</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Estimates</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battery,</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insulation</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and</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fatigue health</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before</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a</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failure</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occurs.</a:t>
            </a:r>
          </a:p>
        </p:txBody>
      </p:sp>
      <p:sp>
        <p:nvSpPr>
          <p:cNvPr name="TextBox 43" id="43"/>
          <p:cNvSpPr txBox="true"/>
          <p:nvPr/>
        </p:nvSpPr>
        <p:spPr>
          <a:xfrm rot="0">
            <a:off x="3898455" y="2546625"/>
            <a:ext cx="1848934" cy="171536"/>
          </a:xfrm>
          <a:prstGeom prst="rect">
            <a:avLst/>
          </a:prstGeom>
        </p:spPr>
        <p:txBody>
          <a:bodyPr anchor="t" rtlCol="false" tIns="0" lIns="0" bIns="0" rIns="0">
            <a:spAutoFit/>
          </a:bodyPr>
          <a:lstStyle/>
          <a:p>
            <a:pPr algn="l">
              <a:lnSpc>
                <a:spcPts val="662"/>
              </a:lnSpc>
            </a:pPr>
            <a:r>
              <a:rPr lang="en-US" b="true" sz="589" spc="0">
                <a:solidFill>
                  <a:srgbClr val="183E69"/>
                </a:solidFill>
                <a:latin typeface="IBM Plex Sans Bold"/>
                <a:ea typeface="IBM Plex Sans Bold"/>
                <a:cs typeface="IBM Plex Sans Bold"/>
                <a:sym typeface="IBM Plex Sans Bold"/>
              </a:rPr>
              <a:t>Retrofit-Ready:</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Integrates</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through</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CAN/UART</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with- out</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redesigning</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the</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host</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equipment.</a:t>
            </a:r>
          </a:p>
        </p:txBody>
      </p:sp>
      <p:sp>
        <p:nvSpPr>
          <p:cNvPr name="TextBox 44" id="44"/>
          <p:cNvSpPr txBox="true"/>
          <p:nvPr/>
        </p:nvSpPr>
        <p:spPr>
          <a:xfrm rot="0">
            <a:off x="2410196" y="3120009"/>
            <a:ext cx="958386" cy="92888"/>
          </a:xfrm>
          <a:prstGeom prst="rect">
            <a:avLst/>
          </a:prstGeom>
        </p:spPr>
        <p:txBody>
          <a:bodyPr anchor="t" rtlCol="false" tIns="0" lIns="0" bIns="0" rIns="0">
            <a:spAutoFit/>
          </a:bodyPr>
          <a:lstStyle/>
          <a:p>
            <a:pPr algn="l">
              <a:lnSpc>
                <a:spcPts val="725"/>
              </a:lnSpc>
            </a:pPr>
            <a:r>
              <a:rPr lang="en-US" sz="518" spc="0">
                <a:solidFill>
                  <a:srgbClr val="FFFFFF"/>
                </a:solidFill>
                <a:latin typeface="IBM Plex Sans"/>
                <a:ea typeface="IBM Plex Sans"/>
                <a:cs typeface="IBM Plex Sans"/>
                <a:sym typeface="IBM Plex Sans"/>
              </a:rPr>
              <a:t>@SIH Idea submission–Template</a:t>
            </a:r>
          </a:p>
        </p:txBody>
      </p:sp>
      <p:grpSp>
        <p:nvGrpSpPr>
          <p:cNvPr name="Group 45" id="45"/>
          <p:cNvGrpSpPr/>
          <p:nvPr/>
        </p:nvGrpSpPr>
        <p:grpSpPr>
          <a:xfrm rot="0">
            <a:off x="2087375" y="1376240"/>
            <a:ext cx="1933099" cy="155590"/>
            <a:chOff x="0" y="0"/>
            <a:chExt cx="1617081" cy="130154"/>
          </a:xfrm>
        </p:grpSpPr>
        <p:sp>
          <p:nvSpPr>
            <p:cNvPr name="Freeform 46" id="46"/>
            <p:cNvSpPr/>
            <p:nvPr/>
          </p:nvSpPr>
          <p:spPr>
            <a:xfrm flipH="false" flipV="false" rot="0">
              <a:off x="0" y="0"/>
              <a:ext cx="1617081" cy="130154"/>
            </a:xfrm>
            <a:custGeom>
              <a:avLst/>
              <a:gdLst/>
              <a:ahLst/>
              <a:cxnLst/>
              <a:rect r="r" b="b" t="t" l="l"/>
              <a:pathLst>
                <a:path h="130154" w="1617081">
                  <a:moveTo>
                    <a:pt x="0" y="0"/>
                  </a:moveTo>
                  <a:lnTo>
                    <a:pt x="1617081" y="0"/>
                  </a:lnTo>
                  <a:lnTo>
                    <a:pt x="1617081" y="130154"/>
                  </a:lnTo>
                  <a:lnTo>
                    <a:pt x="0" y="130154"/>
                  </a:lnTo>
                  <a:close/>
                </a:path>
              </a:pathLst>
            </a:custGeom>
            <a:solidFill>
              <a:srgbClr val="FFFFFF"/>
            </a:solidFill>
          </p:spPr>
        </p:sp>
        <p:sp>
          <p:nvSpPr>
            <p:cNvPr name="TextBox 47" id="47"/>
            <p:cNvSpPr txBox="true"/>
            <p:nvPr/>
          </p:nvSpPr>
          <p:spPr>
            <a:xfrm>
              <a:off x="0" y="-19050"/>
              <a:ext cx="1617081" cy="149204"/>
            </a:xfrm>
            <a:prstGeom prst="rect">
              <a:avLst/>
            </a:prstGeom>
          </p:spPr>
          <p:txBody>
            <a:bodyPr anchor="ctr" rtlCol="false" tIns="50800" lIns="50800" bIns="50800" rIns="50800"/>
            <a:lstStyle/>
            <a:p>
              <a:pPr algn="ctr">
                <a:lnSpc>
                  <a:spcPts val="948"/>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504" y="113500"/>
            <a:ext cx="425196" cy="201987"/>
            <a:chOff x="0" y="0"/>
            <a:chExt cx="425196" cy="201994"/>
          </a:xfrm>
        </p:grpSpPr>
        <p:sp>
          <p:nvSpPr>
            <p:cNvPr name="Freeform 3" id="3"/>
            <p:cNvSpPr/>
            <p:nvPr/>
          </p:nvSpPr>
          <p:spPr>
            <a:xfrm flipH="false" flipV="false" rot="0">
              <a:off x="0" y="0"/>
              <a:ext cx="425194" cy="201932"/>
            </a:xfrm>
            <a:custGeom>
              <a:avLst/>
              <a:gdLst/>
              <a:ahLst/>
              <a:cxnLst/>
              <a:rect r="r" b="b" t="t" l="l"/>
              <a:pathLst>
                <a:path h="201932" w="425194">
                  <a:moveTo>
                    <a:pt x="396111" y="7620"/>
                  </a:moveTo>
                  <a:lnTo>
                    <a:pt x="29083" y="7620"/>
                  </a:lnTo>
                  <a:lnTo>
                    <a:pt x="29083" y="3810"/>
                  </a:lnTo>
                  <a:lnTo>
                    <a:pt x="29083" y="7620"/>
                  </a:lnTo>
                  <a:cubicBezTo>
                    <a:pt x="17272" y="7620"/>
                    <a:pt x="7620" y="17272"/>
                    <a:pt x="7620" y="29083"/>
                  </a:cubicBezTo>
                  <a:lnTo>
                    <a:pt x="3810" y="29083"/>
                  </a:lnTo>
                  <a:lnTo>
                    <a:pt x="7620" y="29083"/>
                  </a:lnTo>
                  <a:lnTo>
                    <a:pt x="7620" y="172849"/>
                  </a:lnTo>
                  <a:lnTo>
                    <a:pt x="3810" y="172849"/>
                  </a:lnTo>
                  <a:lnTo>
                    <a:pt x="7620" y="172849"/>
                  </a:lnTo>
                  <a:cubicBezTo>
                    <a:pt x="7620" y="184787"/>
                    <a:pt x="17272" y="194312"/>
                    <a:pt x="29083" y="194312"/>
                  </a:cubicBezTo>
                  <a:lnTo>
                    <a:pt x="29083" y="198122"/>
                  </a:lnTo>
                  <a:lnTo>
                    <a:pt x="29083" y="194312"/>
                  </a:lnTo>
                  <a:lnTo>
                    <a:pt x="396111" y="194312"/>
                  </a:lnTo>
                  <a:lnTo>
                    <a:pt x="396111" y="198122"/>
                  </a:lnTo>
                  <a:lnTo>
                    <a:pt x="396111" y="194312"/>
                  </a:lnTo>
                  <a:cubicBezTo>
                    <a:pt x="408049" y="194312"/>
                    <a:pt x="417574" y="184660"/>
                    <a:pt x="417574" y="172849"/>
                  </a:cubicBezTo>
                  <a:lnTo>
                    <a:pt x="421384" y="172849"/>
                  </a:lnTo>
                  <a:lnTo>
                    <a:pt x="417574" y="172849"/>
                  </a:lnTo>
                  <a:lnTo>
                    <a:pt x="417574" y="29083"/>
                  </a:lnTo>
                  <a:lnTo>
                    <a:pt x="421384" y="29083"/>
                  </a:lnTo>
                  <a:lnTo>
                    <a:pt x="417574" y="29083"/>
                  </a:lnTo>
                  <a:cubicBezTo>
                    <a:pt x="417574" y="17145"/>
                    <a:pt x="407922" y="7620"/>
                    <a:pt x="396111" y="7620"/>
                  </a:cubicBezTo>
                  <a:lnTo>
                    <a:pt x="396111" y="3810"/>
                  </a:lnTo>
                  <a:lnTo>
                    <a:pt x="396111" y="7620"/>
                  </a:lnTo>
                  <a:moveTo>
                    <a:pt x="396111" y="0"/>
                  </a:moveTo>
                  <a:cubicBezTo>
                    <a:pt x="412240" y="0"/>
                    <a:pt x="425194" y="13081"/>
                    <a:pt x="425194" y="29083"/>
                  </a:cubicBezTo>
                  <a:lnTo>
                    <a:pt x="425194" y="172849"/>
                  </a:lnTo>
                  <a:cubicBezTo>
                    <a:pt x="425194" y="188978"/>
                    <a:pt x="412113" y="201932"/>
                    <a:pt x="396111" y="201932"/>
                  </a:cubicBezTo>
                  <a:lnTo>
                    <a:pt x="29083" y="201932"/>
                  </a:lnTo>
                  <a:cubicBezTo>
                    <a:pt x="13081" y="201932"/>
                    <a:pt x="0" y="188978"/>
                    <a:pt x="0" y="172849"/>
                  </a:cubicBezTo>
                  <a:lnTo>
                    <a:pt x="0" y="29083"/>
                  </a:lnTo>
                  <a:cubicBezTo>
                    <a:pt x="0" y="13081"/>
                    <a:pt x="13081" y="0"/>
                    <a:pt x="29083" y="0"/>
                  </a:cubicBezTo>
                  <a:lnTo>
                    <a:pt x="396111" y="0"/>
                  </a:lnTo>
                  <a:close/>
                </a:path>
              </a:pathLst>
            </a:custGeom>
            <a:solidFill>
              <a:srgbClr val="70419B"/>
            </a:solidFill>
          </p:spPr>
        </p:sp>
      </p:grpSp>
      <p:grpSp>
        <p:nvGrpSpPr>
          <p:cNvPr name="Group 4" id="4"/>
          <p:cNvGrpSpPr/>
          <p:nvPr/>
        </p:nvGrpSpPr>
        <p:grpSpPr>
          <a:xfrm rot="0">
            <a:off x="4854483" y="77495"/>
            <a:ext cx="755990" cy="356483"/>
            <a:chOff x="0" y="0"/>
            <a:chExt cx="1007986" cy="475310"/>
          </a:xfrm>
        </p:grpSpPr>
        <p:sp>
          <p:nvSpPr>
            <p:cNvPr name="Freeform 5" id="5"/>
            <p:cNvSpPr/>
            <p:nvPr/>
          </p:nvSpPr>
          <p:spPr>
            <a:xfrm flipH="false" flipV="false" rot="0">
              <a:off x="0" y="0"/>
              <a:ext cx="1007999" cy="475361"/>
            </a:xfrm>
            <a:custGeom>
              <a:avLst/>
              <a:gdLst/>
              <a:ahLst/>
              <a:cxnLst/>
              <a:rect r="r" b="b" t="t" l="l"/>
              <a:pathLst>
                <a:path h="475361" w="1007999">
                  <a:moveTo>
                    <a:pt x="0" y="0"/>
                  </a:moveTo>
                  <a:lnTo>
                    <a:pt x="1007999" y="0"/>
                  </a:lnTo>
                  <a:lnTo>
                    <a:pt x="1007999" y="475361"/>
                  </a:lnTo>
                  <a:lnTo>
                    <a:pt x="0" y="475361"/>
                  </a:lnTo>
                  <a:lnTo>
                    <a:pt x="0" y="0"/>
                  </a:lnTo>
                  <a:close/>
                </a:path>
              </a:pathLst>
            </a:custGeom>
            <a:blipFill>
              <a:blip r:embed="rId2"/>
              <a:stretch>
                <a:fillRect l="0" t="0" r="1" b="10"/>
              </a:stretch>
            </a:blipFill>
          </p:spPr>
        </p:sp>
      </p:grpSp>
      <p:grpSp>
        <p:nvGrpSpPr>
          <p:cNvPr name="Group 6" id="6"/>
          <p:cNvGrpSpPr/>
          <p:nvPr/>
        </p:nvGrpSpPr>
        <p:grpSpPr>
          <a:xfrm rot="0">
            <a:off x="3" y="3124791"/>
            <a:ext cx="5760072" cy="115205"/>
            <a:chOff x="0" y="0"/>
            <a:chExt cx="5760072" cy="115202"/>
          </a:xfrm>
        </p:grpSpPr>
        <p:sp>
          <p:nvSpPr>
            <p:cNvPr name="Freeform 7" id="7"/>
            <p:cNvSpPr/>
            <p:nvPr/>
          </p:nvSpPr>
          <p:spPr>
            <a:xfrm flipH="false" flipV="false" rot="0">
              <a:off x="0" y="0"/>
              <a:ext cx="5760084" cy="115187"/>
            </a:xfrm>
            <a:custGeom>
              <a:avLst/>
              <a:gdLst/>
              <a:ahLst/>
              <a:cxnLst/>
              <a:rect r="r" b="b" t="t" l="l"/>
              <a:pathLst>
                <a:path h="115187" w="5760084">
                  <a:moveTo>
                    <a:pt x="0" y="115187"/>
                  </a:moveTo>
                  <a:lnTo>
                    <a:pt x="0" y="0"/>
                  </a:lnTo>
                  <a:lnTo>
                    <a:pt x="5760084" y="0"/>
                  </a:lnTo>
                  <a:lnTo>
                    <a:pt x="5760084" y="115187"/>
                  </a:lnTo>
                  <a:close/>
                </a:path>
              </a:pathLst>
            </a:custGeom>
            <a:solidFill>
              <a:srgbClr val="087CC1"/>
            </a:solidFill>
          </p:spPr>
        </p:sp>
      </p:grpSp>
      <p:grpSp>
        <p:nvGrpSpPr>
          <p:cNvPr name="Group 8" id="8"/>
          <p:cNvGrpSpPr/>
          <p:nvPr/>
        </p:nvGrpSpPr>
        <p:grpSpPr>
          <a:xfrm rot="0">
            <a:off x="87687" y="560861"/>
            <a:ext cx="5623687" cy="2304598"/>
            <a:chOff x="0" y="0"/>
            <a:chExt cx="5597855" cy="2294001"/>
          </a:xfrm>
        </p:grpSpPr>
        <p:sp>
          <p:nvSpPr>
            <p:cNvPr name="Freeform 9" id="9"/>
            <p:cNvSpPr/>
            <p:nvPr/>
          </p:nvSpPr>
          <p:spPr>
            <a:xfrm flipH="false" flipV="false" rot="0">
              <a:off x="63500" y="63500"/>
              <a:ext cx="2001902" cy="608710"/>
            </a:xfrm>
            <a:custGeom>
              <a:avLst/>
              <a:gdLst/>
              <a:ahLst/>
              <a:cxnLst/>
              <a:rect r="r" b="b" t="t" l="l"/>
              <a:pathLst>
                <a:path h="608710" w="2001902">
                  <a:moveTo>
                    <a:pt x="0" y="608709"/>
                  </a:moveTo>
                  <a:lnTo>
                    <a:pt x="2001902" y="608709"/>
                  </a:lnTo>
                  <a:lnTo>
                    <a:pt x="2001902" y="0"/>
                  </a:lnTo>
                  <a:lnTo>
                    <a:pt x="0" y="0"/>
                  </a:lnTo>
                  <a:close/>
                </a:path>
              </a:pathLst>
            </a:custGeom>
            <a:solidFill>
              <a:srgbClr val="77B7DD"/>
            </a:solidFill>
          </p:spPr>
        </p:sp>
        <p:sp>
          <p:nvSpPr>
            <p:cNvPr name="Freeform 10" id="10"/>
            <p:cNvSpPr/>
            <p:nvPr/>
          </p:nvSpPr>
          <p:spPr>
            <a:xfrm flipH="false" flipV="false" rot="0">
              <a:off x="2874138" y="63500"/>
              <a:ext cx="2001902" cy="608710"/>
            </a:xfrm>
            <a:custGeom>
              <a:avLst/>
              <a:gdLst/>
              <a:ahLst/>
              <a:cxnLst/>
              <a:rect r="r" b="b" t="t" l="l"/>
              <a:pathLst>
                <a:path h="608710" w="2001902">
                  <a:moveTo>
                    <a:pt x="0" y="608709"/>
                  </a:moveTo>
                  <a:lnTo>
                    <a:pt x="2001902" y="608709"/>
                  </a:lnTo>
                  <a:lnTo>
                    <a:pt x="2001902" y="0"/>
                  </a:lnTo>
                  <a:lnTo>
                    <a:pt x="0" y="0"/>
                  </a:lnTo>
                  <a:close/>
                </a:path>
              </a:pathLst>
            </a:custGeom>
            <a:solidFill>
              <a:srgbClr val="77B7DD"/>
            </a:solidFill>
          </p:spPr>
        </p:sp>
        <p:sp>
          <p:nvSpPr>
            <p:cNvPr name="Freeform 11" id="11"/>
            <p:cNvSpPr/>
            <p:nvPr/>
          </p:nvSpPr>
          <p:spPr>
            <a:xfrm flipH="false" flipV="false" rot="0">
              <a:off x="66040" y="730629"/>
              <a:ext cx="1775334" cy="295147"/>
            </a:xfrm>
            <a:custGeom>
              <a:avLst/>
              <a:gdLst/>
              <a:ahLst/>
              <a:cxnLst/>
              <a:rect r="r" b="b" t="t" l="l"/>
              <a:pathLst>
                <a:path h="295147" w="1775334">
                  <a:moveTo>
                    <a:pt x="1750061" y="0"/>
                  </a:moveTo>
                  <a:lnTo>
                    <a:pt x="25273" y="0"/>
                  </a:lnTo>
                  <a:cubicBezTo>
                    <a:pt x="11303" y="0"/>
                    <a:pt x="0" y="11303"/>
                    <a:pt x="0" y="25273"/>
                  </a:cubicBezTo>
                  <a:lnTo>
                    <a:pt x="0" y="269875"/>
                  </a:lnTo>
                  <a:cubicBezTo>
                    <a:pt x="0" y="283845"/>
                    <a:pt x="11303" y="295148"/>
                    <a:pt x="25273" y="295148"/>
                  </a:cubicBezTo>
                  <a:lnTo>
                    <a:pt x="1750061" y="295148"/>
                  </a:lnTo>
                  <a:cubicBezTo>
                    <a:pt x="1764031" y="295148"/>
                    <a:pt x="1775334" y="283845"/>
                    <a:pt x="1775334" y="269875"/>
                  </a:cubicBezTo>
                  <a:lnTo>
                    <a:pt x="1775334" y="25273"/>
                  </a:lnTo>
                  <a:cubicBezTo>
                    <a:pt x="1775334" y="11303"/>
                    <a:pt x="1764031" y="0"/>
                    <a:pt x="1750061" y="0"/>
                  </a:cubicBezTo>
                  <a:close/>
                </a:path>
              </a:pathLst>
            </a:custGeom>
            <a:solidFill>
              <a:srgbClr val="77B7DD"/>
            </a:solidFill>
          </p:spPr>
        </p:sp>
        <p:sp>
          <p:nvSpPr>
            <p:cNvPr name="Freeform 12" id="12"/>
            <p:cNvSpPr/>
            <p:nvPr/>
          </p:nvSpPr>
          <p:spPr>
            <a:xfrm flipH="false" flipV="false" rot="0">
              <a:off x="63500" y="728089"/>
              <a:ext cx="1780414" cy="300227"/>
            </a:xfrm>
            <a:custGeom>
              <a:avLst/>
              <a:gdLst/>
              <a:ahLst/>
              <a:cxnLst/>
              <a:rect r="r" b="b" t="t" l="l"/>
              <a:pathLst>
                <a:path h="300227" w="1780414">
                  <a:moveTo>
                    <a:pt x="1752601" y="5080"/>
                  </a:moveTo>
                  <a:lnTo>
                    <a:pt x="27813" y="5080"/>
                  </a:lnTo>
                  <a:lnTo>
                    <a:pt x="27813" y="2540"/>
                  </a:lnTo>
                  <a:lnTo>
                    <a:pt x="27813" y="5080"/>
                  </a:lnTo>
                  <a:cubicBezTo>
                    <a:pt x="15240" y="5080"/>
                    <a:pt x="5080" y="15240"/>
                    <a:pt x="5080" y="27813"/>
                  </a:cubicBezTo>
                  <a:lnTo>
                    <a:pt x="2540" y="27813"/>
                  </a:lnTo>
                  <a:lnTo>
                    <a:pt x="5080" y="27813"/>
                  </a:lnTo>
                  <a:lnTo>
                    <a:pt x="5080" y="272415"/>
                  </a:lnTo>
                  <a:lnTo>
                    <a:pt x="2540" y="272415"/>
                  </a:lnTo>
                  <a:lnTo>
                    <a:pt x="5080" y="272415"/>
                  </a:lnTo>
                  <a:cubicBezTo>
                    <a:pt x="5080" y="284988"/>
                    <a:pt x="15240" y="295148"/>
                    <a:pt x="27813" y="295148"/>
                  </a:cubicBezTo>
                  <a:lnTo>
                    <a:pt x="27813" y="297688"/>
                  </a:lnTo>
                  <a:lnTo>
                    <a:pt x="27813" y="295148"/>
                  </a:lnTo>
                  <a:lnTo>
                    <a:pt x="1752601" y="295148"/>
                  </a:lnTo>
                  <a:lnTo>
                    <a:pt x="1752601" y="297688"/>
                  </a:lnTo>
                  <a:lnTo>
                    <a:pt x="1752601" y="295148"/>
                  </a:lnTo>
                  <a:cubicBezTo>
                    <a:pt x="1765174" y="295148"/>
                    <a:pt x="1775334" y="284988"/>
                    <a:pt x="1775334" y="272415"/>
                  </a:cubicBezTo>
                  <a:lnTo>
                    <a:pt x="1777874" y="272415"/>
                  </a:lnTo>
                  <a:lnTo>
                    <a:pt x="1775334" y="272415"/>
                  </a:lnTo>
                  <a:lnTo>
                    <a:pt x="1775334" y="27813"/>
                  </a:lnTo>
                  <a:lnTo>
                    <a:pt x="1777874" y="27813"/>
                  </a:lnTo>
                  <a:lnTo>
                    <a:pt x="1775334" y="27813"/>
                  </a:lnTo>
                  <a:cubicBezTo>
                    <a:pt x="1775334" y="15240"/>
                    <a:pt x="1765174" y="5080"/>
                    <a:pt x="1752601" y="5080"/>
                  </a:cubicBezTo>
                  <a:lnTo>
                    <a:pt x="1752601" y="2540"/>
                  </a:lnTo>
                  <a:lnTo>
                    <a:pt x="1752601" y="5080"/>
                  </a:lnTo>
                  <a:moveTo>
                    <a:pt x="1752601" y="0"/>
                  </a:moveTo>
                  <a:cubicBezTo>
                    <a:pt x="1767968" y="0"/>
                    <a:pt x="1780414" y="12446"/>
                    <a:pt x="1780414" y="27813"/>
                  </a:cubicBezTo>
                  <a:lnTo>
                    <a:pt x="1780414" y="272415"/>
                  </a:lnTo>
                  <a:cubicBezTo>
                    <a:pt x="1780414" y="287782"/>
                    <a:pt x="1767968" y="300228"/>
                    <a:pt x="1752601" y="300228"/>
                  </a:cubicBezTo>
                  <a:lnTo>
                    <a:pt x="27813" y="300228"/>
                  </a:lnTo>
                  <a:cubicBezTo>
                    <a:pt x="12446" y="300228"/>
                    <a:pt x="0" y="287782"/>
                    <a:pt x="0" y="272415"/>
                  </a:cubicBezTo>
                  <a:lnTo>
                    <a:pt x="0" y="27813"/>
                  </a:lnTo>
                  <a:cubicBezTo>
                    <a:pt x="0" y="12446"/>
                    <a:pt x="12446" y="0"/>
                    <a:pt x="27813" y="0"/>
                  </a:cubicBezTo>
                  <a:lnTo>
                    <a:pt x="1752601" y="0"/>
                  </a:lnTo>
                  <a:close/>
                </a:path>
              </a:pathLst>
            </a:custGeom>
            <a:solidFill>
              <a:srgbClr val="6BB0DA"/>
            </a:solidFill>
          </p:spPr>
        </p:sp>
        <p:sp>
          <p:nvSpPr>
            <p:cNvPr name="Freeform 13" id="13"/>
            <p:cNvSpPr/>
            <p:nvPr/>
          </p:nvSpPr>
          <p:spPr>
            <a:xfrm flipH="false" flipV="false" rot="0">
              <a:off x="1905255" y="730629"/>
              <a:ext cx="1775334" cy="295147"/>
            </a:xfrm>
            <a:custGeom>
              <a:avLst/>
              <a:gdLst/>
              <a:ahLst/>
              <a:cxnLst/>
              <a:rect r="r" b="b" t="t" l="l"/>
              <a:pathLst>
                <a:path h="295147" w="1775334">
                  <a:moveTo>
                    <a:pt x="1750061" y="0"/>
                  </a:moveTo>
                  <a:lnTo>
                    <a:pt x="25273" y="0"/>
                  </a:lnTo>
                  <a:cubicBezTo>
                    <a:pt x="11303" y="0"/>
                    <a:pt x="0" y="11303"/>
                    <a:pt x="0" y="25273"/>
                  </a:cubicBezTo>
                  <a:lnTo>
                    <a:pt x="0" y="269875"/>
                  </a:lnTo>
                  <a:cubicBezTo>
                    <a:pt x="0" y="283845"/>
                    <a:pt x="11303" y="295148"/>
                    <a:pt x="25273" y="295148"/>
                  </a:cubicBezTo>
                  <a:lnTo>
                    <a:pt x="1750061" y="295148"/>
                  </a:lnTo>
                  <a:cubicBezTo>
                    <a:pt x="1764031" y="295148"/>
                    <a:pt x="1775334" y="283845"/>
                    <a:pt x="1775334" y="269875"/>
                  </a:cubicBezTo>
                  <a:lnTo>
                    <a:pt x="1775334" y="25273"/>
                  </a:lnTo>
                  <a:cubicBezTo>
                    <a:pt x="1775334" y="11303"/>
                    <a:pt x="1764031" y="0"/>
                    <a:pt x="1750061" y="0"/>
                  </a:cubicBezTo>
                  <a:close/>
                </a:path>
              </a:pathLst>
            </a:custGeom>
            <a:solidFill>
              <a:srgbClr val="77B7DD"/>
            </a:solidFill>
          </p:spPr>
        </p:sp>
        <p:sp>
          <p:nvSpPr>
            <p:cNvPr name="Freeform 14" id="14"/>
            <p:cNvSpPr/>
            <p:nvPr/>
          </p:nvSpPr>
          <p:spPr>
            <a:xfrm flipH="false" flipV="false" rot="0">
              <a:off x="1902715" y="728089"/>
              <a:ext cx="1780414" cy="300227"/>
            </a:xfrm>
            <a:custGeom>
              <a:avLst/>
              <a:gdLst/>
              <a:ahLst/>
              <a:cxnLst/>
              <a:rect r="r" b="b" t="t" l="l"/>
              <a:pathLst>
                <a:path h="300227" w="1780414">
                  <a:moveTo>
                    <a:pt x="1752601" y="5080"/>
                  </a:moveTo>
                  <a:lnTo>
                    <a:pt x="27813" y="5080"/>
                  </a:lnTo>
                  <a:lnTo>
                    <a:pt x="27813" y="2540"/>
                  </a:lnTo>
                  <a:lnTo>
                    <a:pt x="27813" y="5080"/>
                  </a:lnTo>
                  <a:cubicBezTo>
                    <a:pt x="15240" y="5080"/>
                    <a:pt x="5080" y="15240"/>
                    <a:pt x="5080" y="27813"/>
                  </a:cubicBezTo>
                  <a:lnTo>
                    <a:pt x="2540" y="27813"/>
                  </a:lnTo>
                  <a:lnTo>
                    <a:pt x="5080" y="27813"/>
                  </a:lnTo>
                  <a:lnTo>
                    <a:pt x="5080" y="272415"/>
                  </a:lnTo>
                  <a:lnTo>
                    <a:pt x="2540" y="272415"/>
                  </a:lnTo>
                  <a:lnTo>
                    <a:pt x="5080" y="272415"/>
                  </a:lnTo>
                  <a:cubicBezTo>
                    <a:pt x="5080" y="284988"/>
                    <a:pt x="15240" y="295148"/>
                    <a:pt x="27813" y="295148"/>
                  </a:cubicBezTo>
                  <a:lnTo>
                    <a:pt x="27813" y="297688"/>
                  </a:lnTo>
                  <a:lnTo>
                    <a:pt x="27813" y="295148"/>
                  </a:lnTo>
                  <a:lnTo>
                    <a:pt x="1752601" y="295148"/>
                  </a:lnTo>
                  <a:lnTo>
                    <a:pt x="1752601" y="297688"/>
                  </a:lnTo>
                  <a:lnTo>
                    <a:pt x="1752601" y="295148"/>
                  </a:lnTo>
                  <a:cubicBezTo>
                    <a:pt x="1765174" y="295148"/>
                    <a:pt x="1775334" y="284988"/>
                    <a:pt x="1775334" y="272415"/>
                  </a:cubicBezTo>
                  <a:lnTo>
                    <a:pt x="1777874" y="272415"/>
                  </a:lnTo>
                  <a:lnTo>
                    <a:pt x="1775334" y="272415"/>
                  </a:lnTo>
                  <a:lnTo>
                    <a:pt x="1775334" y="27813"/>
                  </a:lnTo>
                  <a:lnTo>
                    <a:pt x="1777874" y="27813"/>
                  </a:lnTo>
                  <a:lnTo>
                    <a:pt x="1775334" y="27813"/>
                  </a:lnTo>
                  <a:cubicBezTo>
                    <a:pt x="1775334" y="15240"/>
                    <a:pt x="1765174" y="5080"/>
                    <a:pt x="1752601" y="5080"/>
                  </a:cubicBezTo>
                  <a:lnTo>
                    <a:pt x="1752601" y="2540"/>
                  </a:lnTo>
                  <a:lnTo>
                    <a:pt x="1752601" y="5080"/>
                  </a:lnTo>
                  <a:moveTo>
                    <a:pt x="1752601" y="0"/>
                  </a:moveTo>
                  <a:cubicBezTo>
                    <a:pt x="1767968" y="0"/>
                    <a:pt x="1780414" y="12446"/>
                    <a:pt x="1780414" y="27813"/>
                  </a:cubicBezTo>
                  <a:lnTo>
                    <a:pt x="1780414" y="272415"/>
                  </a:lnTo>
                  <a:cubicBezTo>
                    <a:pt x="1780414" y="287782"/>
                    <a:pt x="1767968" y="300228"/>
                    <a:pt x="1752601" y="300228"/>
                  </a:cubicBezTo>
                  <a:lnTo>
                    <a:pt x="27813" y="300228"/>
                  </a:lnTo>
                  <a:cubicBezTo>
                    <a:pt x="12446" y="300228"/>
                    <a:pt x="0" y="287782"/>
                    <a:pt x="0" y="272415"/>
                  </a:cubicBezTo>
                  <a:lnTo>
                    <a:pt x="0" y="27813"/>
                  </a:lnTo>
                  <a:cubicBezTo>
                    <a:pt x="0" y="12446"/>
                    <a:pt x="12446" y="0"/>
                    <a:pt x="27813" y="0"/>
                  </a:cubicBezTo>
                  <a:lnTo>
                    <a:pt x="1752601" y="0"/>
                  </a:lnTo>
                  <a:close/>
                </a:path>
              </a:pathLst>
            </a:custGeom>
            <a:solidFill>
              <a:srgbClr val="6BB0DA"/>
            </a:solidFill>
          </p:spPr>
        </p:sp>
        <p:sp>
          <p:nvSpPr>
            <p:cNvPr name="Freeform 15" id="15"/>
            <p:cNvSpPr/>
            <p:nvPr/>
          </p:nvSpPr>
          <p:spPr>
            <a:xfrm flipH="false" flipV="false" rot="0">
              <a:off x="3744470" y="730629"/>
              <a:ext cx="1775334" cy="295147"/>
            </a:xfrm>
            <a:custGeom>
              <a:avLst/>
              <a:gdLst/>
              <a:ahLst/>
              <a:cxnLst/>
              <a:rect r="r" b="b" t="t" l="l"/>
              <a:pathLst>
                <a:path h="295147" w="1775334">
                  <a:moveTo>
                    <a:pt x="1750061" y="0"/>
                  </a:moveTo>
                  <a:lnTo>
                    <a:pt x="25273" y="0"/>
                  </a:lnTo>
                  <a:cubicBezTo>
                    <a:pt x="11303" y="0"/>
                    <a:pt x="0" y="11303"/>
                    <a:pt x="0" y="25273"/>
                  </a:cubicBezTo>
                  <a:lnTo>
                    <a:pt x="0" y="269875"/>
                  </a:lnTo>
                  <a:cubicBezTo>
                    <a:pt x="0" y="283845"/>
                    <a:pt x="11303" y="295148"/>
                    <a:pt x="25273" y="295148"/>
                  </a:cubicBezTo>
                  <a:lnTo>
                    <a:pt x="1750061" y="295148"/>
                  </a:lnTo>
                  <a:cubicBezTo>
                    <a:pt x="1764031" y="295148"/>
                    <a:pt x="1775334" y="283845"/>
                    <a:pt x="1775334" y="269875"/>
                  </a:cubicBezTo>
                  <a:lnTo>
                    <a:pt x="1775334" y="25273"/>
                  </a:lnTo>
                  <a:cubicBezTo>
                    <a:pt x="1775334" y="11303"/>
                    <a:pt x="1764031" y="0"/>
                    <a:pt x="1750061" y="0"/>
                  </a:cubicBezTo>
                  <a:close/>
                </a:path>
              </a:pathLst>
            </a:custGeom>
            <a:solidFill>
              <a:srgbClr val="77B7DD"/>
            </a:solidFill>
          </p:spPr>
        </p:sp>
        <p:sp>
          <p:nvSpPr>
            <p:cNvPr name="Freeform 16" id="16"/>
            <p:cNvSpPr/>
            <p:nvPr/>
          </p:nvSpPr>
          <p:spPr>
            <a:xfrm flipH="false" flipV="false" rot="0">
              <a:off x="3741930" y="728089"/>
              <a:ext cx="1780414" cy="300227"/>
            </a:xfrm>
            <a:custGeom>
              <a:avLst/>
              <a:gdLst/>
              <a:ahLst/>
              <a:cxnLst/>
              <a:rect r="r" b="b" t="t" l="l"/>
              <a:pathLst>
                <a:path h="300227" w="1780414">
                  <a:moveTo>
                    <a:pt x="1752601" y="5080"/>
                  </a:moveTo>
                  <a:lnTo>
                    <a:pt x="27813" y="5080"/>
                  </a:lnTo>
                  <a:lnTo>
                    <a:pt x="27813" y="2540"/>
                  </a:lnTo>
                  <a:lnTo>
                    <a:pt x="27813" y="5080"/>
                  </a:lnTo>
                  <a:cubicBezTo>
                    <a:pt x="15240" y="5080"/>
                    <a:pt x="5080" y="15240"/>
                    <a:pt x="5080" y="27813"/>
                  </a:cubicBezTo>
                  <a:lnTo>
                    <a:pt x="2540" y="27813"/>
                  </a:lnTo>
                  <a:lnTo>
                    <a:pt x="5080" y="27813"/>
                  </a:lnTo>
                  <a:lnTo>
                    <a:pt x="5080" y="272415"/>
                  </a:lnTo>
                  <a:lnTo>
                    <a:pt x="2540" y="272415"/>
                  </a:lnTo>
                  <a:lnTo>
                    <a:pt x="5080" y="272415"/>
                  </a:lnTo>
                  <a:cubicBezTo>
                    <a:pt x="5080" y="284988"/>
                    <a:pt x="15240" y="295148"/>
                    <a:pt x="27813" y="295148"/>
                  </a:cubicBezTo>
                  <a:lnTo>
                    <a:pt x="27813" y="297688"/>
                  </a:lnTo>
                  <a:lnTo>
                    <a:pt x="27813" y="295148"/>
                  </a:lnTo>
                  <a:lnTo>
                    <a:pt x="1752601" y="295148"/>
                  </a:lnTo>
                  <a:lnTo>
                    <a:pt x="1752601" y="297688"/>
                  </a:lnTo>
                  <a:lnTo>
                    <a:pt x="1752601" y="295148"/>
                  </a:lnTo>
                  <a:cubicBezTo>
                    <a:pt x="1765174" y="295148"/>
                    <a:pt x="1775334" y="284988"/>
                    <a:pt x="1775334" y="272415"/>
                  </a:cubicBezTo>
                  <a:lnTo>
                    <a:pt x="1777874" y="272415"/>
                  </a:lnTo>
                  <a:lnTo>
                    <a:pt x="1775334" y="272415"/>
                  </a:lnTo>
                  <a:lnTo>
                    <a:pt x="1775334" y="27813"/>
                  </a:lnTo>
                  <a:lnTo>
                    <a:pt x="1777874" y="27813"/>
                  </a:lnTo>
                  <a:lnTo>
                    <a:pt x="1775334" y="27813"/>
                  </a:lnTo>
                  <a:cubicBezTo>
                    <a:pt x="1775334" y="15240"/>
                    <a:pt x="1765174" y="5080"/>
                    <a:pt x="1752601" y="5080"/>
                  </a:cubicBezTo>
                  <a:lnTo>
                    <a:pt x="1752601" y="2540"/>
                  </a:lnTo>
                  <a:lnTo>
                    <a:pt x="1752601" y="5080"/>
                  </a:lnTo>
                  <a:moveTo>
                    <a:pt x="1752601" y="0"/>
                  </a:moveTo>
                  <a:cubicBezTo>
                    <a:pt x="1767968" y="0"/>
                    <a:pt x="1780414" y="12446"/>
                    <a:pt x="1780414" y="27813"/>
                  </a:cubicBezTo>
                  <a:lnTo>
                    <a:pt x="1780414" y="272415"/>
                  </a:lnTo>
                  <a:cubicBezTo>
                    <a:pt x="1780414" y="287782"/>
                    <a:pt x="1767968" y="300228"/>
                    <a:pt x="1752601" y="300228"/>
                  </a:cubicBezTo>
                  <a:lnTo>
                    <a:pt x="27813" y="300228"/>
                  </a:lnTo>
                  <a:cubicBezTo>
                    <a:pt x="12446" y="300228"/>
                    <a:pt x="0" y="287782"/>
                    <a:pt x="0" y="272415"/>
                  </a:cubicBezTo>
                  <a:lnTo>
                    <a:pt x="0" y="27813"/>
                  </a:lnTo>
                  <a:cubicBezTo>
                    <a:pt x="0" y="12446"/>
                    <a:pt x="12446" y="0"/>
                    <a:pt x="27813" y="0"/>
                  </a:cubicBezTo>
                  <a:lnTo>
                    <a:pt x="1752601" y="0"/>
                  </a:lnTo>
                  <a:close/>
                </a:path>
              </a:pathLst>
            </a:custGeom>
            <a:solidFill>
              <a:srgbClr val="6BB0DA"/>
            </a:solidFill>
          </p:spPr>
        </p:sp>
        <p:sp>
          <p:nvSpPr>
            <p:cNvPr name="Freeform 17" id="17"/>
            <p:cNvSpPr/>
            <p:nvPr/>
          </p:nvSpPr>
          <p:spPr>
            <a:xfrm flipH="false" flipV="false" rot="0">
              <a:off x="1316356" y="1208783"/>
              <a:ext cx="2951989" cy="280796"/>
            </a:xfrm>
            <a:custGeom>
              <a:avLst/>
              <a:gdLst/>
              <a:ahLst/>
              <a:cxnLst/>
              <a:rect r="r" b="b" t="t" l="l"/>
              <a:pathLst>
                <a:path h="280796" w="2951989">
                  <a:moveTo>
                    <a:pt x="2914016" y="0"/>
                  </a:moveTo>
                  <a:lnTo>
                    <a:pt x="37973" y="0"/>
                  </a:lnTo>
                  <a:cubicBezTo>
                    <a:pt x="17018" y="0"/>
                    <a:pt x="0" y="17018"/>
                    <a:pt x="0" y="37973"/>
                  </a:cubicBezTo>
                  <a:lnTo>
                    <a:pt x="0" y="242824"/>
                  </a:lnTo>
                  <a:cubicBezTo>
                    <a:pt x="0" y="263778"/>
                    <a:pt x="17018" y="280797"/>
                    <a:pt x="37973" y="280797"/>
                  </a:cubicBezTo>
                  <a:lnTo>
                    <a:pt x="2914016" y="280797"/>
                  </a:lnTo>
                  <a:cubicBezTo>
                    <a:pt x="2934971" y="280797"/>
                    <a:pt x="2951989" y="263778"/>
                    <a:pt x="2951989" y="242824"/>
                  </a:cubicBezTo>
                  <a:lnTo>
                    <a:pt x="2951989" y="37973"/>
                  </a:lnTo>
                  <a:cubicBezTo>
                    <a:pt x="2951989" y="17018"/>
                    <a:pt x="2934971" y="0"/>
                    <a:pt x="2914016" y="0"/>
                  </a:cubicBezTo>
                  <a:close/>
                </a:path>
              </a:pathLst>
            </a:custGeom>
            <a:solidFill>
              <a:srgbClr val="087CC1"/>
            </a:solidFill>
          </p:spPr>
        </p:sp>
        <p:sp>
          <p:nvSpPr>
            <p:cNvPr name="Freeform 18" id="18"/>
            <p:cNvSpPr/>
            <p:nvPr/>
          </p:nvSpPr>
          <p:spPr>
            <a:xfrm flipH="false" flipV="false" rot="0">
              <a:off x="66040" y="1745357"/>
              <a:ext cx="1328929" cy="482599"/>
            </a:xfrm>
            <a:custGeom>
              <a:avLst/>
              <a:gdLst/>
              <a:ahLst/>
              <a:cxnLst/>
              <a:rect r="r" b="b" t="t" l="l"/>
              <a:pathLst>
                <a:path h="482599" w="1328929">
                  <a:moveTo>
                    <a:pt x="1303656" y="0"/>
                  </a:moveTo>
                  <a:lnTo>
                    <a:pt x="25273" y="0"/>
                  </a:lnTo>
                  <a:cubicBezTo>
                    <a:pt x="11303" y="0"/>
                    <a:pt x="0" y="11303"/>
                    <a:pt x="0" y="25273"/>
                  </a:cubicBezTo>
                  <a:lnTo>
                    <a:pt x="0" y="457326"/>
                  </a:lnTo>
                  <a:cubicBezTo>
                    <a:pt x="0" y="471296"/>
                    <a:pt x="11303" y="482599"/>
                    <a:pt x="25273" y="482599"/>
                  </a:cubicBezTo>
                  <a:lnTo>
                    <a:pt x="1303656" y="482599"/>
                  </a:lnTo>
                  <a:cubicBezTo>
                    <a:pt x="1317626" y="482599"/>
                    <a:pt x="1328929" y="471296"/>
                    <a:pt x="1328929" y="457326"/>
                  </a:cubicBezTo>
                  <a:lnTo>
                    <a:pt x="1328929" y="25273"/>
                  </a:lnTo>
                  <a:cubicBezTo>
                    <a:pt x="1328929" y="11303"/>
                    <a:pt x="1317626" y="0"/>
                    <a:pt x="1303656" y="0"/>
                  </a:cubicBezTo>
                  <a:close/>
                </a:path>
              </a:pathLst>
            </a:custGeom>
            <a:solidFill>
              <a:srgbClr val="77B7DD"/>
            </a:solidFill>
          </p:spPr>
        </p:sp>
        <p:sp>
          <p:nvSpPr>
            <p:cNvPr name="Freeform 19" id="19"/>
            <p:cNvSpPr/>
            <p:nvPr/>
          </p:nvSpPr>
          <p:spPr>
            <a:xfrm flipH="false" flipV="false" rot="0">
              <a:off x="63500" y="1742817"/>
              <a:ext cx="1334009" cy="487679"/>
            </a:xfrm>
            <a:custGeom>
              <a:avLst/>
              <a:gdLst/>
              <a:ahLst/>
              <a:cxnLst/>
              <a:rect r="r" b="b" t="t" l="l"/>
              <a:pathLst>
                <a:path h="487679" w="1334009">
                  <a:moveTo>
                    <a:pt x="1306196" y="5080"/>
                  </a:moveTo>
                  <a:lnTo>
                    <a:pt x="27813" y="5080"/>
                  </a:lnTo>
                  <a:lnTo>
                    <a:pt x="27813" y="2540"/>
                  </a:lnTo>
                  <a:lnTo>
                    <a:pt x="27813" y="5080"/>
                  </a:lnTo>
                  <a:cubicBezTo>
                    <a:pt x="15240" y="5080"/>
                    <a:pt x="5080" y="15240"/>
                    <a:pt x="5080" y="27813"/>
                  </a:cubicBezTo>
                  <a:lnTo>
                    <a:pt x="2540" y="27813"/>
                  </a:lnTo>
                  <a:lnTo>
                    <a:pt x="5080" y="27813"/>
                  </a:lnTo>
                  <a:lnTo>
                    <a:pt x="5080" y="459866"/>
                  </a:lnTo>
                  <a:lnTo>
                    <a:pt x="2540" y="459866"/>
                  </a:lnTo>
                  <a:lnTo>
                    <a:pt x="5080" y="459866"/>
                  </a:lnTo>
                  <a:cubicBezTo>
                    <a:pt x="5080" y="472439"/>
                    <a:pt x="15240" y="482599"/>
                    <a:pt x="27813" y="482599"/>
                  </a:cubicBezTo>
                  <a:lnTo>
                    <a:pt x="27813" y="485139"/>
                  </a:lnTo>
                  <a:lnTo>
                    <a:pt x="27813" y="482599"/>
                  </a:lnTo>
                  <a:lnTo>
                    <a:pt x="1306196" y="482599"/>
                  </a:lnTo>
                  <a:lnTo>
                    <a:pt x="1306196" y="485139"/>
                  </a:lnTo>
                  <a:lnTo>
                    <a:pt x="1306196" y="482599"/>
                  </a:lnTo>
                  <a:cubicBezTo>
                    <a:pt x="1318769" y="482599"/>
                    <a:pt x="1328929" y="472439"/>
                    <a:pt x="1328929" y="459866"/>
                  </a:cubicBezTo>
                  <a:lnTo>
                    <a:pt x="1331469" y="459866"/>
                  </a:lnTo>
                  <a:lnTo>
                    <a:pt x="1328929" y="459866"/>
                  </a:lnTo>
                  <a:lnTo>
                    <a:pt x="1328929" y="27813"/>
                  </a:lnTo>
                  <a:lnTo>
                    <a:pt x="1331469" y="27813"/>
                  </a:lnTo>
                  <a:lnTo>
                    <a:pt x="1328929" y="27813"/>
                  </a:lnTo>
                  <a:cubicBezTo>
                    <a:pt x="1328929" y="15240"/>
                    <a:pt x="1318769" y="5080"/>
                    <a:pt x="1306196" y="5080"/>
                  </a:cubicBezTo>
                  <a:lnTo>
                    <a:pt x="1306196" y="2540"/>
                  </a:lnTo>
                  <a:lnTo>
                    <a:pt x="1306196" y="5080"/>
                  </a:lnTo>
                  <a:moveTo>
                    <a:pt x="1306196" y="0"/>
                  </a:moveTo>
                  <a:cubicBezTo>
                    <a:pt x="1321563" y="0"/>
                    <a:pt x="1334009" y="12446"/>
                    <a:pt x="1334009" y="27813"/>
                  </a:cubicBezTo>
                  <a:lnTo>
                    <a:pt x="1334009" y="459866"/>
                  </a:lnTo>
                  <a:cubicBezTo>
                    <a:pt x="1334009" y="475233"/>
                    <a:pt x="1321563" y="487679"/>
                    <a:pt x="1306196" y="487679"/>
                  </a:cubicBezTo>
                  <a:lnTo>
                    <a:pt x="27813" y="487679"/>
                  </a:lnTo>
                  <a:cubicBezTo>
                    <a:pt x="12446" y="487679"/>
                    <a:pt x="0" y="475233"/>
                    <a:pt x="0" y="459866"/>
                  </a:cubicBezTo>
                  <a:lnTo>
                    <a:pt x="0" y="27813"/>
                  </a:lnTo>
                  <a:cubicBezTo>
                    <a:pt x="0" y="12446"/>
                    <a:pt x="12446" y="0"/>
                    <a:pt x="27813" y="0"/>
                  </a:cubicBezTo>
                  <a:lnTo>
                    <a:pt x="1306196" y="0"/>
                  </a:lnTo>
                  <a:close/>
                </a:path>
              </a:pathLst>
            </a:custGeom>
            <a:solidFill>
              <a:srgbClr val="6BB0DA"/>
            </a:solidFill>
          </p:spPr>
        </p:sp>
        <p:sp>
          <p:nvSpPr>
            <p:cNvPr name="Freeform 20" id="20"/>
            <p:cNvSpPr/>
            <p:nvPr/>
          </p:nvSpPr>
          <p:spPr>
            <a:xfrm flipH="false" flipV="false" rot="0">
              <a:off x="1445007" y="1745357"/>
              <a:ext cx="1328929" cy="465835"/>
            </a:xfrm>
            <a:custGeom>
              <a:avLst/>
              <a:gdLst/>
              <a:ahLst/>
              <a:cxnLst/>
              <a:rect r="r" b="b" t="t" l="l"/>
              <a:pathLst>
                <a:path h="465835" w="1328929">
                  <a:moveTo>
                    <a:pt x="1303655" y="0"/>
                  </a:moveTo>
                  <a:lnTo>
                    <a:pt x="25273" y="0"/>
                  </a:lnTo>
                  <a:cubicBezTo>
                    <a:pt x="11303" y="0"/>
                    <a:pt x="0" y="11303"/>
                    <a:pt x="0" y="25273"/>
                  </a:cubicBezTo>
                  <a:lnTo>
                    <a:pt x="0" y="440562"/>
                  </a:lnTo>
                  <a:cubicBezTo>
                    <a:pt x="0" y="454532"/>
                    <a:pt x="11303" y="465835"/>
                    <a:pt x="25273" y="465835"/>
                  </a:cubicBezTo>
                  <a:lnTo>
                    <a:pt x="1303655" y="465835"/>
                  </a:lnTo>
                  <a:cubicBezTo>
                    <a:pt x="1317625" y="465835"/>
                    <a:pt x="1328928" y="454532"/>
                    <a:pt x="1328928" y="440562"/>
                  </a:cubicBezTo>
                  <a:lnTo>
                    <a:pt x="1328928" y="25273"/>
                  </a:lnTo>
                  <a:cubicBezTo>
                    <a:pt x="1328928" y="11303"/>
                    <a:pt x="1317625" y="0"/>
                    <a:pt x="1303655" y="0"/>
                  </a:cubicBezTo>
                  <a:close/>
                </a:path>
              </a:pathLst>
            </a:custGeom>
            <a:solidFill>
              <a:srgbClr val="77B7DD"/>
            </a:solidFill>
          </p:spPr>
        </p:sp>
        <p:sp>
          <p:nvSpPr>
            <p:cNvPr name="Freeform 21" id="21"/>
            <p:cNvSpPr/>
            <p:nvPr/>
          </p:nvSpPr>
          <p:spPr>
            <a:xfrm flipH="false" flipV="false" rot="0">
              <a:off x="1442467" y="1742817"/>
              <a:ext cx="1334009" cy="470915"/>
            </a:xfrm>
            <a:custGeom>
              <a:avLst/>
              <a:gdLst/>
              <a:ahLst/>
              <a:cxnLst/>
              <a:rect r="r" b="b" t="t" l="l"/>
              <a:pathLst>
                <a:path h="470915" w="1334009">
                  <a:moveTo>
                    <a:pt x="1306195" y="5080"/>
                  </a:moveTo>
                  <a:lnTo>
                    <a:pt x="27813" y="5080"/>
                  </a:lnTo>
                  <a:lnTo>
                    <a:pt x="27813" y="2540"/>
                  </a:lnTo>
                  <a:lnTo>
                    <a:pt x="27813" y="5080"/>
                  </a:lnTo>
                  <a:cubicBezTo>
                    <a:pt x="15240" y="5080"/>
                    <a:pt x="5080" y="15240"/>
                    <a:pt x="5080" y="27813"/>
                  </a:cubicBezTo>
                  <a:lnTo>
                    <a:pt x="2540" y="27813"/>
                  </a:lnTo>
                  <a:lnTo>
                    <a:pt x="5080" y="27813"/>
                  </a:lnTo>
                  <a:lnTo>
                    <a:pt x="5080" y="443102"/>
                  </a:lnTo>
                  <a:lnTo>
                    <a:pt x="2540" y="443102"/>
                  </a:lnTo>
                  <a:lnTo>
                    <a:pt x="5080" y="443102"/>
                  </a:lnTo>
                  <a:cubicBezTo>
                    <a:pt x="5080" y="455675"/>
                    <a:pt x="15240" y="465835"/>
                    <a:pt x="27813" y="465835"/>
                  </a:cubicBezTo>
                  <a:lnTo>
                    <a:pt x="27813" y="468375"/>
                  </a:lnTo>
                  <a:lnTo>
                    <a:pt x="27813" y="465835"/>
                  </a:lnTo>
                  <a:lnTo>
                    <a:pt x="1306195" y="465835"/>
                  </a:lnTo>
                  <a:lnTo>
                    <a:pt x="1306195" y="468375"/>
                  </a:lnTo>
                  <a:lnTo>
                    <a:pt x="1306195" y="465835"/>
                  </a:lnTo>
                  <a:cubicBezTo>
                    <a:pt x="1318768" y="465835"/>
                    <a:pt x="1328928" y="455675"/>
                    <a:pt x="1328928" y="443102"/>
                  </a:cubicBezTo>
                  <a:lnTo>
                    <a:pt x="1331468" y="443102"/>
                  </a:lnTo>
                  <a:lnTo>
                    <a:pt x="1328928" y="443102"/>
                  </a:lnTo>
                  <a:lnTo>
                    <a:pt x="1328928" y="27813"/>
                  </a:lnTo>
                  <a:lnTo>
                    <a:pt x="1331468" y="27813"/>
                  </a:lnTo>
                  <a:lnTo>
                    <a:pt x="1328928" y="27813"/>
                  </a:lnTo>
                  <a:cubicBezTo>
                    <a:pt x="1328928" y="15240"/>
                    <a:pt x="1318768" y="5080"/>
                    <a:pt x="1306195" y="5080"/>
                  </a:cubicBezTo>
                  <a:lnTo>
                    <a:pt x="1306195" y="2540"/>
                  </a:lnTo>
                  <a:lnTo>
                    <a:pt x="1306195" y="5080"/>
                  </a:lnTo>
                  <a:moveTo>
                    <a:pt x="1306195" y="0"/>
                  </a:moveTo>
                  <a:cubicBezTo>
                    <a:pt x="1321562" y="0"/>
                    <a:pt x="1334008" y="12446"/>
                    <a:pt x="1334008" y="27813"/>
                  </a:cubicBezTo>
                  <a:lnTo>
                    <a:pt x="1334008" y="443102"/>
                  </a:lnTo>
                  <a:cubicBezTo>
                    <a:pt x="1334008" y="458469"/>
                    <a:pt x="1321562" y="470915"/>
                    <a:pt x="1306195" y="470915"/>
                  </a:cubicBezTo>
                  <a:lnTo>
                    <a:pt x="27813" y="470915"/>
                  </a:lnTo>
                  <a:cubicBezTo>
                    <a:pt x="12446" y="470915"/>
                    <a:pt x="0" y="458469"/>
                    <a:pt x="0" y="443102"/>
                  </a:cubicBezTo>
                  <a:lnTo>
                    <a:pt x="0" y="27813"/>
                  </a:lnTo>
                  <a:cubicBezTo>
                    <a:pt x="0" y="12446"/>
                    <a:pt x="12446" y="0"/>
                    <a:pt x="27813" y="0"/>
                  </a:cubicBezTo>
                  <a:lnTo>
                    <a:pt x="1306195" y="0"/>
                  </a:lnTo>
                  <a:close/>
                </a:path>
              </a:pathLst>
            </a:custGeom>
            <a:solidFill>
              <a:srgbClr val="6BB0DA"/>
            </a:solidFill>
          </p:spPr>
        </p:sp>
        <p:sp>
          <p:nvSpPr>
            <p:cNvPr name="Freeform 22" id="22"/>
            <p:cNvSpPr/>
            <p:nvPr/>
          </p:nvSpPr>
          <p:spPr>
            <a:xfrm flipH="false" flipV="false" rot="0">
              <a:off x="2823973" y="1745357"/>
              <a:ext cx="1328801" cy="482599"/>
            </a:xfrm>
            <a:custGeom>
              <a:avLst/>
              <a:gdLst/>
              <a:ahLst/>
              <a:cxnLst/>
              <a:rect r="r" b="b" t="t" l="l"/>
              <a:pathLst>
                <a:path h="482599" w="1328801">
                  <a:moveTo>
                    <a:pt x="1303529" y="0"/>
                  </a:moveTo>
                  <a:lnTo>
                    <a:pt x="25273" y="0"/>
                  </a:lnTo>
                  <a:cubicBezTo>
                    <a:pt x="11303" y="0"/>
                    <a:pt x="0" y="11303"/>
                    <a:pt x="0" y="25273"/>
                  </a:cubicBezTo>
                  <a:lnTo>
                    <a:pt x="0" y="457326"/>
                  </a:lnTo>
                  <a:cubicBezTo>
                    <a:pt x="0" y="471296"/>
                    <a:pt x="11303" y="482599"/>
                    <a:pt x="25273" y="482599"/>
                  </a:cubicBezTo>
                  <a:lnTo>
                    <a:pt x="1303529" y="482599"/>
                  </a:lnTo>
                  <a:cubicBezTo>
                    <a:pt x="1317499" y="482599"/>
                    <a:pt x="1328802" y="471296"/>
                    <a:pt x="1328802" y="457326"/>
                  </a:cubicBezTo>
                  <a:lnTo>
                    <a:pt x="1328802" y="25273"/>
                  </a:lnTo>
                  <a:cubicBezTo>
                    <a:pt x="1328802" y="11303"/>
                    <a:pt x="1317499" y="0"/>
                    <a:pt x="1303529" y="0"/>
                  </a:cubicBezTo>
                  <a:close/>
                </a:path>
              </a:pathLst>
            </a:custGeom>
            <a:solidFill>
              <a:srgbClr val="77B7DD"/>
            </a:solidFill>
          </p:spPr>
        </p:sp>
        <p:sp>
          <p:nvSpPr>
            <p:cNvPr name="Freeform 23" id="23"/>
            <p:cNvSpPr/>
            <p:nvPr/>
          </p:nvSpPr>
          <p:spPr>
            <a:xfrm flipH="false" flipV="false" rot="0">
              <a:off x="2821433" y="1742817"/>
              <a:ext cx="1333882" cy="487679"/>
            </a:xfrm>
            <a:custGeom>
              <a:avLst/>
              <a:gdLst/>
              <a:ahLst/>
              <a:cxnLst/>
              <a:rect r="r" b="b" t="t" l="l"/>
              <a:pathLst>
                <a:path h="487679" w="1333882">
                  <a:moveTo>
                    <a:pt x="1306069" y="5080"/>
                  </a:moveTo>
                  <a:lnTo>
                    <a:pt x="27813" y="5080"/>
                  </a:lnTo>
                  <a:lnTo>
                    <a:pt x="27813" y="2540"/>
                  </a:lnTo>
                  <a:lnTo>
                    <a:pt x="27813" y="5080"/>
                  </a:lnTo>
                  <a:cubicBezTo>
                    <a:pt x="15240" y="5080"/>
                    <a:pt x="5081" y="15240"/>
                    <a:pt x="5081" y="27813"/>
                  </a:cubicBezTo>
                  <a:lnTo>
                    <a:pt x="2540" y="27813"/>
                  </a:lnTo>
                  <a:lnTo>
                    <a:pt x="5081" y="27813"/>
                  </a:lnTo>
                  <a:lnTo>
                    <a:pt x="5081" y="459866"/>
                  </a:lnTo>
                  <a:lnTo>
                    <a:pt x="2540" y="459866"/>
                  </a:lnTo>
                  <a:lnTo>
                    <a:pt x="5081" y="459866"/>
                  </a:lnTo>
                  <a:cubicBezTo>
                    <a:pt x="5081" y="472439"/>
                    <a:pt x="15240" y="482599"/>
                    <a:pt x="27813" y="482599"/>
                  </a:cubicBezTo>
                  <a:lnTo>
                    <a:pt x="27813" y="485139"/>
                  </a:lnTo>
                  <a:lnTo>
                    <a:pt x="27813" y="482599"/>
                  </a:lnTo>
                  <a:lnTo>
                    <a:pt x="1306069" y="482599"/>
                  </a:lnTo>
                  <a:lnTo>
                    <a:pt x="1306069" y="485139"/>
                  </a:lnTo>
                  <a:lnTo>
                    <a:pt x="1306069" y="482599"/>
                  </a:lnTo>
                  <a:cubicBezTo>
                    <a:pt x="1318642" y="482599"/>
                    <a:pt x="1328802" y="472439"/>
                    <a:pt x="1328802" y="459866"/>
                  </a:cubicBezTo>
                  <a:lnTo>
                    <a:pt x="1331342" y="459866"/>
                  </a:lnTo>
                  <a:lnTo>
                    <a:pt x="1328802" y="459866"/>
                  </a:lnTo>
                  <a:lnTo>
                    <a:pt x="1328802" y="27813"/>
                  </a:lnTo>
                  <a:lnTo>
                    <a:pt x="1331342" y="27813"/>
                  </a:lnTo>
                  <a:lnTo>
                    <a:pt x="1328802" y="27813"/>
                  </a:lnTo>
                  <a:cubicBezTo>
                    <a:pt x="1328802" y="15240"/>
                    <a:pt x="1318642" y="5080"/>
                    <a:pt x="1306069" y="5080"/>
                  </a:cubicBezTo>
                  <a:lnTo>
                    <a:pt x="1306069" y="2540"/>
                  </a:lnTo>
                  <a:lnTo>
                    <a:pt x="1306069" y="5080"/>
                  </a:lnTo>
                  <a:moveTo>
                    <a:pt x="1306069" y="0"/>
                  </a:moveTo>
                  <a:cubicBezTo>
                    <a:pt x="1321436" y="0"/>
                    <a:pt x="1333882" y="12446"/>
                    <a:pt x="1333882" y="27813"/>
                  </a:cubicBezTo>
                  <a:lnTo>
                    <a:pt x="1333882" y="459866"/>
                  </a:lnTo>
                  <a:cubicBezTo>
                    <a:pt x="1333882" y="475233"/>
                    <a:pt x="1321436" y="487679"/>
                    <a:pt x="1306069" y="487679"/>
                  </a:cubicBezTo>
                  <a:lnTo>
                    <a:pt x="27813" y="487679"/>
                  </a:lnTo>
                  <a:cubicBezTo>
                    <a:pt x="12446" y="487679"/>
                    <a:pt x="0" y="475233"/>
                    <a:pt x="0" y="459866"/>
                  </a:cubicBezTo>
                  <a:lnTo>
                    <a:pt x="0" y="27813"/>
                  </a:lnTo>
                  <a:cubicBezTo>
                    <a:pt x="0" y="12446"/>
                    <a:pt x="12446" y="0"/>
                    <a:pt x="27813" y="0"/>
                  </a:cubicBezTo>
                  <a:lnTo>
                    <a:pt x="1306069" y="0"/>
                  </a:lnTo>
                  <a:close/>
                </a:path>
              </a:pathLst>
            </a:custGeom>
            <a:solidFill>
              <a:srgbClr val="6BB0DA"/>
            </a:solidFill>
          </p:spPr>
        </p:sp>
        <p:sp>
          <p:nvSpPr>
            <p:cNvPr name="Freeform 24" id="24"/>
            <p:cNvSpPr/>
            <p:nvPr/>
          </p:nvSpPr>
          <p:spPr>
            <a:xfrm flipH="false" flipV="false" rot="0">
              <a:off x="4202940" y="1745357"/>
              <a:ext cx="1328801" cy="482599"/>
            </a:xfrm>
            <a:custGeom>
              <a:avLst/>
              <a:gdLst/>
              <a:ahLst/>
              <a:cxnLst/>
              <a:rect r="r" b="b" t="t" l="l"/>
              <a:pathLst>
                <a:path h="482599" w="1328801">
                  <a:moveTo>
                    <a:pt x="1303529" y="0"/>
                  </a:moveTo>
                  <a:lnTo>
                    <a:pt x="25273" y="0"/>
                  </a:lnTo>
                  <a:cubicBezTo>
                    <a:pt x="11303" y="0"/>
                    <a:pt x="0" y="11303"/>
                    <a:pt x="0" y="25273"/>
                  </a:cubicBezTo>
                  <a:lnTo>
                    <a:pt x="0" y="457326"/>
                  </a:lnTo>
                  <a:cubicBezTo>
                    <a:pt x="0" y="471296"/>
                    <a:pt x="11303" y="482599"/>
                    <a:pt x="25273" y="482599"/>
                  </a:cubicBezTo>
                  <a:lnTo>
                    <a:pt x="1303529" y="482599"/>
                  </a:lnTo>
                  <a:cubicBezTo>
                    <a:pt x="1317499" y="482599"/>
                    <a:pt x="1328801" y="471296"/>
                    <a:pt x="1328801" y="457326"/>
                  </a:cubicBezTo>
                  <a:lnTo>
                    <a:pt x="1328801" y="25273"/>
                  </a:lnTo>
                  <a:cubicBezTo>
                    <a:pt x="1328801" y="11303"/>
                    <a:pt x="1317499" y="0"/>
                    <a:pt x="1303529" y="0"/>
                  </a:cubicBezTo>
                  <a:close/>
                </a:path>
              </a:pathLst>
            </a:custGeom>
            <a:solidFill>
              <a:srgbClr val="77B7DD"/>
            </a:solidFill>
          </p:spPr>
        </p:sp>
        <p:sp>
          <p:nvSpPr>
            <p:cNvPr name="Freeform 25" id="25"/>
            <p:cNvSpPr/>
            <p:nvPr/>
          </p:nvSpPr>
          <p:spPr>
            <a:xfrm flipH="false" flipV="false" rot="0">
              <a:off x="4200400" y="1742817"/>
              <a:ext cx="1333882" cy="487679"/>
            </a:xfrm>
            <a:custGeom>
              <a:avLst/>
              <a:gdLst/>
              <a:ahLst/>
              <a:cxnLst/>
              <a:rect r="r" b="b" t="t" l="l"/>
              <a:pathLst>
                <a:path h="487679" w="1333882">
                  <a:moveTo>
                    <a:pt x="1306069" y="5080"/>
                  </a:moveTo>
                  <a:lnTo>
                    <a:pt x="27813" y="5080"/>
                  </a:lnTo>
                  <a:lnTo>
                    <a:pt x="27813" y="2540"/>
                  </a:lnTo>
                  <a:lnTo>
                    <a:pt x="27813" y="5080"/>
                  </a:lnTo>
                  <a:cubicBezTo>
                    <a:pt x="15240" y="5080"/>
                    <a:pt x="5080" y="15240"/>
                    <a:pt x="5080" y="27813"/>
                  </a:cubicBezTo>
                  <a:lnTo>
                    <a:pt x="2540" y="27813"/>
                  </a:lnTo>
                  <a:lnTo>
                    <a:pt x="5080" y="27813"/>
                  </a:lnTo>
                  <a:lnTo>
                    <a:pt x="5080" y="459866"/>
                  </a:lnTo>
                  <a:lnTo>
                    <a:pt x="2540" y="459866"/>
                  </a:lnTo>
                  <a:lnTo>
                    <a:pt x="5080" y="459866"/>
                  </a:lnTo>
                  <a:cubicBezTo>
                    <a:pt x="5080" y="472439"/>
                    <a:pt x="15240" y="482599"/>
                    <a:pt x="27813" y="482599"/>
                  </a:cubicBezTo>
                  <a:lnTo>
                    <a:pt x="27813" y="485139"/>
                  </a:lnTo>
                  <a:lnTo>
                    <a:pt x="27813" y="482599"/>
                  </a:lnTo>
                  <a:lnTo>
                    <a:pt x="1306069" y="482599"/>
                  </a:lnTo>
                  <a:lnTo>
                    <a:pt x="1306069" y="485139"/>
                  </a:lnTo>
                  <a:lnTo>
                    <a:pt x="1306069" y="482599"/>
                  </a:lnTo>
                  <a:cubicBezTo>
                    <a:pt x="1318641" y="482599"/>
                    <a:pt x="1328802" y="472439"/>
                    <a:pt x="1328802" y="459866"/>
                  </a:cubicBezTo>
                  <a:lnTo>
                    <a:pt x="1331341" y="459866"/>
                  </a:lnTo>
                  <a:lnTo>
                    <a:pt x="1328802" y="459866"/>
                  </a:lnTo>
                  <a:lnTo>
                    <a:pt x="1328802" y="27813"/>
                  </a:lnTo>
                  <a:lnTo>
                    <a:pt x="1331341" y="27813"/>
                  </a:lnTo>
                  <a:lnTo>
                    <a:pt x="1328802" y="27813"/>
                  </a:lnTo>
                  <a:cubicBezTo>
                    <a:pt x="1328802" y="15240"/>
                    <a:pt x="1318641" y="5080"/>
                    <a:pt x="1306069" y="5080"/>
                  </a:cubicBezTo>
                  <a:lnTo>
                    <a:pt x="1306069" y="2540"/>
                  </a:lnTo>
                  <a:lnTo>
                    <a:pt x="1306069" y="5080"/>
                  </a:lnTo>
                  <a:moveTo>
                    <a:pt x="1306069" y="0"/>
                  </a:moveTo>
                  <a:cubicBezTo>
                    <a:pt x="1321435" y="0"/>
                    <a:pt x="1333882" y="12446"/>
                    <a:pt x="1333882" y="27813"/>
                  </a:cubicBezTo>
                  <a:lnTo>
                    <a:pt x="1333882" y="459866"/>
                  </a:lnTo>
                  <a:cubicBezTo>
                    <a:pt x="1333882" y="475233"/>
                    <a:pt x="1321435" y="487679"/>
                    <a:pt x="1306069" y="487679"/>
                  </a:cubicBezTo>
                  <a:lnTo>
                    <a:pt x="27813" y="487679"/>
                  </a:lnTo>
                  <a:cubicBezTo>
                    <a:pt x="12446" y="487679"/>
                    <a:pt x="0" y="475233"/>
                    <a:pt x="0" y="459866"/>
                  </a:cubicBezTo>
                  <a:lnTo>
                    <a:pt x="0" y="27813"/>
                  </a:lnTo>
                  <a:cubicBezTo>
                    <a:pt x="0" y="12446"/>
                    <a:pt x="12446" y="0"/>
                    <a:pt x="27813" y="0"/>
                  </a:cubicBezTo>
                  <a:lnTo>
                    <a:pt x="1306069" y="0"/>
                  </a:lnTo>
                  <a:close/>
                </a:path>
              </a:pathLst>
            </a:custGeom>
            <a:solidFill>
              <a:srgbClr val="6BB0DA"/>
            </a:solidFill>
          </p:spPr>
        </p:sp>
        <p:sp>
          <p:nvSpPr>
            <p:cNvPr name="Freeform 26" id="26"/>
            <p:cNvSpPr/>
            <p:nvPr/>
          </p:nvSpPr>
          <p:spPr>
            <a:xfrm flipH="false" flipV="false" rot="0">
              <a:off x="952628" y="1022983"/>
              <a:ext cx="853567" cy="181864"/>
            </a:xfrm>
            <a:custGeom>
              <a:avLst/>
              <a:gdLst/>
              <a:ahLst/>
              <a:cxnLst/>
              <a:rect r="r" b="b" t="t" l="l"/>
              <a:pathLst>
                <a:path h="181864" w="853567">
                  <a:moveTo>
                    <a:pt x="2158" y="0"/>
                  </a:moveTo>
                  <a:lnTo>
                    <a:pt x="853567" y="171322"/>
                  </a:lnTo>
                  <a:lnTo>
                    <a:pt x="851408" y="181863"/>
                  </a:lnTo>
                  <a:lnTo>
                    <a:pt x="0" y="10541"/>
                  </a:lnTo>
                  <a:close/>
                </a:path>
              </a:pathLst>
            </a:custGeom>
            <a:solidFill>
              <a:srgbClr val="183E69"/>
            </a:solidFill>
          </p:spPr>
        </p:sp>
        <p:sp>
          <p:nvSpPr>
            <p:cNvPr name="Freeform 27" id="27"/>
            <p:cNvSpPr/>
            <p:nvPr/>
          </p:nvSpPr>
          <p:spPr>
            <a:xfrm flipH="false" flipV="false" rot="0">
              <a:off x="1779906" y="1169032"/>
              <a:ext cx="58420" cy="53086"/>
            </a:xfrm>
            <a:custGeom>
              <a:avLst/>
              <a:gdLst/>
              <a:ahLst/>
              <a:cxnLst/>
              <a:rect r="r" b="b" t="t" l="l"/>
              <a:pathLst>
                <a:path h="53086" w="58420">
                  <a:moveTo>
                    <a:pt x="58420" y="37211"/>
                  </a:moveTo>
                  <a:lnTo>
                    <a:pt x="10668" y="0"/>
                  </a:lnTo>
                  <a:lnTo>
                    <a:pt x="25273" y="30607"/>
                  </a:lnTo>
                  <a:lnTo>
                    <a:pt x="0" y="53086"/>
                  </a:lnTo>
                </a:path>
              </a:pathLst>
            </a:custGeom>
            <a:solidFill>
              <a:srgbClr val="183E69"/>
            </a:solidFill>
          </p:spPr>
        </p:sp>
        <p:sp>
          <p:nvSpPr>
            <p:cNvPr name="Freeform 28" id="28"/>
            <p:cNvSpPr/>
            <p:nvPr/>
          </p:nvSpPr>
          <p:spPr>
            <a:xfrm flipH="false" flipV="false" rot="0">
              <a:off x="2787016" y="1028317"/>
              <a:ext cx="11303" cy="144145"/>
            </a:xfrm>
            <a:custGeom>
              <a:avLst/>
              <a:gdLst/>
              <a:ahLst/>
              <a:cxnLst/>
              <a:rect r="r" b="b" t="t" l="l"/>
              <a:pathLst>
                <a:path h="144145" w="11303">
                  <a:moveTo>
                    <a:pt x="11303" y="0"/>
                  </a:moveTo>
                  <a:lnTo>
                    <a:pt x="10795" y="144144"/>
                  </a:lnTo>
                  <a:lnTo>
                    <a:pt x="0" y="144144"/>
                  </a:lnTo>
                  <a:lnTo>
                    <a:pt x="508" y="0"/>
                  </a:lnTo>
                  <a:close/>
                </a:path>
              </a:pathLst>
            </a:custGeom>
            <a:solidFill>
              <a:srgbClr val="183E69"/>
            </a:solidFill>
          </p:spPr>
        </p:sp>
        <p:sp>
          <p:nvSpPr>
            <p:cNvPr name="Freeform 29" id="29"/>
            <p:cNvSpPr/>
            <p:nvPr/>
          </p:nvSpPr>
          <p:spPr>
            <a:xfrm flipH="false" flipV="false" rot="0">
              <a:off x="2765426" y="1151887"/>
              <a:ext cx="54229" cy="54356"/>
            </a:xfrm>
            <a:custGeom>
              <a:avLst/>
              <a:gdLst/>
              <a:ahLst/>
              <a:cxnLst/>
              <a:rect r="r" b="b" t="t" l="l"/>
              <a:pathLst>
                <a:path h="54356" w="54229">
                  <a:moveTo>
                    <a:pt x="26924" y="54356"/>
                  </a:moveTo>
                  <a:lnTo>
                    <a:pt x="54229" y="254"/>
                  </a:lnTo>
                  <a:lnTo>
                    <a:pt x="27051" y="20447"/>
                  </a:lnTo>
                  <a:lnTo>
                    <a:pt x="0" y="0"/>
                  </a:lnTo>
                </a:path>
              </a:pathLst>
            </a:custGeom>
            <a:solidFill>
              <a:srgbClr val="183E69"/>
            </a:solidFill>
          </p:spPr>
        </p:sp>
        <p:sp>
          <p:nvSpPr>
            <p:cNvPr name="Freeform 30" id="30"/>
            <p:cNvSpPr/>
            <p:nvPr/>
          </p:nvSpPr>
          <p:spPr>
            <a:xfrm flipH="false" flipV="false" rot="0">
              <a:off x="3778506" y="1022983"/>
              <a:ext cx="854711" cy="181864"/>
            </a:xfrm>
            <a:custGeom>
              <a:avLst/>
              <a:gdLst/>
              <a:ahLst/>
              <a:cxnLst/>
              <a:rect r="r" b="b" t="t" l="l"/>
              <a:pathLst>
                <a:path h="181864" w="854711">
                  <a:moveTo>
                    <a:pt x="854710" y="10541"/>
                  </a:moveTo>
                  <a:lnTo>
                    <a:pt x="2159" y="181863"/>
                  </a:lnTo>
                  <a:lnTo>
                    <a:pt x="0" y="171322"/>
                  </a:lnTo>
                  <a:lnTo>
                    <a:pt x="852678" y="0"/>
                  </a:lnTo>
                  <a:close/>
                </a:path>
              </a:pathLst>
            </a:custGeom>
            <a:solidFill>
              <a:srgbClr val="183E69"/>
            </a:solidFill>
          </p:spPr>
        </p:sp>
        <p:sp>
          <p:nvSpPr>
            <p:cNvPr name="Freeform 31" id="31"/>
            <p:cNvSpPr/>
            <p:nvPr/>
          </p:nvSpPr>
          <p:spPr>
            <a:xfrm flipH="false" flipV="false" rot="0">
              <a:off x="3746375" y="1168905"/>
              <a:ext cx="58420" cy="53213"/>
            </a:xfrm>
            <a:custGeom>
              <a:avLst/>
              <a:gdLst/>
              <a:ahLst/>
              <a:cxnLst/>
              <a:rect r="r" b="b" t="t" l="l"/>
              <a:pathLst>
                <a:path h="53213" w="58420">
                  <a:moveTo>
                    <a:pt x="0" y="37338"/>
                  </a:moveTo>
                  <a:lnTo>
                    <a:pt x="58420" y="53213"/>
                  </a:lnTo>
                  <a:lnTo>
                    <a:pt x="33147" y="30607"/>
                  </a:lnTo>
                  <a:lnTo>
                    <a:pt x="47752" y="0"/>
                  </a:lnTo>
                </a:path>
              </a:pathLst>
            </a:custGeom>
            <a:solidFill>
              <a:srgbClr val="183E69"/>
            </a:solidFill>
          </p:spPr>
        </p:sp>
        <p:sp>
          <p:nvSpPr>
            <p:cNvPr name="Freeform 32" id="32"/>
            <p:cNvSpPr/>
            <p:nvPr/>
          </p:nvSpPr>
          <p:spPr>
            <a:xfrm flipH="false" flipV="false" rot="0">
              <a:off x="762127" y="1486913"/>
              <a:ext cx="1023493" cy="253237"/>
            </a:xfrm>
            <a:custGeom>
              <a:avLst/>
              <a:gdLst/>
              <a:ahLst/>
              <a:cxnLst/>
              <a:rect r="r" b="b" t="t" l="l"/>
              <a:pathLst>
                <a:path h="253237" w="1023493">
                  <a:moveTo>
                    <a:pt x="1023494" y="10414"/>
                  </a:moveTo>
                  <a:lnTo>
                    <a:pt x="2540" y="253237"/>
                  </a:lnTo>
                  <a:lnTo>
                    <a:pt x="0" y="242823"/>
                  </a:lnTo>
                  <a:lnTo>
                    <a:pt x="1020954" y="0"/>
                  </a:lnTo>
                  <a:close/>
                </a:path>
              </a:pathLst>
            </a:custGeom>
            <a:solidFill>
              <a:srgbClr val="183E69"/>
            </a:solidFill>
          </p:spPr>
        </p:sp>
        <p:sp>
          <p:nvSpPr>
            <p:cNvPr name="Freeform 33" id="33"/>
            <p:cNvSpPr/>
            <p:nvPr/>
          </p:nvSpPr>
          <p:spPr>
            <a:xfrm flipH="false" flipV="false" rot="0">
              <a:off x="730504" y="1704082"/>
              <a:ext cx="58928" cy="52578"/>
            </a:xfrm>
            <a:custGeom>
              <a:avLst/>
              <a:gdLst/>
              <a:ahLst/>
              <a:cxnLst/>
              <a:rect r="r" b="b" t="t" l="l"/>
              <a:pathLst>
                <a:path h="52578" w="58928">
                  <a:moveTo>
                    <a:pt x="0" y="38735"/>
                  </a:moveTo>
                  <a:lnTo>
                    <a:pt x="58928" y="52578"/>
                  </a:lnTo>
                  <a:lnTo>
                    <a:pt x="32893" y="30988"/>
                  </a:lnTo>
                  <a:lnTo>
                    <a:pt x="46355" y="0"/>
                  </a:lnTo>
                </a:path>
              </a:pathLst>
            </a:custGeom>
            <a:solidFill>
              <a:srgbClr val="183E69"/>
            </a:solidFill>
          </p:spPr>
        </p:sp>
        <p:sp>
          <p:nvSpPr>
            <p:cNvPr name="Freeform 34" id="34"/>
            <p:cNvSpPr/>
            <p:nvPr/>
          </p:nvSpPr>
          <p:spPr>
            <a:xfrm flipH="false" flipV="false" rot="0">
              <a:off x="2133601" y="1487802"/>
              <a:ext cx="319913" cy="239267"/>
            </a:xfrm>
            <a:custGeom>
              <a:avLst/>
              <a:gdLst/>
              <a:ahLst/>
              <a:cxnLst/>
              <a:rect r="r" b="b" t="t" l="l"/>
              <a:pathLst>
                <a:path h="239267" w="319913">
                  <a:moveTo>
                    <a:pt x="319913" y="8636"/>
                  </a:moveTo>
                  <a:lnTo>
                    <a:pt x="6350" y="239267"/>
                  </a:lnTo>
                  <a:lnTo>
                    <a:pt x="0" y="230631"/>
                  </a:lnTo>
                  <a:lnTo>
                    <a:pt x="313563" y="0"/>
                  </a:lnTo>
                  <a:close/>
                </a:path>
              </a:pathLst>
            </a:custGeom>
            <a:solidFill>
              <a:srgbClr val="183E69"/>
            </a:solidFill>
          </p:spPr>
        </p:sp>
        <p:sp>
          <p:nvSpPr>
            <p:cNvPr name="Freeform 35" id="35"/>
            <p:cNvSpPr/>
            <p:nvPr/>
          </p:nvSpPr>
          <p:spPr>
            <a:xfrm flipH="false" flipV="false" rot="0">
              <a:off x="2109471" y="1688969"/>
              <a:ext cx="59690" cy="53848"/>
            </a:xfrm>
            <a:custGeom>
              <a:avLst/>
              <a:gdLst/>
              <a:ahLst/>
              <a:cxnLst/>
              <a:rect r="r" b="b" t="t" l="l"/>
              <a:pathLst>
                <a:path h="53848" w="59690">
                  <a:moveTo>
                    <a:pt x="0" y="53848"/>
                  </a:moveTo>
                  <a:lnTo>
                    <a:pt x="59690" y="43561"/>
                  </a:lnTo>
                  <a:lnTo>
                    <a:pt x="27305" y="33782"/>
                  </a:lnTo>
                  <a:lnTo>
                    <a:pt x="27686" y="0"/>
                  </a:lnTo>
                </a:path>
              </a:pathLst>
            </a:custGeom>
            <a:solidFill>
              <a:srgbClr val="183E69"/>
            </a:solidFill>
          </p:spPr>
        </p:sp>
        <p:sp>
          <p:nvSpPr>
            <p:cNvPr name="Freeform 36" id="36"/>
            <p:cNvSpPr/>
            <p:nvPr/>
          </p:nvSpPr>
          <p:spPr>
            <a:xfrm flipH="false" flipV="false" rot="0">
              <a:off x="3131186" y="1487802"/>
              <a:ext cx="332740" cy="239903"/>
            </a:xfrm>
            <a:custGeom>
              <a:avLst/>
              <a:gdLst/>
              <a:ahLst/>
              <a:cxnLst/>
              <a:rect r="r" b="b" t="t" l="l"/>
              <a:pathLst>
                <a:path h="239903" w="332740">
                  <a:moveTo>
                    <a:pt x="6223" y="0"/>
                  </a:moveTo>
                  <a:lnTo>
                    <a:pt x="332741" y="231139"/>
                  </a:lnTo>
                  <a:lnTo>
                    <a:pt x="326517" y="239902"/>
                  </a:lnTo>
                  <a:lnTo>
                    <a:pt x="0" y="8763"/>
                  </a:lnTo>
                  <a:close/>
                </a:path>
              </a:pathLst>
            </a:custGeom>
            <a:solidFill>
              <a:srgbClr val="183E69"/>
            </a:solidFill>
          </p:spPr>
        </p:sp>
        <p:sp>
          <p:nvSpPr>
            <p:cNvPr name="Freeform 37" id="37"/>
            <p:cNvSpPr/>
            <p:nvPr/>
          </p:nvSpPr>
          <p:spPr>
            <a:xfrm flipH="false" flipV="false" rot="0">
              <a:off x="3428493" y="1689477"/>
              <a:ext cx="59944" cy="53340"/>
            </a:xfrm>
            <a:custGeom>
              <a:avLst/>
              <a:gdLst/>
              <a:ahLst/>
              <a:cxnLst/>
              <a:rect r="r" b="b" t="t" l="l"/>
              <a:pathLst>
                <a:path h="53340" w="59944">
                  <a:moveTo>
                    <a:pt x="59944" y="53340"/>
                  </a:moveTo>
                  <a:lnTo>
                    <a:pt x="31369" y="0"/>
                  </a:lnTo>
                  <a:lnTo>
                    <a:pt x="32259" y="33782"/>
                  </a:lnTo>
                  <a:lnTo>
                    <a:pt x="0" y="44196"/>
                  </a:lnTo>
                </a:path>
              </a:pathLst>
            </a:custGeom>
            <a:solidFill>
              <a:srgbClr val="183E69"/>
            </a:solidFill>
          </p:spPr>
        </p:sp>
        <p:sp>
          <p:nvSpPr>
            <p:cNvPr name="Freeform 38" id="38"/>
            <p:cNvSpPr/>
            <p:nvPr/>
          </p:nvSpPr>
          <p:spPr>
            <a:xfrm flipH="false" flipV="false" rot="0">
              <a:off x="3799207" y="1486913"/>
              <a:ext cx="1036448" cy="253364"/>
            </a:xfrm>
            <a:custGeom>
              <a:avLst/>
              <a:gdLst/>
              <a:ahLst/>
              <a:cxnLst/>
              <a:rect r="r" b="b" t="t" l="l"/>
              <a:pathLst>
                <a:path h="253364" w="1036448">
                  <a:moveTo>
                    <a:pt x="2413" y="0"/>
                  </a:moveTo>
                  <a:lnTo>
                    <a:pt x="1036447" y="242950"/>
                  </a:lnTo>
                  <a:lnTo>
                    <a:pt x="1034034" y="253364"/>
                  </a:lnTo>
                  <a:lnTo>
                    <a:pt x="0" y="10414"/>
                  </a:lnTo>
                  <a:close/>
                </a:path>
              </a:pathLst>
            </a:custGeom>
            <a:solidFill>
              <a:srgbClr val="183E69"/>
            </a:solidFill>
          </p:spPr>
        </p:sp>
        <p:sp>
          <p:nvSpPr>
            <p:cNvPr name="Freeform 39" id="39"/>
            <p:cNvSpPr/>
            <p:nvPr/>
          </p:nvSpPr>
          <p:spPr>
            <a:xfrm flipH="false" flipV="false" rot="0">
              <a:off x="4808603" y="1704082"/>
              <a:ext cx="58801" cy="52705"/>
            </a:xfrm>
            <a:custGeom>
              <a:avLst/>
              <a:gdLst/>
              <a:ahLst/>
              <a:cxnLst/>
              <a:rect r="r" b="b" t="t" l="l"/>
              <a:pathLst>
                <a:path h="52705" w="58801">
                  <a:moveTo>
                    <a:pt x="58801" y="38735"/>
                  </a:moveTo>
                  <a:lnTo>
                    <a:pt x="12319" y="0"/>
                  </a:lnTo>
                  <a:lnTo>
                    <a:pt x="25908" y="30988"/>
                  </a:lnTo>
                  <a:lnTo>
                    <a:pt x="0" y="52705"/>
                  </a:lnTo>
                </a:path>
              </a:pathLst>
            </a:custGeom>
            <a:solidFill>
              <a:srgbClr val="183E69"/>
            </a:solidFill>
          </p:spPr>
        </p:sp>
      </p:grpSp>
      <p:sp>
        <p:nvSpPr>
          <p:cNvPr name="TextBox 40" id="40"/>
          <p:cNvSpPr txBox="true"/>
          <p:nvPr/>
        </p:nvSpPr>
        <p:spPr>
          <a:xfrm rot="0">
            <a:off x="249746" y="153791"/>
            <a:ext cx="229229" cy="122815"/>
          </a:xfrm>
          <a:prstGeom prst="rect">
            <a:avLst/>
          </a:prstGeom>
        </p:spPr>
        <p:txBody>
          <a:bodyPr anchor="t" rtlCol="false" tIns="0" lIns="0" bIns="0" rIns="0">
            <a:spAutoFit/>
          </a:bodyPr>
          <a:lstStyle/>
          <a:p>
            <a:pPr algn="ctr">
              <a:lnSpc>
                <a:spcPts val="478"/>
              </a:lnSpc>
            </a:pPr>
            <a:r>
              <a:rPr lang="en-US" b="true" sz="448" spc="-7">
                <a:solidFill>
                  <a:srgbClr val="263746"/>
                </a:solidFill>
                <a:latin typeface="IBM Plex Sans Bold"/>
                <a:ea typeface="IBM Plex Sans Bold"/>
                <a:cs typeface="IBM Plex Sans Bold"/>
                <a:sym typeface="IBM Plex Sans Bold"/>
              </a:rPr>
              <a:t>Circuit Breakers</a:t>
            </a:r>
          </a:p>
        </p:txBody>
      </p:sp>
      <p:sp>
        <p:nvSpPr>
          <p:cNvPr name="TextBox 41" id="41"/>
          <p:cNvSpPr txBox="true"/>
          <p:nvPr/>
        </p:nvSpPr>
        <p:spPr>
          <a:xfrm rot="0">
            <a:off x="1569415" y="23422"/>
            <a:ext cx="2673620" cy="299114"/>
          </a:xfrm>
          <a:prstGeom prst="rect">
            <a:avLst/>
          </a:prstGeom>
        </p:spPr>
        <p:txBody>
          <a:bodyPr anchor="t" rtlCol="false" tIns="0" lIns="0" bIns="0" rIns="0">
            <a:spAutoFit/>
          </a:bodyPr>
          <a:lstStyle/>
          <a:p>
            <a:pPr algn="l">
              <a:lnSpc>
                <a:spcPts val="2371"/>
              </a:lnSpc>
            </a:pPr>
            <a:r>
              <a:rPr lang="en-US" b="true" sz="1693" spc="-28">
                <a:solidFill>
                  <a:srgbClr val="183E69"/>
                </a:solidFill>
                <a:latin typeface="IBM Plex Sans Bold"/>
                <a:ea typeface="IBM Plex Sans Bold"/>
                <a:cs typeface="IBM Plex Sans Bold"/>
                <a:sym typeface="IBM Plex Sans Bold"/>
              </a:rPr>
              <a:t>TECHNICAL</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APPROACH</a:t>
            </a:r>
          </a:p>
        </p:txBody>
      </p:sp>
      <p:sp>
        <p:nvSpPr>
          <p:cNvPr name="TextBox 42" id="42"/>
          <p:cNvSpPr txBox="true"/>
          <p:nvPr/>
        </p:nvSpPr>
        <p:spPr>
          <a:xfrm rot="0">
            <a:off x="2999813" y="668474"/>
            <a:ext cx="398345" cy="195962"/>
          </a:xfrm>
          <a:prstGeom prst="rect">
            <a:avLst/>
          </a:prstGeom>
        </p:spPr>
        <p:txBody>
          <a:bodyPr anchor="t" rtlCol="false" tIns="0" lIns="0" bIns="0" rIns="0">
            <a:spAutoFit/>
          </a:bodyPr>
          <a:lstStyle/>
          <a:p>
            <a:pPr algn="l">
              <a:lnSpc>
                <a:spcPts val="796"/>
              </a:lnSpc>
            </a:pPr>
            <a:r>
              <a:rPr lang="en-US" b="true" sz="717" spc="-12">
                <a:solidFill>
                  <a:srgbClr val="263746"/>
                </a:solidFill>
                <a:latin typeface="IBM Plex Sans Bold"/>
                <a:ea typeface="IBM Plex Sans Bold"/>
                <a:cs typeface="IBM Plex Sans Bold"/>
                <a:sym typeface="IBM Plex Sans Bold"/>
              </a:rPr>
              <a:t>Software</a:t>
            </a:r>
            <a:r>
              <a:rPr lang="en-US" b="true" sz="717" spc="-12">
                <a:solidFill>
                  <a:srgbClr val="087CC1"/>
                </a:solidFill>
                <a:latin typeface="IBM Plex Sans Bold"/>
                <a:ea typeface="IBM Plex Sans Bold"/>
                <a:cs typeface="IBM Plex Sans Bold"/>
                <a:sym typeface="IBM Plex Sans Bold"/>
              </a:rPr>
              <a:t> </a:t>
            </a:r>
            <a:r>
              <a:rPr lang="en-US" b="true" sz="717" spc="-12">
                <a:solidFill>
                  <a:srgbClr val="263746"/>
                </a:solidFill>
                <a:latin typeface="IBM Plex Sans Bold"/>
                <a:ea typeface="IBM Plex Sans Bold"/>
                <a:cs typeface="IBM Plex Sans Bold"/>
                <a:sym typeface="IBM Plex Sans Bold"/>
              </a:rPr>
              <a:t>Platform:</a:t>
            </a:r>
          </a:p>
        </p:txBody>
      </p:sp>
      <p:sp>
        <p:nvSpPr>
          <p:cNvPr name="TextBox 43" id="43"/>
          <p:cNvSpPr txBox="true"/>
          <p:nvPr/>
        </p:nvSpPr>
        <p:spPr>
          <a:xfrm rot="0">
            <a:off x="2999813" y="870928"/>
            <a:ext cx="560946" cy="309039"/>
          </a:xfrm>
          <a:prstGeom prst="rect">
            <a:avLst/>
          </a:prstGeom>
        </p:spPr>
        <p:txBody>
          <a:bodyPr anchor="t" rtlCol="false" tIns="0" lIns="0" bIns="0" rIns="0">
            <a:spAutoFit/>
          </a:bodyPr>
          <a:lstStyle/>
          <a:p>
            <a:pPr algn="l">
              <a:lnSpc>
                <a:spcPts val="796"/>
              </a:lnSpc>
            </a:pPr>
            <a:r>
              <a:rPr lang="en-US" b="true" sz="717" spc="-12">
                <a:solidFill>
                  <a:srgbClr val="263746"/>
                </a:solidFill>
                <a:latin typeface="IBM Plex Sans Bold"/>
                <a:ea typeface="IBM Plex Sans Bold"/>
                <a:cs typeface="IBM Plex Sans Bold"/>
                <a:sym typeface="IBM Plex Sans Bold"/>
              </a:rPr>
              <a:t>Intelligence: Control</a:t>
            </a:r>
            <a:r>
              <a:rPr lang="en-US" b="true" sz="717" spc="-12">
                <a:solidFill>
                  <a:srgbClr val="FFFFFF"/>
                </a:solidFill>
                <a:latin typeface="IBM Plex Sans Bold"/>
                <a:ea typeface="IBM Plex Sans Bold"/>
                <a:cs typeface="IBM Plex Sans Bold"/>
                <a:sym typeface="IBM Plex Sans Bold"/>
              </a:rPr>
              <a:t> </a:t>
            </a:r>
            <a:r>
              <a:rPr lang="en-US" b="true" sz="717" spc="-12">
                <a:solidFill>
                  <a:srgbClr val="263746"/>
                </a:solidFill>
                <a:latin typeface="IBM Plex Sans Bold"/>
                <a:ea typeface="IBM Plex Sans Bold"/>
                <a:cs typeface="IBM Plex Sans Bold"/>
                <a:sym typeface="IBM Plex Sans Bold"/>
              </a:rPr>
              <a:t>loop: </a:t>
            </a:r>
            <a:r>
              <a:rPr lang="en-US" sz="717" spc="-12">
                <a:solidFill>
                  <a:srgbClr val="263746"/>
                </a:solidFill>
                <a:latin typeface="IBM Plex Sans"/>
                <a:ea typeface="IBM Plex Sans"/>
                <a:cs typeface="IBM Plex Sans"/>
                <a:sym typeface="IBM Plex Sans"/>
              </a:rPr>
              <a:t>ation</a:t>
            </a:r>
          </a:p>
        </p:txBody>
      </p:sp>
      <p:sp>
        <p:nvSpPr>
          <p:cNvPr name="TextBox 44" id="44"/>
          <p:cNvSpPr txBox="true"/>
          <p:nvPr/>
        </p:nvSpPr>
        <p:spPr>
          <a:xfrm rot="0">
            <a:off x="189157" y="668474"/>
            <a:ext cx="1964560" cy="492032"/>
          </a:xfrm>
          <a:prstGeom prst="rect">
            <a:avLst/>
          </a:prstGeom>
        </p:spPr>
        <p:txBody>
          <a:bodyPr anchor="t" rtlCol="false" tIns="0" lIns="0" bIns="0" rIns="0">
            <a:spAutoFit/>
          </a:bodyPr>
          <a:lstStyle/>
          <a:p>
            <a:pPr algn="l">
              <a:lnSpc>
                <a:spcPts val="796"/>
              </a:lnSpc>
            </a:pPr>
            <a:r>
              <a:rPr lang="en-US" b="true" sz="717" spc="0">
                <a:solidFill>
                  <a:srgbClr val="263746"/>
                </a:solidFill>
                <a:latin typeface="IBM Plex Sans Bold"/>
                <a:ea typeface="IBM Plex Sans Bold"/>
                <a:cs typeface="IBM Plex Sans Bold"/>
                <a:sym typeface="IBM Plex Sans Bold"/>
              </a:rPr>
              <a:t>Hardware</a:t>
            </a:r>
          </a:p>
          <a:p>
            <a:pPr algn="l">
              <a:lnSpc>
                <a:spcPts val="796"/>
              </a:lnSpc>
            </a:pPr>
            <a:r>
              <a:rPr lang="en-US" b="true" sz="717" spc="0">
                <a:solidFill>
                  <a:srgbClr val="263746"/>
                </a:solidFill>
                <a:latin typeface="IBM Plex Sans Bold"/>
                <a:ea typeface="IBM Plex Sans Bold"/>
                <a:cs typeface="IBM Plex Sans Bold"/>
                <a:sym typeface="IBM Plex Sans Bold"/>
              </a:rPr>
              <a:t>Processing:</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STM32F405</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ESP32-S3</a:t>
            </a:r>
          </a:p>
          <a:p>
            <a:pPr algn="l">
              <a:lnSpc>
                <a:spcPts val="796"/>
              </a:lnSpc>
            </a:pPr>
            <a:r>
              <a:rPr lang="en-US" b="true" sz="717" spc="0">
                <a:solidFill>
                  <a:srgbClr val="263746"/>
                </a:solidFill>
                <a:latin typeface="IBM Plex Sans Bold"/>
                <a:ea typeface="IBM Plex Sans Bold"/>
                <a:cs typeface="IBM Plex Sans Bold"/>
                <a:sym typeface="IBM Plex Sans Bold"/>
              </a:rPr>
              <a:t>Sensing:</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BMP390,</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DS18B20,</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MPU6050 </a:t>
            </a:r>
            <a:r>
              <a:rPr lang="en-US" b="true" sz="717" spc="0">
                <a:solidFill>
                  <a:srgbClr val="263746"/>
                </a:solidFill>
                <a:latin typeface="IBM Plex Sans Bold"/>
                <a:ea typeface="IBM Plex Sans Bold"/>
                <a:cs typeface="IBM Plex Sans Bold"/>
                <a:sym typeface="IBM Plex Sans Bold"/>
              </a:rPr>
              <a:t>Actuation:</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Heater</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drivers,</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MOSFET</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matrix, SiC</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gate</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driver</a:t>
            </a:r>
          </a:p>
        </p:txBody>
      </p:sp>
      <p:sp>
        <p:nvSpPr>
          <p:cNvPr name="TextBox 45" id="45"/>
          <p:cNvSpPr txBox="true"/>
          <p:nvPr/>
        </p:nvSpPr>
        <p:spPr>
          <a:xfrm rot="0">
            <a:off x="3433448" y="740578"/>
            <a:ext cx="1104910" cy="134474"/>
          </a:xfrm>
          <a:prstGeom prst="rect">
            <a:avLst/>
          </a:prstGeom>
        </p:spPr>
        <p:txBody>
          <a:bodyPr anchor="t" rtlCol="false" tIns="0" lIns="0" bIns="0" rIns="0">
            <a:spAutoFit/>
          </a:bodyPr>
          <a:lstStyle/>
          <a:p>
            <a:pPr algn="l">
              <a:lnSpc>
                <a:spcPts val="1004"/>
              </a:lnSpc>
            </a:pPr>
            <a:r>
              <a:rPr lang="en-US" sz="717" spc="0">
                <a:solidFill>
                  <a:srgbClr val="263746"/>
                </a:solidFill>
                <a:latin typeface="IBM Plex Sans"/>
                <a:ea typeface="IBM Plex Sans"/>
                <a:cs typeface="IBM Plex Sans"/>
                <a:sym typeface="IBM Plex Sans"/>
              </a:rPr>
              <a:t>FreeRTOS</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Embedded</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C</a:t>
            </a:r>
          </a:p>
        </p:txBody>
      </p:sp>
      <p:sp>
        <p:nvSpPr>
          <p:cNvPr name="TextBox 46" id="46"/>
          <p:cNvSpPr txBox="true"/>
          <p:nvPr/>
        </p:nvSpPr>
        <p:spPr>
          <a:xfrm rot="0">
            <a:off x="3543957" y="841791"/>
            <a:ext cx="980075" cy="134474"/>
          </a:xfrm>
          <a:prstGeom prst="rect">
            <a:avLst/>
          </a:prstGeom>
        </p:spPr>
        <p:txBody>
          <a:bodyPr anchor="t" rtlCol="false" tIns="0" lIns="0" bIns="0" rIns="0">
            <a:spAutoFit/>
          </a:bodyPr>
          <a:lstStyle/>
          <a:p>
            <a:pPr algn="l">
              <a:lnSpc>
                <a:spcPts val="1004"/>
              </a:lnSpc>
            </a:pPr>
            <a:r>
              <a:rPr lang="en-US" sz="717" spc="0">
                <a:solidFill>
                  <a:srgbClr val="263746"/>
                </a:solidFill>
                <a:latin typeface="IBM Plex Sans"/>
                <a:ea typeface="IBM Plex Sans"/>
                <a:cs typeface="IBM Plex Sans"/>
                <a:sym typeface="IBM Plex Sans"/>
              </a:rPr>
              <a:t>Extended</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Kalman</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Filter</a:t>
            </a:r>
          </a:p>
        </p:txBody>
      </p:sp>
      <p:sp>
        <p:nvSpPr>
          <p:cNvPr name="TextBox 47" id="47"/>
          <p:cNvSpPr txBox="true"/>
          <p:nvPr/>
        </p:nvSpPr>
        <p:spPr>
          <a:xfrm rot="0">
            <a:off x="3596592" y="943013"/>
            <a:ext cx="1355798" cy="134474"/>
          </a:xfrm>
          <a:prstGeom prst="rect">
            <a:avLst/>
          </a:prstGeom>
        </p:spPr>
        <p:txBody>
          <a:bodyPr anchor="t" rtlCol="false" tIns="0" lIns="0" bIns="0" rIns="0">
            <a:spAutoFit/>
          </a:bodyPr>
          <a:lstStyle/>
          <a:p>
            <a:pPr algn="l">
              <a:lnSpc>
                <a:spcPts val="1004"/>
              </a:lnSpc>
            </a:pPr>
            <a:r>
              <a:rPr lang="en-US" sz="717" spc="0">
                <a:solidFill>
                  <a:srgbClr val="263746"/>
                </a:solidFill>
                <a:latin typeface="IBM Plex Sans"/>
                <a:ea typeface="IBM Plex Sans"/>
                <a:cs typeface="IBM Plex Sans"/>
                <a:sym typeface="IBM Plex Sans"/>
              </a:rPr>
              <a:t>Sensor</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fusion</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and</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adaptive</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actu-</a:t>
            </a:r>
          </a:p>
        </p:txBody>
      </p:sp>
      <p:sp>
        <p:nvSpPr>
          <p:cNvPr name="TextBox 48" id="48"/>
          <p:cNvSpPr txBox="true"/>
          <p:nvPr/>
        </p:nvSpPr>
        <p:spPr>
          <a:xfrm rot="0">
            <a:off x="168731" y="2320052"/>
            <a:ext cx="96536" cy="127264"/>
          </a:xfrm>
          <a:prstGeom prst="rect">
            <a:avLst/>
          </a:prstGeom>
        </p:spPr>
        <p:txBody>
          <a:bodyPr anchor="t" rtlCol="false" tIns="0" lIns="0" bIns="0" rIns="0">
            <a:spAutoFit/>
          </a:bodyPr>
          <a:lstStyle/>
          <a:p>
            <a:pPr algn="l">
              <a:lnSpc>
                <a:spcPts val="948"/>
              </a:lnSpc>
            </a:pPr>
            <a:r>
              <a:rPr lang="en-US" b="true" sz="677" spc="-11">
                <a:solidFill>
                  <a:srgbClr val="263746"/>
                </a:solidFill>
                <a:latin typeface="IBM Plex Sans Bold"/>
                <a:ea typeface="IBM Plex Sans Bold"/>
                <a:cs typeface="IBM Plex Sans Bold"/>
                <a:sym typeface="IBM Plex Sans Bold"/>
              </a:rPr>
              <a:t>01</a:t>
            </a:r>
          </a:p>
        </p:txBody>
      </p:sp>
      <p:sp>
        <p:nvSpPr>
          <p:cNvPr name="TextBox 49" id="49"/>
          <p:cNvSpPr txBox="true"/>
          <p:nvPr/>
        </p:nvSpPr>
        <p:spPr>
          <a:xfrm rot="0">
            <a:off x="341918" y="2329577"/>
            <a:ext cx="1032405" cy="95885"/>
          </a:xfrm>
          <a:prstGeom prst="rect">
            <a:avLst/>
          </a:prstGeom>
        </p:spPr>
        <p:txBody>
          <a:bodyPr anchor="t" rtlCol="false" tIns="0" lIns="0" bIns="0" rIns="0">
            <a:spAutoFit/>
          </a:bodyPr>
          <a:lstStyle/>
          <a:p>
            <a:pPr algn="l">
              <a:lnSpc>
                <a:spcPts val="840"/>
              </a:lnSpc>
            </a:pPr>
            <a:r>
              <a:rPr lang="en-US" b="true" sz="600" spc="-10">
                <a:solidFill>
                  <a:srgbClr val="263746"/>
                </a:solidFill>
                <a:latin typeface="IBM Plex Sans Bold"/>
                <a:ea typeface="IBM Plex Sans Bold"/>
                <a:cs typeface="IBM Plex Sans Bold"/>
                <a:sym typeface="IBM Plex Sans Bold"/>
              </a:rPr>
              <a:t>Battery Thermal Management</a:t>
            </a:r>
          </a:p>
        </p:txBody>
      </p:sp>
      <p:sp>
        <p:nvSpPr>
          <p:cNvPr name="TextBox 50" id="50"/>
          <p:cNvSpPr txBox="true"/>
          <p:nvPr/>
        </p:nvSpPr>
        <p:spPr>
          <a:xfrm rot="0">
            <a:off x="498186" y="1309992"/>
            <a:ext cx="1108138" cy="127264"/>
          </a:xfrm>
          <a:prstGeom prst="rect">
            <a:avLst/>
          </a:prstGeom>
        </p:spPr>
        <p:txBody>
          <a:bodyPr anchor="t" rtlCol="false" tIns="0" lIns="0" bIns="0" rIns="0">
            <a:spAutoFit/>
          </a:bodyPr>
          <a:lstStyle/>
          <a:p>
            <a:pPr algn="l">
              <a:lnSpc>
                <a:spcPts val="948"/>
              </a:lnSpc>
            </a:pPr>
            <a:r>
              <a:rPr lang="en-US" b="true" sz="677" spc="-11">
                <a:solidFill>
                  <a:srgbClr val="263746"/>
                </a:solidFill>
                <a:latin typeface="IBM Plex Sans Bold"/>
                <a:ea typeface="IBM Plex Sans Bold"/>
                <a:cs typeface="IBM Plex Sans Bold"/>
                <a:sym typeface="IBM Plex Sans Bold"/>
              </a:rPr>
              <a:t>Barometric</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Pressure</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Sensor</a:t>
            </a:r>
          </a:p>
        </p:txBody>
      </p:sp>
      <p:sp>
        <p:nvSpPr>
          <p:cNvPr name="TextBox 51" id="51"/>
          <p:cNvSpPr txBox="true"/>
          <p:nvPr/>
        </p:nvSpPr>
        <p:spPr>
          <a:xfrm rot="0">
            <a:off x="2998394" y="2320052"/>
            <a:ext cx="96536" cy="127264"/>
          </a:xfrm>
          <a:prstGeom prst="rect">
            <a:avLst/>
          </a:prstGeom>
        </p:spPr>
        <p:txBody>
          <a:bodyPr anchor="t" rtlCol="false" tIns="0" lIns="0" bIns="0" rIns="0">
            <a:spAutoFit/>
          </a:bodyPr>
          <a:lstStyle/>
          <a:p>
            <a:pPr algn="l">
              <a:lnSpc>
                <a:spcPts val="948"/>
              </a:lnSpc>
            </a:pPr>
            <a:r>
              <a:rPr lang="en-US" b="true" sz="677" spc="-11">
                <a:solidFill>
                  <a:srgbClr val="263746"/>
                </a:solidFill>
                <a:latin typeface="IBM Plex Sans Bold"/>
                <a:ea typeface="IBM Plex Sans Bold"/>
                <a:cs typeface="IBM Plex Sans Bold"/>
                <a:sym typeface="IBM Plex Sans Bold"/>
              </a:rPr>
              <a:t>03</a:t>
            </a:r>
          </a:p>
        </p:txBody>
      </p:sp>
      <p:sp>
        <p:nvSpPr>
          <p:cNvPr name="TextBox 52" id="52"/>
          <p:cNvSpPr txBox="true"/>
          <p:nvPr/>
        </p:nvSpPr>
        <p:spPr>
          <a:xfrm rot="0">
            <a:off x="2238518" y="1309992"/>
            <a:ext cx="1309821" cy="127264"/>
          </a:xfrm>
          <a:prstGeom prst="rect">
            <a:avLst/>
          </a:prstGeom>
        </p:spPr>
        <p:txBody>
          <a:bodyPr anchor="t" rtlCol="false" tIns="0" lIns="0" bIns="0" rIns="0">
            <a:spAutoFit/>
          </a:bodyPr>
          <a:lstStyle/>
          <a:p>
            <a:pPr algn="l">
              <a:lnSpc>
                <a:spcPts val="948"/>
              </a:lnSpc>
            </a:pPr>
            <a:r>
              <a:rPr lang="en-US" b="true" sz="677" spc="-11">
                <a:solidFill>
                  <a:srgbClr val="263746"/>
                </a:solidFill>
                <a:latin typeface="IBM Plex Sans Bold"/>
                <a:ea typeface="IBM Plex Sans Bold"/>
                <a:cs typeface="IBM Plex Sans Bold"/>
                <a:sym typeface="IBM Plex Sans Bold"/>
              </a:rPr>
              <a:t>Temperature</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&amp;</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Humidity</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Sensor</a:t>
            </a:r>
          </a:p>
        </p:txBody>
      </p:sp>
      <p:sp>
        <p:nvSpPr>
          <p:cNvPr name="TextBox 53" id="53"/>
          <p:cNvSpPr txBox="true"/>
          <p:nvPr/>
        </p:nvSpPr>
        <p:spPr>
          <a:xfrm rot="0">
            <a:off x="3187675" y="2320052"/>
            <a:ext cx="985390" cy="127264"/>
          </a:xfrm>
          <a:prstGeom prst="rect">
            <a:avLst/>
          </a:prstGeom>
        </p:spPr>
        <p:txBody>
          <a:bodyPr anchor="t" rtlCol="false" tIns="0" lIns="0" bIns="0" rIns="0">
            <a:spAutoFit/>
          </a:bodyPr>
          <a:lstStyle/>
          <a:p>
            <a:pPr algn="l">
              <a:lnSpc>
                <a:spcPts val="948"/>
              </a:lnSpc>
            </a:pPr>
            <a:r>
              <a:rPr lang="en-US" b="true" sz="677" spc="-11">
                <a:solidFill>
                  <a:srgbClr val="263746"/>
                </a:solidFill>
                <a:latin typeface="IBM Plex Sans Bold"/>
                <a:ea typeface="IBM Plex Sans Bold"/>
                <a:cs typeface="IBM Plex Sans Bold"/>
                <a:sym typeface="IBM Plex Sans Bold"/>
              </a:rPr>
              <a:t>Antenna De-Icing Driver</a:t>
            </a:r>
          </a:p>
        </p:txBody>
      </p:sp>
      <p:sp>
        <p:nvSpPr>
          <p:cNvPr name="TextBox 54" id="54"/>
          <p:cNvSpPr txBox="true"/>
          <p:nvPr/>
        </p:nvSpPr>
        <p:spPr>
          <a:xfrm rot="0">
            <a:off x="4252246" y="1319174"/>
            <a:ext cx="953786" cy="127264"/>
          </a:xfrm>
          <a:prstGeom prst="rect">
            <a:avLst/>
          </a:prstGeom>
        </p:spPr>
        <p:txBody>
          <a:bodyPr anchor="t" rtlCol="false" tIns="0" lIns="0" bIns="0" rIns="0">
            <a:spAutoFit/>
          </a:bodyPr>
          <a:lstStyle/>
          <a:p>
            <a:pPr algn="l">
              <a:lnSpc>
                <a:spcPts val="948"/>
              </a:lnSpc>
            </a:pPr>
            <a:r>
              <a:rPr lang="en-US" b="true" sz="677" spc="-11">
                <a:solidFill>
                  <a:srgbClr val="263746"/>
                </a:solidFill>
                <a:latin typeface="IBM Plex Sans Bold"/>
                <a:ea typeface="IBM Plex Sans Bold"/>
                <a:cs typeface="IBM Plex Sans Bold"/>
                <a:sym typeface="IBM Plex Sans Bold"/>
              </a:rPr>
              <a:t>Vibration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IMU</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Sensor</a:t>
            </a:r>
          </a:p>
        </p:txBody>
      </p:sp>
      <p:sp>
        <p:nvSpPr>
          <p:cNvPr name="TextBox 55" id="55"/>
          <p:cNvSpPr txBox="true"/>
          <p:nvPr/>
        </p:nvSpPr>
        <p:spPr>
          <a:xfrm rot="0">
            <a:off x="498186" y="1436913"/>
            <a:ext cx="1168479" cy="105708"/>
          </a:xfrm>
          <a:prstGeom prst="rect">
            <a:avLst/>
          </a:prstGeom>
        </p:spPr>
        <p:txBody>
          <a:bodyPr anchor="t" rtlCol="false" tIns="0" lIns="0" bIns="0" rIns="0">
            <a:spAutoFit/>
          </a:bodyPr>
          <a:lstStyle/>
          <a:p>
            <a:pPr algn="l">
              <a:lnSpc>
                <a:spcPts val="836"/>
              </a:lnSpc>
            </a:pPr>
            <a:r>
              <a:rPr lang="en-US" sz="597" spc="0">
                <a:solidFill>
                  <a:srgbClr val="263746"/>
                </a:solidFill>
                <a:latin typeface="IBM Plex Sans"/>
                <a:ea typeface="IBM Plex Sans"/>
                <a:cs typeface="IBM Plex Sans"/>
                <a:sym typeface="IBM Plex Sans"/>
              </a:rPr>
              <a:t>BMP390</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pressure</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and</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altitude</a:t>
            </a:r>
          </a:p>
        </p:txBody>
      </p:sp>
      <p:sp>
        <p:nvSpPr>
          <p:cNvPr name="TextBox 56" id="56"/>
          <p:cNvSpPr txBox="true"/>
          <p:nvPr/>
        </p:nvSpPr>
        <p:spPr>
          <a:xfrm rot="0">
            <a:off x="2398775" y="1436913"/>
            <a:ext cx="962530" cy="105708"/>
          </a:xfrm>
          <a:prstGeom prst="rect">
            <a:avLst/>
          </a:prstGeom>
        </p:spPr>
        <p:txBody>
          <a:bodyPr anchor="t" rtlCol="false" tIns="0" lIns="0" bIns="0" rIns="0">
            <a:spAutoFit/>
          </a:bodyPr>
          <a:lstStyle/>
          <a:p>
            <a:pPr algn="l">
              <a:lnSpc>
                <a:spcPts val="836"/>
              </a:lnSpc>
            </a:pPr>
            <a:r>
              <a:rPr lang="en-US" sz="597" spc="0">
                <a:solidFill>
                  <a:srgbClr val="263746"/>
                </a:solidFill>
                <a:latin typeface="IBM Plex Sans"/>
                <a:ea typeface="IBM Plex Sans"/>
                <a:cs typeface="IBM Plex Sans"/>
                <a:sym typeface="IBM Plex Sans"/>
              </a:rPr>
              <a:t>Distributed</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thermistor</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array</a:t>
            </a:r>
          </a:p>
        </p:txBody>
      </p:sp>
      <p:sp>
        <p:nvSpPr>
          <p:cNvPr name="TextBox 57" id="57"/>
          <p:cNvSpPr txBox="true"/>
          <p:nvPr/>
        </p:nvSpPr>
        <p:spPr>
          <a:xfrm rot="0">
            <a:off x="4118877" y="1436913"/>
            <a:ext cx="1168965" cy="105708"/>
          </a:xfrm>
          <a:prstGeom prst="rect">
            <a:avLst/>
          </a:prstGeom>
        </p:spPr>
        <p:txBody>
          <a:bodyPr anchor="t" rtlCol="false" tIns="0" lIns="0" bIns="0" rIns="0">
            <a:spAutoFit/>
          </a:bodyPr>
          <a:lstStyle/>
          <a:p>
            <a:pPr algn="l">
              <a:lnSpc>
                <a:spcPts val="836"/>
              </a:lnSpc>
            </a:pPr>
            <a:r>
              <a:rPr lang="en-US" sz="597" spc="0">
                <a:solidFill>
                  <a:srgbClr val="263746"/>
                </a:solidFill>
                <a:latin typeface="IBM Plex Sans"/>
                <a:ea typeface="IBM Plex Sans"/>
                <a:cs typeface="IBM Plex Sans"/>
                <a:sym typeface="IBM Plex Sans"/>
              </a:rPr>
              <a:t>MPU6050</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shock</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and</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vibration</a:t>
            </a:r>
          </a:p>
        </p:txBody>
      </p:sp>
      <p:sp>
        <p:nvSpPr>
          <p:cNvPr name="TextBox 58" id="58"/>
          <p:cNvSpPr txBox="true"/>
          <p:nvPr/>
        </p:nvSpPr>
        <p:spPr>
          <a:xfrm rot="0">
            <a:off x="1803940" y="1772764"/>
            <a:ext cx="2195151" cy="219799"/>
          </a:xfrm>
          <a:prstGeom prst="rect">
            <a:avLst/>
          </a:prstGeom>
        </p:spPr>
        <p:txBody>
          <a:bodyPr anchor="t" rtlCol="false" tIns="0" lIns="0" bIns="0" rIns="0">
            <a:spAutoFit/>
          </a:bodyPr>
          <a:lstStyle/>
          <a:p>
            <a:pPr algn="r">
              <a:lnSpc>
                <a:spcPts val="1018"/>
              </a:lnSpc>
            </a:pPr>
            <a:r>
              <a:rPr lang="en-US" b="true" sz="727" spc="-11">
                <a:solidFill>
                  <a:srgbClr val="FFFFFF"/>
                </a:solidFill>
                <a:latin typeface="IBM Plex Sans Bold"/>
                <a:ea typeface="IBM Plex Sans Bold"/>
                <a:cs typeface="IBM Plex Sans Bold"/>
                <a:sym typeface="IBM Plex Sans Bold"/>
              </a:rPr>
              <a:t>Environmental Compensation Unit — STM32F405</a:t>
            </a:r>
          </a:p>
          <a:p>
            <a:pPr algn="r">
              <a:lnSpc>
                <a:spcPts val="822"/>
              </a:lnSpc>
            </a:pPr>
            <a:r>
              <a:rPr lang="en-US" sz="587" spc="0">
                <a:solidFill>
                  <a:srgbClr val="FFFFFF"/>
                </a:solidFill>
                <a:latin typeface="IBM Plex Sans"/>
                <a:ea typeface="IBM Plex Sans"/>
                <a:cs typeface="IBM Plex Sans"/>
                <a:sym typeface="IBM Plex Sans"/>
              </a:rPr>
              <a:t>10 Hz Cycle</a:t>
            </a:r>
          </a:p>
        </p:txBody>
      </p:sp>
      <p:sp>
        <p:nvSpPr>
          <p:cNvPr name="TextBox 59" id="59"/>
          <p:cNvSpPr txBox="true"/>
          <p:nvPr/>
        </p:nvSpPr>
        <p:spPr>
          <a:xfrm rot="0">
            <a:off x="2531735" y="1923869"/>
            <a:ext cx="28908" cy="109071"/>
          </a:xfrm>
          <a:prstGeom prst="rect">
            <a:avLst/>
          </a:prstGeom>
        </p:spPr>
        <p:txBody>
          <a:bodyPr anchor="t" rtlCol="false" tIns="0" lIns="0" bIns="0" rIns="0">
            <a:spAutoFit/>
          </a:bodyPr>
          <a:lstStyle/>
          <a:p>
            <a:pPr algn="l">
              <a:lnSpc>
                <a:spcPts val="822"/>
              </a:lnSpc>
            </a:pPr>
            <a:r>
              <a:rPr lang="en-US" sz="587" spc="470">
                <a:solidFill>
                  <a:srgbClr val="FFFFFF"/>
                </a:solidFill>
                <a:latin typeface="IBM Plex Sans"/>
                <a:ea typeface="IBM Plex Sans"/>
                <a:cs typeface="IBM Plex Sans"/>
                <a:sym typeface="IBM Plex Sans"/>
              </a:rPr>
              <a:t>|</a:t>
            </a:r>
          </a:p>
        </p:txBody>
      </p:sp>
      <p:sp>
        <p:nvSpPr>
          <p:cNvPr name="TextBox 60" id="60"/>
          <p:cNvSpPr txBox="true"/>
          <p:nvPr/>
        </p:nvSpPr>
        <p:spPr>
          <a:xfrm rot="0">
            <a:off x="3496037" y="1923869"/>
            <a:ext cx="28908" cy="109071"/>
          </a:xfrm>
          <a:prstGeom prst="rect">
            <a:avLst/>
          </a:prstGeom>
        </p:spPr>
        <p:txBody>
          <a:bodyPr anchor="t" rtlCol="false" tIns="0" lIns="0" bIns="0" rIns="0">
            <a:spAutoFit/>
          </a:bodyPr>
          <a:lstStyle/>
          <a:p>
            <a:pPr algn="l">
              <a:lnSpc>
                <a:spcPts val="822"/>
              </a:lnSpc>
            </a:pPr>
            <a:r>
              <a:rPr lang="en-US" sz="587" spc="470">
                <a:solidFill>
                  <a:srgbClr val="FFFFFF"/>
                </a:solidFill>
                <a:latin typeface="IBM Plex Sans"/>
                <a:ea typeface="IBM Plex Sans"/>
                <a:cs typeface="IBM Plex Sans"/>
                <a:sym typeface="IBM Plex Sans"/>
              </a:rPr>
              <a:t>|</a:t>
            </a:r>
          </a:p>
        </p:txBody>
      </p:sp>
      <p:sp>
        <p:nvSpPr>
          <p:cNvPr name="TextBox 61" id="61"/>
          <p:cNvSpPr txBox="true"/>
          <p:nvPr/>
        </p:nvSpPr>
        <p:spPr>
          <a:xfrm rot="0">
            <a:off x="359245" y="2447992"/>
            <a:ext cx="936269" cy="192005"/>
          </a:xfrm>
          <a:prstGeom prst="rect">
            <a:avLst/>
          </a:prstGeom>
        </p:spPr>
        <p:txBody>
          <a:bodyPr anchor="t" rtlCol="false" tIns="0" lIns="0" bIns="0" rIns="0">
            <a:spAutoFit/>
          </a:bodyPr>
          <a:lstStyle/>
          <a:p>
            <a:pPr algn="ctr">
              <a:lnSpc>
                <a:spcPts val="767"/>
              </a:lnSpc>
            </a:pPr>
            <a:r>
              <a:rPr lang="en-US" sz="587" spc="0">
                <a:solidFill>
                  <a:srgbClr val="263746"/>
                </a:solidFill>
                <a:latin typeface="IBM Plex Sans"/>
                <a:ea typeface="IBM Plex Sans"/>
                <a:cs typeface="IBM Plex Sans"/>
                <a:sym typeface="IBM Plex Sans"/>
              </a:rPr>
              <a:t>Predictive</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heating</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PWM</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 cell-bypass</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balancing</a:t>
            </a:r>
          </a:p>
        </p:txBody>
      </p:sp>
      <p:sp>
        <p:nvSpPr>
          <p:cNvPr name="TextBox 62" id="62"/>
          <p:cNvSpPr txBox="true"/>
          <p:nvPr/>
        </p:nvSpPr>
        <p:spPr>
          <a:xfrm rot="0">
            <a:off x="323880" y="2646197"/>
            <a:ext cx="826122" cy="127264"/>
          </a:xfrm>
          <a:prstGeom prst="rect">
            <a:avLst/>
          </a:prstGeom>
        </p:spPr>
        <p:txBody>
          <a:bodyPr anchor="t" rtlCol="false" tIns="0" lIns="0" bIns="0" rIns="0">
            <a:spAutoFit/>
          </a:bodyPr>
          <a:lstStyle/>
          <a:p>
            <a:pPr algn="l">
              <a:lnSpc>
                <a:spcPts val="948"/>
              </a:lnSpc>
            </a:pPr>
            <a:r>
              <a:rPr lang="en-US" b="true" sz="677" spc="-11">
                <a:solidFill>
                  <a:srgbClr val="D65A32"/>
                </a:solidFill>
                <a:latin typeface="IBM Plex Sans Bold"/>
                <a:ea typeface="IBM Plex Sans Bold"/>
                <a:cs typeface="IBM Plex Sans Bold"/>
                <a:sym typeface="IBM Plex Sans Bold"/>
              </a:rPr>
              <a:t>Battery</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D65A32"/>
                </a:solidFill>
                <a:latin typeface="IBM Plex Sans Bold"/>
                <a:ea typeface="IBM Plex Sans Bold"/>
                <a:cs typeface="IBM Plex Sans Bold"/>
                <a:sym typeface="IBM Plex Sans Bold"/>
              </a:rPr>
              <a:t>Degradation</a:t>
            </a:r>
          </a:p>
        </p:txBody>
      </p:sp>
      <p:sp>
        <p:nvSpPr>
          <p:cNvPr name="TextBox 63" id="63"/>
          <p:cNvSpPr txBox="true"/>
          <p:nvPr/>
        </p:nvSpPr>
        <p:spPr>
          <a:xfrm rot="0">
            <a:off x="1809902" y="1888950"/>
            <a:ext cx="709317" cy="104108"/>
          </a:xfrm>
          <a:prstGeom prst="rect">
            <a:avLst/>
          </a:prstGeom>
        </p:spPr>
        <p:txBody>
          <a:bodyPr anchor="t" rtlCol="false" tIns="0" lIns="0" bIns="0" rIns="0">
            <a:spAutoFit/>
          </a:bodyPr>
          <a:lstStyle/>
          <a:p>
            <a:pPr algn="l">
              <a:lnSpc>
                <a:spcPts val="822"/>
              </a:lnSpc>
            </a:pPr>
            <a:r>
              <a:rPr lang="en-US" sz="587" spc="0">
                <a:solidFill>
                  <a:srgbClr val="FFFFFF"/>
                </a:solidFill>
                <a:latin typeface="IBM Plex Sans"/>
                <a:ea typeface="IBM Plex Sans"/>
                <a:cs typeface="IBM Plex Sans"/>
                <a:sym typeface="IBM Plex Sans"/>
              </a:rPr>
              <a:t>EKF State Estimator</a:t>
            </a:r>
          </a:p>
        </p:txBody>
      </p:sp>
      <p:sp>
        <p:nvSpPr>
          <p:cNvPr name="TextBox 64" id="64"/>
          <p:cNvSpPr txBox="true"/>
          <p:nvPr/>
        </p:nvSpPr>
        <p:spPr>
          <a:xfrm rot="0">
            <a:off x="1630813" y="2339102"/>
            <a:ext cx="1155316" cy="273151"/>
          </a:xfrm>
          <a:prstGeom prst="rect">
            <a:avLst/>
          </a:prstGeom>
        </p:spPr>
        <p:txBody>
          <a:bodyPr anchor="t" rtlCol="false" tIns="0" lIns="0" bIns="0" rIns="0">
            <a:spAutoFit/>
          </a:bodyPr>
          <a:lstStyle/>
          <a:p>
            <a:pPr algn="ctr">
              <a:lnSpc>
                <a:spcPts val="774"/>
              </a:lnSpc>
            </a:pPr>
            <a:r>
              <a:rPr lang="en-US" b="true" sz="600" spc="-10">
                <a:solidFill>
                  <a:srgbClr val="263746"/>
                </a:solidFill>
                <a:latin typeface="IBM Plex Sans Bold"/>
                <a:ea typeface="IBM Plex Sans Bold"/>
                <a:cs typeface="IBM Plex Sans Bold"/>
                <a:sym typeface="IBM Plex Sans Bold"/>
              </a:rPr>
              <a:t>02 Power-StageDe-rating</a:t>
            </a:r>
          </a:p>
          <a:p>
            <a:pPr algn="ctr">
              <a:lnSpc>
                <a:spcPts val="758"/>
              </a:lnSpc>
            </a:pPr>
            <a:r>
              <a:rPr lang="en-US" sz="587" spc="2">
                <a:solidFill>
                  <a:srgbClr val="263746"/>
                </a:solidFill>
                <a:latin typeface="IBM Plex Sans"/>
                <a:ea typeface="IBM Plex Sans"/>
                <a:cs typeface="IBM Plex Sans"/>
                <a:sym typeface="IBM Plex Sans"/>
              </a:rPr>
              <a:t>Pressure-aware</a:t>
            </a:r>
            <a:r>
              <a:rPr lang="en-US" sz="587" i="true" spc="2">
                <a:solidFill>
                  <a:srgbClr val="263746"/>
                </a:solidFill>
                <a:latin typeface="IBM Plex Sans Italics"/>
                <a:ea typeface="IBM Plex Sans Italics"/>
                <a:cs typeface="IBM Plex Sans Italics"/>
                <a:sym typeface="IBM Plex Sans Italics"/>
              </a:rPr>
              <a:t> dV</a:t>
            </a:r>
            <a:r>
              <a:rPr lang="en-US" sz="587" spc="2">
                <a:solidFill>
                  <a:srgbClr val="263746"/>
                </a:solidFill>
                <a:latin typeface="IBM Plex Sans"/>
                <a:ea typeface="IBM Plex Sans"/>
                <a:cs typeface="IBM Plex Sans"/>
                <a:sym typeface="IBM Plex Sans"/>
              </a:rPr>
              <a:t>/</a:t>
            </a:r>
            <a:r>
              <a:rPr lang="en-US" sz="587" i="true" spc="2">
                <a:solidFill>
                  <a:srgbClr val="263746"/>
                </a:solidFill>
                <a:latin typeface="IBM Plex Sans Italics"/>
                <a:ea typeface="IBM Plex Sans Italics"/>
                <a:cs typeface="IBM Plex Sans Italics"/>
                <a:sym typeface="IBM Plex Sans Italics"/>
              </a:rPr>
              <a:t>dt</a:t>
            </a:r>
            <a:r>
              <a:rPr lang="en-US" sz="587" spc="2">
                <a:solidFill>
                  <a:srgbClr val="263746"/>
                </a:solidFill>
                <a:latin typeface="IBM Plex Sans"/>
                <a:ea typeface="IBM Plex Sans"/>
                <a:cs typeface="IBM Plex Sans"/>
                <a:sym typeface="IBM Plex Sans"/>
              </a:rPr>
              <a:t>, dead time and load limits</a:t>
            </a:r>
          </a:p>
        </p:txBody>
      </p:sp>
      <p:sp>
        <p:nvSpPr>
          <p:cNvPr name="TextBox 65" id="65"/>
          <p:cNvSpPr txBox="true"/>
          <p:nvPr/>
        </p:nvSpPr>
        <p:spPr>
          <a:xfrm rot="0">
            <a:off x="1711266" y="2639701"/>
            <a:ext cx="994410" cy="164049"/>
          </a:xfrm>
          <a:prstGeom prst="rect">
            <a:avLst/>
          </a:prstGeom>
        </p:spPr>
        <p:txBody>
          <a:bodyPr anchor="t" rtlCol="false" tIns="0" lIns="0" bIns="0" rIns="0">
            <a:spAutoFit/>
          </a:bodyPr>
          <a:lstStyle/>
          <a:p>
            <a:pPr algn="l">
              <a:lnSpc>
                <a:spcPts val="948"/>
              </a:lnSpc>
            </a:pPr>
            <a:r>
              <a:rPr lang="en-US" sz="677" spc="-11">
                <a:solidFill>
                  <a:srgbClr val="D65A32"/>
                </a:solidFill>
                <a:latin typeface="IBM Plex Sans"/>
                <a:ea typeface="IBM Plex Sans"/>
                <a:cs typeface="IBM Plex Sans"/>
                <a:sym typeface="IBM Plex Sans"/>
              </a:rPr>
              <a:t>→</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D65A32"/>
                </a:solidFill>
                <a:latin typeface="IBM Plex Sans Bold"/>
                <a:ea typeface="IBM Plex Sans Bold"/>
                <a:cs typeface="IBM Plex Sans Bold"/>
                <a:sym typeface="IBM Plex Sans Bold"/>
              </a:rPr>
              <a:t>Insulation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D65A32"/>
                </a:solidFill>
                <a:latin typeface="IBM Plex Sans Bold"/>
                <a:ea typeface="IBM Plex Sans Bold"/>
                <a:cs typeface="IBM Plex Sans Bold"/>
                <a:sym typeface="IBM Plex Sans Bold"/>
              </a:rPr>
              <a:t>Breakdown</a:t>
            </a:r>
          </a:p>
        </p:txBody>
      </p:sp>
      <p:sp>
        <p:nvSpPr>
          <p:cNvPr name="TextBox 66" id="66"/>
          <p:cNvSpPr txBox="true"/>
          <p:nvPr/>
        </p:nvSpPr>
        <p:spPr>
          <a:xfrm rot="0">
            <a:off x="2586504" y="1888950"/>
            <a:ext cx="900694" cy="104108"/>
          </a:xfrm>
          <a:prstGeom prst="rect">
            <a:avLst/>
          </a:prstGeom>
        </p:spPr>
        <p:txBody>
          <a:bodyPr anchor="t" rtlCol="false" tIns="0" lIns="0" bIns="0" rIns="0">
            <a:spAutoFit/>
          </a:bodyPr>
          <a:lstStyle/>
          <a:p>
            <a:pPr algn="l">
              <a:lnSpc>
                <a:spcPts val="822"/>
              </a:lnSpc>
            </a:pPr>
            <a:r>
              <a:rPr lang="en-US" sz="587">
                <a:solidFill>
                  <a:srgbClr val="FFFFFF"/>
                </a:solidFill>
                <a:latin typeface="IBM Plex Sans"/>
                <a:ea typeface="IBM Plex Sans"/>
                <a:cs typeface="IBM Plex Sans"/>
                <a:sym typeface="IBM Plex Sans"/>
              </a:rPr>
              <a:t>Closed-Loop Control Logic</a:t>
            </a:r>
          </a:p>
        </p:txBody>
      </p:sp>
      <p:sp>
        <p:nvSpPr>
          <p:cNvPr name="TextBox 67" id="67"/>
          <p:cNvSpPr txBox="true"/>
          <p:nvPr/>
        </p:nvSpPr>
        <p:spPr>
          <a:xfrm rot="0">
            <a:off x="3054172" y="2447992"/>
            <a:ext cx="1064704" cy="192005"/>
          </a:xfrm>
          <a:prstGeom prst="rect">
            <a:avLst/>
          </a:prstGeom>
        </p:spPr>
        <p:txBody>
          <a:bodyPr anchor="t" rtlCol="false" tIns="0" lIns="0" bIns="0" rIns="0">
            <a:spAutoFit/>
          </a:bodyPr>
          <a:lstStyle/>
          <a:p>
            <a:pPr algn="ctr">
              <a:lnSpc>
                <a:spcPts val="767"/>
              </a:lnSpc>
            </a:pPr>
            <a:r>
              <a:rPr lang="en-US" sz="587" spc="0">
                <a:solidFill>
                  <a:srgbClr val="263746"/>
                </a:solidFill>
                <a:latin typeface="IBM Plex Sans"/>
                <a:ea typeface="IBM Plex Sans"/>
                <a:cs typeface="IBM Plex Sans"/>
                <a:sym typeface="IBM Plex Sans"/>
              </a:rPr>
              <a:t>Feedback-controlled,</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low-power resistive</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heating</a:t>
            </a:r>
          </a:p>
        </p:txBody>
      </p:sp>
      <p:sp>
        <p:nvSpPr>
          <p:cNvPr name="TextBox 68" id="68"/>
          <p:cNvSpPr txBox="true"/>
          <p:nvPr/>
        </p:nvSpPr>
        <p:spPr>
          <a:xfrm rot="0">
            <a:off x="3109803" y="2609412"/>
            <a:ext cx="953443" cy="164049"/>
          </a:xfrm>
          <a:prstGeom prst="rect">
            <a:avLst/>
          </a:prstGeom>
        </p:spPr>
        <p:txBody>
          <a:bodyPr anchor="t" rtlCol="false" tIns="0" lIns="0" bIns="0" rIns="0">
            <a:spAutoFit/>
          </a:bodyPr>
          <a:lstStyle/>
          <a:p>
            <a:pPr algn="l">
              <a:lnSpc>
                <a:spcPts val="948"/>
              </a:lnSpc>
            </a:pPr>
            <a:r>
              <a:rPr lang="en-US" sz="677" spc="-11">
                <a:solidFill>
                  <a:srgbClr val="D65A32"/>
                </a:solidFill>
                <a:latin typeface="IBM Plex Sans"/>
                <a:ea typeface="IBM Plex Sans"/>
                <a:cs typeface="IBM Plex Sans"/>
                <a:sym typeface="IBM Plex Sans"/>
              </a:rPr>
              <a:t>→</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D65A32"/>
                </a:solidFill>
                <a:latin typeface="IBM Plex Sans Bold"/>
                <a:ea typeface="IBM Plex Sans Bold"/>
                <a:cs typeface="IBM Plex Sans Bold"/>
                <a:sym typeface="IBM Plex Sans Bold"/>
              </a:rPr>
              <a:t>Comms</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D65A32"/>
                </a:solidFill>
                <a:latin typeface="IBM Plex Sans Bold"/>
                <a:ea typeface="IBM Plex Sans Bold"/>
                <a:cs typeface="IBM Plex Sans Bold"/>
                <a:sym typeface="IBM Plex Sans Bold"/>
              </a:rPr>
              <a:t>Degradation</a:t>
            </a:r>
          </a:p>
        </p:txBody>
      </p:sp>
      <p:sp>
        <p:nvSpPr>
          <p:cNvPr name="TextBox 69" id="69"/>
          <p:cNvSpPr txBox="true"/>
          <p:nvPr/>
        </p:nvSpPr>
        <p:spPr>
          <a:xfrm rot="0">
            <a:off x="4464996" y="2329577"/>
            <a:ext cx="999668" cy="310467"/>
          </a:xfrm>
          <a:prstGeom prst="rect">
            <a:avLst/>
          </a:prstGeom>
        </p:spPr>
        <p:txBody>
          <a:bodyPr anchor="t" rtlCol="false" tIns="0" lIns="0" bIns="0" rIns="0">
            <a:spAutoFit/>
          </a:bodyPr>
          <a:lstStyle/>
          <a:p>
            <a:pPr algn="ctr">
              <a:lnSpc>
                <a:spcPts val="873"/>
              </a:lnSpc>
            </a:pPr>
            <a:r>
              <a:rPr lang="en-US" b="true" sz="677" spc="-11">
                <a:solidFill>
                  <a:srgbClr val="263746"/>
                </a:solidFill>
                <a:latin typeface="IBM Plex Sans Bold"/>
                <a:ea typeface="IBM Plex Sans Bold"/>
                <a:cs typeface="IBM Plex Sans Bold"/>
                <a:sym typeface="IBM Plex Sans Bold"/>
              </a:rPr>
              <a:t>04 FatigueLogger</a:t>
            </a:r>
          </a:p>
          <a:p>
            <a:pPr algn="ctr">
              <a:lnSpc>
                <a:spcPts val="758"/>
              </a:lnSpc>
            </a:pPr>
            <a:r>
              <a:rPr lang="en-US" sz="587" spc="0">
                <a:solidFill>
                  <a:srgbClr val="263746"/>
                </a:solidFill>
                <a:latin typeface="IBM Plex Sans"/>
                <a:ea typeface="IBM Plex Sans"/>
                <a:cs typeface="IBM Plex Sans"/>
                <a:sym typeface="IBM Plex Sans"/>
              </a:rPr>
              <a:t>Cumulative damage model + maintenance alerts</a:t>
            </a:r>
          </a:p>
        </p:txBody>
      </p:sp>
      <p:sp>
        <p:nvSpPr>
          <p:cNvPr name="TextBox 70" id="70"/>
          <p:cNvSpPr txBox="true"/>
          <p:nvPr/>
        </p:nvSpPr>
        <p:spPr>
          <a:xfrm rot="0">
            <a:off x="4623616" y="2627805"/>
            <a:ext cx="657549" cy="127264"/>
          </a:xfrm>
          <a:prstGeom prst="rect">
            <a:avLst/>
          </a:prstGeom>
        </p:spPr>
        <p:txBody>
          <a:bodyPr anchor="t" rtlCol="false" tIns="0" lIns="0" bIns="0" rIns="0">
            <a:spAutoFit/>
          </a:bodyPr>
          <a:lstStyle/>
          <a:p>
            <a:pPr algn="l">
              <a:lnSpc>
                <a:spcPts val="948"/>
              </a:lnSpc>
            </a:pPr>
            <a:r>
              <a:rPr lang="en-US" b="true" sz="677" spc="-11">
                <a:solidFill>
                  <a:srgbClr val="D65A32"/>
                </a:solidFill>
                <a:latin typeface="IBM Plex Sans Bold"/>
                <a:ea typeface="IBM Plex Sans Bold"/>
                <a:cs typeface="IBM Plex Sans Bold"/>
                <a:sym typeface="IBM Plex Sans Bold"/>
              </a:rPr>
              <a:t>Thermal</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D65A32"/>
                </a:solidFill>
                <a:latin typeface="IBM Plex Sans Bold"/>
                <a:ea typeface="IBM Plex Sans Bold"/>
                <a:cs typeface="IBM Plex Sans Bold"/>
                <a:sym typeface="IBM Plex Sans Bold"/>
              </a:rPr>
              <a:t>Cycling</a:t>
            </a:r>
          </a:p>
        </p:txBody>
      </p:sp>
      <p:sp>
        <p:nvSpPr>
          <p:cNvPr name="TextBox 71" id="71"/>
          <p:cNvSpPr txBox="true"/>
          <p:nvPr/>
        </p:nvSpPr>
        <p:spPr>
          <a:xfrm rot="0">
            <a:off x="216999" y="2639701"/>
            <a:ext cx="99946" cy="133760"/>
          </a:xfrm>
          <a:prstGeom prst="rect">
            <a:avLst/>
          </a:prstGeom>
        </p:spPr>
        <p:txBody>
          <a:bodyPr anchor="t" rtlCol="false" tIns="0" lIns="0" bIns="0" rIns="0">
            <a:spAutoFit/>
          </a:bodyPr>
          <a:lstStyle/>
          <a:p>
            <a:pPr algn="l">
              <a:lnSpc>
                <a:spcPts val="948"/>
              </a:lnSpc>
            </a:pPr>
            <a:r>
              <a:rPr lang="en-US" sz="677" spc="215">
                <a:solidFill>
                  <a:srgbClr val="D65A32"/>
                </a:solidFill>
                <a:latin typeface="IBM Plex Sans"/>
                <a:ea typeface="IBM Plex Sans"/>
                <a:cs typeface="IBM Plex Sans"/>
                <a:sym typeface="IBM Plex Sans"/>
              </a:rPr>
              <a:t>→</a:t>
            </a:r>
          </a:p>
        </p:txBody>
      </p:sp>
      <p:sp>
        <p:nvSpPr>
          <p:cNvPr name="TextBox 72" id="72"/>
          <p:cNvSpPr txBox="true"/>
          <p:nvPr/>
        </p:nvSpPr>
        <p:spPr>
          <a:xfrm rot="0">
            <a:off x="4488385" y="2624557"/>
            <a:ext cx="99946" cy="133760"/>
          </a:xfrm>
          <a:prstGeom prst="rect">
            <a:avLst/>
          </a:prstGeom>
        </p:spPr>
        <p:txBody>
          <a:bodyPr anchor="t" rtlCol="false" tIns="0" lIns="0" bIns="0" rIns="0">
            <a:spAutoFit/>
          </a:bodyPr>
          <a:lstStyle/>
          <a:p>
            <a:pPr algn="l">
              <a:lnSpc>
                <a:spcPts val="948"/>
              </a:lnSpc>
            </a:pPr>
            <a:r>
              <a:rPr lang="en-US" sz="677" spc="215">
                <a:solidFill>
                  <a:srgbClr val="D65A32"/>
                </a:solidFill>
                <a:latin typeface="IBM Plex Sans"/>
                <a:ea typeface="IBM Plex Sans"/>
                <a:cs typeface="IBM Plex Sans"/>
                <a:sym typeface="IBM Plex Sans"/>
              </a:rPr>
              <a:t>→</a:t>
            </a:r>
          </a:p>
        </p:txBody>
      </p:sp>
      <p:sp>
        <p:nvSpPr>
          <p:cNvPr name="TextBox 73" id="73"/>
          <p:cNvSpPr txBox="true"/>
          <p:nvPr/>
        </p:nvSpPr>
        <p:spPr>
          <a:xfrm rot="0">
            <a:off x="2410196" y="3120009"/>
            <a:ext cx="958386" cy="92888"/>
          </a:xfrm>
          <a:prstGeom prst="rect">
            <a:avLst/>
          </a:prstGeom>
        </p:spPr>
        <p:txBody>
          <a:bodyPr anchor="t" rtlCol="false" tIns="0" lIns="0" bIns="0" rIns="0">
            <a:spAutoFit/>
          </a:bodyPr>
          <a:lstStyle/>
          <a:p>
            <a:pPr algn="l">
              <a:lnSpc>
                <a:spcPts val="725"/>
              </a:lnSpc>
            </a:pPr>
            <a:r>
              <a:rPr lang="en-US" sz="518" spc="0">
                <a:solidFill>
                  <a:srgbClr val="FFFFFF"/>
                </a:solidFill>
                <a:latin typeface="IBM Plex Sans"/>
                <a:ea typeface="IBM Plex Sans"/>
                <a:cs typeface="IBM Plex Sans"/>
                <a:sym typeface="IBM Plex Sans"/>
              </a:rPr>
              <a:t>@SIH Idea submission–Template</a:t>
            </a:r>
          </a:p>
        </p:txBody>
      </p:sp>
      <p:sp>
        <p:nvSpPr>
          <p:cNvPr name="TextBox 74" id="74"/>
          <p:cNvSpPr txBox="true"/>
          <p:nvPr/>
        </p:nvSpPr>
        <p:spPr>
          <a:xfrm rot="0">
            <a:off x="5511384" y="3110865"/>
            <a:ext cx="49682" cy="120920"/>
          </a:xfrm>
          <a:prstGeom prst="rect">
            <a:avLst/>
          </a:prstGeom>
        </p:spPr>
        <p:txBody>
          <a:bodyPr anchor="t" rtlCol="false" tIns="0" lIns="0" bIns="0" rIns="0">
            <a:spAutoFit/>
          </a:bodyPr>
          <a:lstStyle/>
          <a:p>
            <a:pPr algn="l">
              <a:lnSpc>
                <a:spcPts val="976"/>
              </a:lnSpc>
            </a:pPr>
            <a:r>
              <a:rPr lang="en-US" b="true" sz="697" spc="-11">
                <a:solidFill>
                  <a:srgbClr val="FFFFFF"/>
                </a:solidFill>
                <a:latin typeface="IBM Plex Sans Bold"/>
                <a:ea typeface="IBM Plex Sans Bold"/>
                <a:cs typeface="IBM Plex Sans Bold"/>
                <a:sym typeface="IBM Plex Sans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504" y="113500"/>
            <a:ext cx="425196" cy="201987"/>
            <a:chOff x="0" y="0"/>
            <a:chExt cx="425196" cy="201994"/>
          </a:xfrm>
        </p:grpSpPr>
        <p:sp>
          <p:nvSpPr>
            <p:cNvPr name="Freeform 3" id="3"/>
            <p:cNvSpPr/>
            <p:nvPr/>
          </p:nvSpPr>
          <p:spPr>
            <a:xfrm flipH="false" flipV="false" rot="0">
              <a:off x="0" y="0"/>
              <a:ext cx="425194" cy="201932"/>
            </a:xfrm>
            <a:custGeom>
              <a:avLst/>
              <a:gdLst/>
              <a:ahLst/>
              <a:cxnLst/>
              <a:rect r="r" b="b" t="t" l="l"/>
              <a:pathLst>
                <a:path h="201932" w="425194">
                  <a:moveTo>
                    <a:pt x="396111" y="7620"/>
                  </a:moveTo>
                  <a:lnTo>
                    <a:pt x="29083" y="7620"/>
                  </a:lnTo>
                  <a:lnTo>
                    <a:pt x="29083" y="3810"/>
                  </a:lnTo>
                  <a:lnTo>
                    <a:pt x="29083" y="7620"/>
                  </a:lnTo>
                  <a:cubicBezTo>
                    <a:pt x="17272" y="7620"/>
                    <a:pt x="7620" y="17272"/>
                    <a:pt x="7620" y="29083"/>
                  </a:cubicBezTo>
                  <a:lnTo>
                    <a:pt x="3810" y="29083"/>
                  </a:lnTo>
                  <a:lnTo>
                    <a:pt x="7620" y="29083"/>
                  </a:lnTo>
                  <a:lnTo>
                    <a:pt x="7620" y="172849"/>
                  </a:lnTo>
                  <a:lnTo>
                    <a:pt x="3810" y="172849"/>
                  </a:lnTo>
                  <a:lnTo>
                    <a:pt x="7620" y="172849"/>
                  </a:lnTo>
                  <a:cubicBezTo>
                    <a:pt x="7620" y="184787"/>
                    <a:pt x="17272" y="194312"/>
                    <a:pt x="29083" y="194312"/>
                  </a:cubicBezTo>
                  <a:lnTo>
                    <a:pt x="29083" y="198122"/>
                  </a:lnTo>
                  <a:lnTo>
                    <a:pt x="29083" y="194312"/>
                  </a:lnTo>
                  <a:lnTo>
                    <a:pt x="396111" y="194312"/>
                  </a:lnTo>
                  <a:lnTo>
                    <a:pt x="396111" y="198122"/>
                  </a:lnTo>
                  <a:lnTo>
                    <a:pt x="396111" y="194312"/>
                  </a:lnTo>
                  <a:cubicBezTo>
                    <a:pt x="408049" y="194312"/>
                    <a:pt x="417574" y="184660"/>
                    <a:pt x="417574" y="172849"/>
                  </a:cubicBezTo>
                  <a:lnTo>
                    <a:pt x="421384" y="172849"/>
                  </a:lnTo>
                  <a:lnTo>
                    <a:pt x="417574" y="172849"/>
                  </a:lnTo>
                  <a:lnTo>
                    <a:pt x="417574" y="29083"/>
                  </a:lnTo>
                  <a:lnTo>
                    <a:pt x="421384" y="29083"/>
                  </a:lnTo>
                  <a:lnTo>
                    <a:pt x="417574" y="29083"/>
                  </a:lnTo>
                  <a:cubicBezTo>
                    <a:pt x="417574" y="17145"/>
                    <a:pt x="407922" y="7620"/>
                    <a:pt x="396111" y="7620"/>
                  </a:cubicBezTo>
                  <a:lnTo>
                    <a:pt x="396111" y="3810"/>
                  </a:lnTo>
                  <a:lnTo>
                    <a:pt x="396111" y="7620"/>
                  </a:lnTo>
                  <a:moveTo>
                    <a:pt x="396111" y="0"/>
                  </a:moveTo>
                  <a:cubicBezTo>
                    <a:pt x="412240" y="0"/>
                    <a:pt x="425194" y="13081"/>
                    <a:pt x="425194" y="29083"/>
                  </a:cubicBezTo>
                  <a:lnTo>
                    <a:pt x="425194" y="172849"/>
                  </a:lnTo>
                  <a:cubicBezTo>
                    <a:pt x="425194" y="188978"/>
                    <a:pt x="412113" y="201932"/>
                    <a:pt x="396111" y="201932"/>
                  </a:cubicBezTo>
                  <a:lnTo>
                    <a:pt x="29083" y="201932"/>
                  </a:lnTo>
                  <a:cubicBezTo>
                    <a:pt x="13081" y="201932"/>
                    <a:pt x="0" y="188978"/>
                    <a:pt x="0" y="172849"/>
                  </a:cubicBezTo>
                  <a:lnTo>
                    <a:pt x="0" y="29083"/>
                  </a:lnTo>
                  <a:cubicBezTo>
                    <a:pt x="0" y="13081"/>
                    <a:pt x="13081" y="0"/>
                    <a:pt x="29083" y="0"/>
                  </a:cubicBezTo>
                  <a:lnTo>
                    <a:pt x="396111" y="0"/>
                  </a:lnTo>
                  <a:close/>
                </a:path>
              </a:pathLst>
            </a:custGeom>
            <a:solidFill>
              <a:srgbClr val="70419B"/>
            </a:solidFill>
          </p:spPr>
        </p:sp>
      </p:grpSp>
      <p:grpSp>
        <p:nvGrpSpPr>
          <p:cNvPr name="Group 4" id="4"/>
          <p:cNvGrpSpPr/>
          <p:nvPr/>
        </p:nvGrpSpPr>
        <p:grpSpPr>
          <a:xfrm rot="0">
            <a:off x="4854483" y="77495"/>
            <a:ext cx="755990" cy="356483"/>
            <a:chOff x="0" y="0"/>
            <a:chExt cx="1007986" cy="475310"/>
          </a:xfrm>
        </p:grpSpPr>
        <p:sp>
          <p:nvSpPr>
            <p:cNvPr name="Freeform 5" id="5"/>
            <p:cNvSpPr/>
            <p:nvPr/>
          </p:nvSpPr>
          <p:spPr>
            <a:xfrm flipH="false" flipV="false" rot="0">
              <a:off x="0" y="0"/>
              <a:ext cx="1007999" cy="475361"/>
            </a:xfrm>
            <a:custGeom>
              <a:avLst/>
              <a:gdLst/>
              <a:ahLst/>
              <a:cxnLst/>
              <a:rect r="r" b="b" t="t" l="l"/>
              <a:pathLst>
                <a:path h="475361" w="1007999">
                  <a:moveTo>
                    <a:pt x="0" y="0"/>
                  </a:moveTo>
                  <a:lnTo>
                    <a:pt x="1007999" y="0"/>
                  </a:lnTo>
                  <a:lnTo>
                    <a:pt x="1007999" y="475361"/>
                  </a:lnTo>
                  <a:lnTo>
                    <a:pt x="0" y="475361"/>
                  </a:lnTo>
                  <a:lnTo>
                    <a:pt x="0" y="0"/>
                  </a:lnTo>
                  <a:close/>
                </a:path>
              </a:pathLst>
            </a:custGeom>
            <a:blipFill>
              <a:blip r:embed="rId2"/>
              <a:stretch>
                <a:fillRect l="0" t="0" r="1" b="10"/>
              </a:stretch>
            </a:blipFill>
          </p:spPr>
        </p:sp>
      </p:grpSp>
      <p:grpSp>
        <p:nvGrpSpPr>
          <p:cNvPr name="Group 6" id="6"/>
          <p:cNvGrpSpPr/>
          <p:nvPr/>
        </p:nvGrpSpPr>
        <p:grpSpPr>
          <a:xfrm rot="0">
            <a:off x="-8" y="3124800"/>
            <a:ext cx="5760072" cy="115205"/>
            <a:chOff x="0" y="0"/>
            <a:chExt cx="5760072" cy="115202"/>
          </a:xfrm>
        </p:grpSpPr>
        <p:sp>
          <p:nvSpPr>
            <p:cNvPr name="Freeform 7" id="7"/>
            <p:cNvSpPr/>
            <p:nvPr/>
          </p:nvSpPr>
          <p:spPr>
            <a:xfrm flipH="false" flipV="false" rot="0">
              <a:off x="0" y="0"/>
              <a:ext cx="5760083" cy="115186"/>
            </a:xfrm>
            <a:custGeom>
              <a:avLst/>
              <a:gdLst/>
              <a:ahLst/>
              <a:cxnLst/>
              <a:rect r="r" b="b" t="t" l="l"/>
              <a:pathLst>
                <a:path h="115186" w="5760083">
                  <a:moveTo>
                    <a:pt x="0" y="115186"/>
                  </a:moveTo>
                  <a:lnTo>
                    <a:pt x="0" y="0"/>
                  </a:lnTo>
                  <a:lnTo>
                    <a:pt x="5760083" y="0"/>
                  </a:lnTo>
                  <a:lnTo>
                    <a:pt x="5760083" y="115186"/>
                  </a:lnTo>
                  <a:close/>
                </a:path>
              </a:pathLst>
            </a:custGeom>
            <a:solidFill>
              <a:srgbClr val="087CC1"/>
            </a:solidFill>
          </p:spPr>
        </p:sp>
      </p:grpSp>
      <p:grpSp>
        <p:nvGrpSpPr>
          <p:cNvPr name="Group 8" id="8"/>
          <p:cNvGrpSpPr/>
          <p:nvPr/>
        </p:nvGrpSpPr>
        <p:grpSpPr>
          <a:xfrm rot="0">
            <a:off x="87668" y="796890"/>
            <a:ext cx="5584631" cy="963501"/>
            <a:chOff x="0" y="0"/>
            <a:chExt cx="5584634" cy="963498"/>
          </a:xfrm>
        </p:grpSpPr>
        <p:sp>
          <p:nvSpPr>
            <p:cNvPr name="Freeform 9" id="9"/>
            <p:cNvSpPr/>
            <p:nvPr/>
          </p:nvSpPr>
          <p:spPr>
            <a:xfrm flipH="false" flipV="false" rot="0">
              <a:off x="66040" y="66040"/>
              <a:ext cx="5379213" cy="365377"/>
            </a:xfrm>
            <a:custGeom>
              <a:avLst/>
              <a:gdLst/>
              <a:ahLst/>
              <a:cxnLst/>
              <a:rect r="r" b="b" t="t" l="l"/>
              <a:pathLst>
                <a:path h="365377" w="5379213">
                  <a:moveTo>
                    <a:pt x="5353940" y="0"/>
                  </a:moveTo>
                  <a:lnTo>
                    <a:pt x="25273" y="0"/>
                  </a:lnTo>
                  <a:cubicBezTo>
                    <a:pt x="11303" y="0"/>
                    <a:pt x="0" y="11303"/>
                    <a:pt x="0" y="25273"/>
                  </a:cubicBezTo>
                  <a:lnTo>
                    <a:pt x="0" y="340104"/>
                  </a:lnTo>
                  <a:cubicBezTo>
                    <a:pt x="0" y="354074"/>
                    <a:pt x="11303" y="365377"/>
                    <a:pt x="25273" y="365377"/>
                  </a:cubicBezTo>
                  <a:lnTo>
                    <a:pt x="5353940" y="365377"/>
                  </a:lnTo>
                  <a:cubicBezTo>
                    <a:pt x="5367910" y="365377"/>
                    <a:pt x="5379213" y="354074"/>
                    <a:pt x="5379213" y="340104"/>
                  </a:cubicBezTo>
                  <a:lnTo>
                    <a:pt x="5379213" y="25273"/>
                  </a:lnTo>
                  <a:cubicBezTo>
                    <a:pt x="5379213" y="11303"/>
                    <a:pt x="5367910" y="0"/>
                    <a:pt x="5353940" y="0"/>
                  </a:cubicBezTo>
                  <a:close/>
                </a:path>
              </a:pathLst>
            </a:custGeom>
            <a:solidFill>
              <a:srgbClr val="74B996"/>
            </a:solidFill>
          </p:spPr>
        </p:sp>
        <p:sp>
          <p:nvSpPr>
            <p:cNvPr name="Freeform 10" id="10"/>
            <p:cNvSpPr/>
            <p:nvPr/>
          </p:nvSpPr>
          <p:spPr>
            <a:xfrm flipH="false" flipV="false" rot="0">
              <a:off x="63500" y="63500"/>
              <a:ext cx="5384293" cy="370457"/>
            </a:xfrm>
            <a:custGeom>
              <a:avLst/>
              <a:gdLst/>
              <a:ahLst/>
              <a:cxnLst/>
              <a:rect r="r" b="b" t="t" l="l"/>
              <a:pathLst>
                <a:path h="370457" w="5384293">
                  <a:moveTo>
                    <a:pt x="5356480" y="5080"/>
                  </a:moveTo>
                  <a:lnTo>
                    <a:pt x="27813" y="5080"/>
                  </a:lnTo>
                  <a:lnTo>
                    <a:pt x="27813" y="2540"/>
                  </a:lnTo>
                  <a:lnTo>
                    <a:pt x="27813" y="5080"/>
                  </a:lnTo>
                  <a:cubicBezTo>
                    <a:pt x="15240" y="5080"/>
                    <a:pt x="5080" y="15240"/>
                    <a:pt x="5080" y="27813"/>
                  </a:cubicBezTo>
                  <a:lnTo>
                    <a:pt x="2540" y="27813"/>
                  </a:lnTo>
                  <a:lnTo>
                    <a:pt x="5080" y="27813"/>
                  </a:lnTo>
                  <a:lnTo>
                    <a:pt x="5080" y="342644"/>
                  </a:lnTo>
                  <a:lnTo>
                    <a:pt x="2540" y="342644"/>
                  </a:lnTo>
                  <a:lnTo>
                    <a:pt x="5080" y="342644"/>
                  </a:lnTo>
                  <a:cubicBezTo>
                    <a:pt x="5080" y="355217"/>
                    <a:pt x="15240" y="365377"/>
                    <a:pt x="27813" y="365377"/>
                  </a:cubicBezTo>
                  <a:lnTo>
                    <a:pt x="27813" y="367917"/>
                  </a:lnTo>
                  <a:lnTo>
                    <a:pt x="27813" y="365377"/>
                  </a:lnTo>
                  <a:lnTo>
                    <a:pt x="5356480" y="365377"/>
                  </a:lnTo>
                  <a:lnTo>
                    <a:pt x="5356480" y="367917"/>
                  </a:lnTo>
                  <a:lnTo>
                    <a:pt x="5356480" y="365377"/>
                  </a:lnTo>
                  <a:cubicBezTo>
                    <a:pt x="5369053" y="365377"/>
                    <a:pt x="5379213" y="355217"/>
                    <a:pt x="5379213" y="342644"/>
                  </a:cubicBezTo>
                  <a:lnTo>
                    <a:pt x="5381753" y="342644"/>
                  </a:lnTo>
                  <a:lnTo>
                    <a:pt x="5379213" y="342644"/>
                  </a:lnTo>
                  <a:lnTo>
                    <a:pt x="5379213" y="27813"/>
                  </a:lnTo>
                  <a:lnTo>
                    <a:pt x="5381753" y="27813"/>
                  </a:lnTo>
                  <a:lnTo>
                    <a:pt x="5379213" y="27813"/>
                  </a:lnTo>
                  <a:cubicBezTo>
                    <a:pt x="5379213" y="15240"/>
                    <a:pt x="5369053" y="5080"/>
                    <a:pt x="5356480" y="5080"/>
                  </a:cubicBezTo>
                  <a:lnTo>
                    <a:pt x="5356480" y="2540"/>
                  </a:lnTo>
                  <a:lnTo>
                    <a:pt x="5356480" y="5080"/>
                  </a:lnTo>
                  <a:moveTo>
                    <a:pt x="5356480" y="0"/>
                  </a:moveTo>
                  <a:cubicBezTo>
                    <a:pt x="5371847" y="0"/>
                    <a:pt x="5384293" y="12446"/>
                    <a:pt x="5384293" y="27813"/>
                  </a:cubicBezTo>
                  <a:lnTo>
                    <a:pt x="5384293" y="342644"/>
                  </a:lnTo>
                  <a:cubicBezTo>
                    <a:pt x="5384293" y="358011"/>
                    <a:pt x="5371847" y="370457"/>
                    <a:pt x="5356480" y="370457"/>
                  </a:cubicBezTo>
                  <a:lnTo>
                    <a:pt x="27813" y="370457"/>
                  </a:lnTo>
                  <a:cubicBezTo>
                    <a:pt x="12446" y="370457"/>
                    <a:pt x="0" y="358011"/>
                    <a:pt x="0" y="342644"/>
                  </a:cubicBezTo>
                  <a:lnTo>
                    <a:pt x="0" y="27813"/>
                  </a:lnTo>
                  <a:cubicBezTo>
                    <a:pt x="0" y="12446"/>
                    <a:pt x="12446" y="0"/>
                    <a:pt x="27813" y="0"/>
                  </a:cubicBezTo>
                  <a:lnTo>
                    <a:pt x="5356480" y="0"/>
                  </a:lnTo>
                  <a:close/>
                </a:path>
              </a:pathLst>
            </a:custGeom>
            <a:solidFill>
              <a:srgbClr val="90C4E3"/>
            </a:solidFill>
          </p:spPr>
        </p:sp>
        <p:sp>
          <p:nvSpPr>
            <p:cNvPr name="Freeform 11" id="11"/>
            <p:cNvSpPr/>
            <p:nvPr/>
          </p:nvSpPr>
          <p:spPr>
            <a:xfrm flipH="false" flipV="false" rot="0">
              <a:off x="63500" y="554606"/>
              <a:ext cx="2239899" cy="172719"/>
            </a:xfrm>
            <a:custGeom>
              <a:avLst/>
              <a:gdLst/>
              <a:ahLst/>
              <a:cxnLst/>
              <a:rect r="r" b="b" t="t" l="l"/>
              <a:pathLst>
                <a:path h="172719" w="2239899">
                  <a:moveTo>
                    <a:pt x="0" y="172719"/>
                  </a:moveTo>
                  <a:lnTo>
                    <a:pt x="2239899" y="172719"/>
                  </a:lnTo>
                  <a:lnTo>
                    <a:pt x="2239899" y="0"/>
                  </a:lnTo>
                  <a:lnTo>
                    <a:pt x="0" y="0"/>
                  </a:lnTo>
                  <a:close/>
                </a:path>
              </a:pathLst>
            </a:custGeom>
            <a:solidFill>
              <a:srgbClr val="087CC1"/>
            </a:solidFill>
          </p:spPr>
        </p:sp>
        <p:sp>
          <p:nvSpPr>
            <p:cNvPr name="Freeform 12" id="12"/>
            <p:cNvSpPr/>
            <p:nvPr/>
          </p:nvSpPr>
          <p:spPr>
            <a:xfrm flipH="false" flipV="false" rot="0">
              <a:off x="2303399" y="554606"/>
              <a:ext cx="3217673" cy="172719"/>
            </a:xfrm>
            <a:custGeom>
              <a:avLst/>
              <a:gdLst/>
              <a:ahLst/>
              <a:cxnLst/>
              <a:rect r="r" b="b" t="t" l="l"/>
              <a:pathLst>
                <a:path h="172719" w="3217673">
                  <a:moveTo>
                    <a:pt x="0" y="172719"/>
                  </a:moveTo>
                  <a:lnTo>
                    <a:pt x="3217673" y="172719"/>
                  </a:lnTo>
                  <a:lnTo>
                    <a:pt x="3217673" y="0"/>
                  </a:lnTo>
                  <a:lnTo>
                    <a:pt x="0" y="0"/>
                  </a:lnTo>
                  <a:close/>
                </a:path>
              </a:pathLst>
            </a:custGeom>
            <a:solidFill>
              <a:srgbClr val="087CC1"/>
            </a:solidFill>
          </p:spPr>
        </p:sp>
        <p:sp>
          <p:nvSpPr>
            <p:cNvPr name="Freeform 13" id="13"/>
            <p:cNvSpPr/>
            <p:nvPr/>
          </p:nvSpPr>
          <p:spPr>
            <a:xfrm flipH="false" flipV="false" rot="0">
              <a:off x="63500" y="727325"/>
              <a:ext cx="2239899" cy="172719"/>
            </a:xfrm>
            <a:custGeom>
              <a:avLst/>
              <a:gdLst/>
              <a:ahLst/>
              <a:cxnLst/>
              <a:rect r="r" b="b" t="t" l="l"/>
              <a:pathLst>
                <a:path h="172719" w="2239899">
                  <a:moveTo>
                    <a:pt x="0" y="172720"/>
                  </a:moveTo>
                  <a:lnTo>
                    <a:pt x="2239899" y="172720"/>
                  </a:lnTo>
                  <a:lnTo>
                    <a:pt x="2239899" y="0"/>
                  </a:lnTo>
                  <a:lnTo>
                    <a:pt x="0" y="0"/>
                  </a:lnTo>
                  <a:close/>
                </a:path>
              </a:pathLst>
            </a:custGeom>
            <a:solidFill>
              <a:srgbClr val="77B7DD"/>
            </a:solidFill>
          </p:spPr>
        </p:sp>
        <p:sp>
          <p:nvSpPr>
            <p:cNvPr name="Freeform 14" id="14"/>
            <p:cNvSpPr/>
            <p:nvPr/>
          </p:nvSpPr>
          <p:spPr>
            <a:xfrm flipH="false" flipV="false" rot="0">
              <a:off x="2303399" y="727325"/>
              <a:ext cx="3217673" cy="172719"/>
            </a:xfrm>
            <a:custGeom>
              <a:avLst/>
              <a:gdLst/>
              <a:ahLst/>
              <a:cxnLst/>
              <a:rect r="r" b="b" t="t" l="l"/>
              <a:pathLst>
                <a:path h="172719" w="3217673">
                  <a:moveTo>
                    <a:pt x="0" y="172720"/>
                  </a:moveTo>
                  <a:lnTo>
                    <a:pt x="3217673" y="172720"/>
                  </a:lnTo>
                  <a:lnTo>
                    <a:pt x="3217673" y="0"/>
                  </a:lnTo>
                  <a:lnTo>
                    <a:pt x="0" y="0"/>
                  </a:lnTo>
                  <a:close/>
                </a:path>
              </a:pathLst>
            </a:custGeom>
            <a:solidFill>
              <a:srgbClr val="77B7DD"/>
            </a:solidFill>
          </p:spPr>
        </p:sp>
      </p:grpSp>
      <p:grpSp>
        <p:nvGrpSpPr>
          <p:cNvPr name="Group 15" id="15"/>
          <p:cNvGrpSpPr/>
          <p:nvPr/>
        </p:nvGrpSpPr>
        <p:grpSpPr>
          <a:xfrm rot="0">
            <a:off x="87697" y="1806102"/>
            <a:ext cx="5584612" cy="299704"/>
            <a:chOff x="0" y="0"/>
            <a:chExt cx="5584609" cy="299707"/>
          </a:xfrm>
        </p:grpSpPr>
        <p:sp>
          <p:nvSpPr>
            <p:cNvPr name="Freeform 16" id="16"/>
            <p:cNvSpPr/>
            <p:nvPr/>
          </p:nvSpPr>
          <p:spPr>
            <a:xfrm flipH="false" flipV="false" rot="0">
              <a:off x="63500" y="63500"/>
              <a:ext cx="2239899" cy="172720"/>
            </a:xfrm>
            <a:custGeom>
              <a:avLst/>
              <a:gdLst/>
              <a:ahLst/>
              <a:cxnLst/>
              <a:rect r="r" b="b" t="t" l="l"/>
              <a:pathLst>
                <a:path h="172720" w="2239899">
                  <a:moveTo>
                    <a:pt x="0" y="172720"/>
                  </a:moveTo>
                  <a:lnTo>
                    <a:pt x="2239899" y="172720"/>
                  </a:lnTo>
                  <a:lnTo>
                    <a:pt x="2239899" y="0"/>
                  </a:lnTo>
                  <a:lnTo>
                    <a:pt x="0" y="0"/>
                  </a:lnTo>
                  <a:close/>
                </a:path>
              </a:pathLst>
            </a:custGeom>
            <a:solidFill>
              <a:srgbClr val="77B7DD"/>
            </a:solidFill>
          </p:spPr>
        </p:sp>
        <p:sp>
          <p:nvSpPr>
            <p:cNvPr name="Freeform 17" id="17"/>
            <p:cNvSpPr/>
            <p:nvPr/>
          </p:nvSpPr>
          <p:spPr>
            <a:xfrm flipH="false" flipV="false" rot="0">
              <a:off x="2303399" y="63500"/>
              <a:ext cx="3217672" cy="172720"/>
            </a:xfrm>
            <a:custGeom>
              <a:avLst/>
              <a:gdLst/>
              <a:ahLst/>
              <a:cxnLst/>
              <a:rect r="r" b="b" t="t" l="l"/>
              <a:pathLst>
                <a:path h="172720" w="3217672">
                  <a:moveTo>
                    <a:pt x="0" y="172720"/>
                  </a:moveTo>
                  <a:lnTo>
                    <a:pt x="3217672" y="172720"/>
                  </a:lnTo>
                  <a:lnTo>
                    <a:pt x="3217672" y="0"/>
                  </a:lnTo>
                  <a:lnTo>
                    <a:pt x="0" y="0"/>
                  </a:lnTo>
                  <a:close/>
                </a:path>
              </a:pathLst>
            </a:custGeom>
            <a:solidFill>
              <a:srgbClr val="77B7DD"/>
            </a:solidFill>
          </p:spPr>
        </p:sp>
      </p:grpSp>
      <p:grpSp>
        <p:nvGrpSpPr>
          <p:cNvPr name="Group 18" id="18"/>
          <p:cNvGrpSpPr/>
          <p:nvPr/>
        </p:nvGrpSpPr>
        <p:grpSpPr>
          <a:xfrm rot="0">
            <a:off x="87697" y="2151517"/>
            <a:ext cx="5584612" cy="299704"/>
            <a:chOff x="0" y="0"/>
            <a:chExt cx="5584609" cy="299707"/>
          </a:xfrm>
        </p:grpSpPr>
        <p:sp>
          <p:nvSpPr>
            <p:cNvPr name="Freeform 19" id="19"/>
            <p:cNvSpPr/>
            <p:nvPr/>
          </p:nvSpPr>
          <p:spPr>
            <a:xfrm flipH="false" flipV="false" rot="0">
              <a:off x="63500" y="63500"/>
              <a:ext cx="2239899" cy="172720"/>
            </a:xfrm>
            <a:custGeom>
              <a:avLst/>
              <a:gdLst/>
              <a:ahLst/>
              <a:cxnLst/>
              <a:rect r="r" b="b" t="t" l="l"/>
              <a:pathLst>
                <a:path h="172720" w="2239899">
                  <a:moveTo>
                    <a:pt x="0" y="172720"/>
                  </a:moveTo>
                  <a:lnTo>
                    <a:pt x="2239899" y="172720"/>
                  </a:lnTo>
                  <a:lnTo>
                    <a:pt x="2239899" y="0"/>
                  </a:lnTo>
                  <a:lnTo>
                    <a:pt x="0" y="0"/>
                  </a:lnTo>
                  <a:close/>
                </a:path>
              </a:pathLst>
            </a:custGeom>
            <a:solidFill>
              <a:srgbClr val="77B7DD"/>
            </a:solidFill>
          </p:spPr>
        </p:sp>
        <p:sp>
          <p:nvSpPr>
            <p:cNvPr name="Freeform 20" id="20"/>
            <p:cNvSpPr/>
            <p:nvPr/>
          </p:nvSpPr>
          <p:spPr>
            <a:xfrm flipH="false" flipV="false" rot="0">
              <a:off x="2303399" y="63500"/>
              <a:ext cx="3217672" cy="172720"/>
            </a:xfrm>
            <a:custGeom>
              <a:avLst/>
              <a:gdLst/>
              <a:ahLst/>
              <a:cxnLst/>
              <a:rect r="r" b="b" t="t" l="l"/>
              <a:pathLst>
                <a:path h="172720" w="3217672">
                  <a:moveTo>
                    <a:pt x="0" y="172720"/>
                  </a:moveTo>
                  <a:lnTo>
                    <a:pt x="3217672" y="172720"/>
                  </a:lnTo>
                  <a:lnTo>
                    <a:pt x="3217672" y="0"/>
                  </a:lnTo>
                  <a:lnTo>
                    <a:pt x="0" y="0"/>
                  </a:lnTo>
                  <a:close/>
                </a:path>
              </a:pathLst>
            </a:custGeom>
            <a:solidFill>
              <a:srgbClr val="77B7DD"/>
            </a:solidFill>
          </p:spPr>
        </p:sp>
      </p:grpSp>
      <p:sp>
        <p:nvSpPr>
          <p:cNvPr name="TextBox 21" id="21"/>
          <p:cNvSpPr txBox="true"/>
          <p:nvPr/>
        </p:nvSpPr>
        <p:spPr>
          <a:xfrm rot="0">
            <a:off x="249746" y="153791"/>
            <a:ext cx="229229" cy="122815"/>
          </a:xfrm>
          <a:prstGeom prst="rect">
            <a:avLst/>
          </a:prstGeom>
        </p:spPr>
        <p:txBody>
          <a:bodyPr anchor="t" rtlCol="false" tIns="0" lIns="0" bIns="0" rIns="0">
            <a:spAutoFit/>
          </a:bodyPr>
          <a:lstStyle/>
          <a:p>
            <a:pPr algn="ctr">
              <a:lnSpc>
                <a:spcPts val="478"/>
              </a:lnSpc>
            </a:pPr>
            <a:r>
              <a:rPr lang="en-US" b="true" sz="448" spc="-7">
                <a:solidFill>
                  <a:srgbClr val="263746"/>
                </a:solidFill>
                <a:latin typeface="IBM Plex Sans Bold"/>
                <a:ea typeface="IBM Plex Sans Bold"/>
                <a:cs typeface="IBM Plex Sans Bold"/>
                <a:sym typeface="IBM Plex Sans Bold"/>
              </a:rPr>
              <a:t>Circuit Breakers</a:t>
            </a:r>
          </a:p>
        </p:txBody>
      </p:sp>
      <p:sp>
        <p:nvSpPr>
          <p:cNvPr name="TextBox 22" id="22"/>
          <p:cNvSpPr txBox="true"/>
          <p:nvPr/>
        </p:nvSpPr>
        <p:spPr>
          <a:xfrm rot="0">
            <a:off x="1302982" y="23422"/>
            <a:ext cx="3217145" cy="299114"/>
          </a:xfrm>
          <a:prstGeom prst="rect">
            <a:avLst/>
          </a:prstGeom>
        </p:spPr>
        <p:txBody>
          <a:bodyPr anchor="t" rtlCol="false" tIns="0" lIns="0" bIns="0" rIns="0">
            <a:spAutoFit/>
          </a:bodyPr>
          <a:lstStyle/>
          <a:p>
            <a:pPr algn="l">
              <a:lnSpc>
                <a:spcPts val="2371"/>
              </a:lnSpc>
            </a:pPr>
            <a:r>
              <a:rPr lang="en-US" b="true" sz="1693" spc="-28">
                <a:solidFill>
                  <a:srgbClr val="183E69"/>
                </a:solidFill>
                <a:latin typeface="IBM Plex Sans Bold"/>
                <a:ea typeface="IBM Plex Sans Bold"/>
                <a:cs typeface="IBM Plex Sans Bold"/>
                <a:sym typeface="IBM Plex Sans Bold"/>
              </a:rPr>
              <a:t>FEASIBILITY</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AND</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VIABILITY</a:t>
            </a:r>
          </a:p>
        </p:txBody>
      </p:sp>
      <p:sp>
        <p:nvSpPr>
          <p:cNvPr name="TextBox 23" id="23"/>
          <p:cNvSpPr txBox="true"/>
          <p:nvPr/>
        </p:nvSpPr>
        <p:spPr>
          <a:xfrm rot="0">
            <a:off x="149504" y="922563"/>
            <a:ext cx="5610560" cy="204173"/>
          </a:xfrm>
          <a:prstGeom prst="rect">
            <a:avLst/>
          </a:prstGeom>
        </p:spPr>
        <p:txBody>
          <a:bodyPr anchor="t" rtlCol="false" tIns="0" lIns="0" bIns="0" rIns="0">
            <a:spAutoFit/>
          </a:bodyPr>
          <a:lstStyle/>
          <a:p>
            <a:pPr algn="l">
              <a:lnSpc>
                <a:spcPts val="841"/>
              </a:lnSpc>
            </a:pPr>
            <a:r>
              <a:rPr lang="en-US" b="true" sz="749" spc="0">
                <a:solidFill>
                  <a:srgbClr val="263746"/>
                </a:solidFill>
                <a:latin typeface="IBM Plex Sans Bold"/>
                <a:ea typeface="IBM Plex Sans Bold"/>
                <a:cs typeface="IBM Plex Sans Bold"/>
                <a:sym typeface="IBM Plex Sans Bold"/>
              </a:rPr>
              <a:t>Why it is feasible:  The proposed Module</a:t>
            </a:r>
            <a:r>
              <a:rPr lang="en-US" sz="749" spc="0">
                <a:solidFill>
                  <a:srgbClr val="FFFFFF"/>
                </a:solidFill>
                <a:latin typeface="IBM Plex Sans"/>
                <a:ea typeface="IBM Plex Sans"/>
                <a:cs typeface="IBM Plex Sans"/>
                <a:sym typeface="IBM Plex Sans"/>
              </a:rPr>
              <a:t> </a:t>
            </a:r>
            <a:r>
              <a:rPr lang="en-US" sz="749" spc="0">
                <a:solidFill>
                  <a:srgbClr val="263746"/>
                </a:solidFill>
                <a:latin typeface="IBM Plex Sans"/>
                <a:ea typeface="IBM Plex Sans"/>
                <a:cs typeface="IBM Plex Sans"/>
                <a:sym typeface="IBM Plex Sans"/>
              </a:rPr>
              <a:t>combines</a:t>
            </a:r>
            <a:r>
              <a:rPr lang="en-US" sz="749" spc="0">
                <a:solidFill>
                  <a:srgbClr val="FFFFFF"/>
                </a:solidFill>
                <a:latin typeface="IBM Plex Sans"/>
                <a:ea typeface="IBM Plex Sans"/>
                <a:cs typeface="IBM Plex Sans"/>
                <a:sym typeface="IBM Plex Sans"/>
              </a:rPr>
              <a:t> </a:t>
            </a:r>
            <a:r>
              <a:rPr lang="en-US" sz="749" spc="0">
                <a:solidFill>
                  <a:srgbClr val="263746"/>
                </a:solidFill>
                <a:latin typeface="IBM Plex Sans"/>
                <a:ea typeface="IBM Plex Sans"/>
                <a:cs typeface="IBM Plex Sans"/>
                <a:sym typeface="IBM Plex Sans"/>
              </a:rPr>
              <a:t>proven</a:t>
            </a:r>
            <a:r>
              <a:rPr lang="en-US" sz="749" spc="0">
                <a:solidFill>
                  <a:srgbClr val="FFFFFF"/>
                </a:solidFill>
                <a:latin typeface="IBM Plex Sans"/>
                <a:ea typeface="IBM Plex Sans"/>
                <a:cs typeface="IBM Plex Sans"/>
                <a:sym typeface="IBM Plex Sans"/>
              </a:rPr>
              <a:t> </a:t>
            </a:r>
            <a:r>
              <a:rPr lang="en-US" sz="749" spc="0">
                <a:solidFill>
                  <a:srgbClr val="263746"/>
                </a:solidFill>
                <a:latin typeface="IBM Plex Sans"/>
                <a:ea typeface="IBM Plex Sans"/>
                <a:cs typeface="IBM Plex Sans"/>
                <a:sym typeface="IBM Plex Sans"/>
              </a:rPr>
              <a:t>COTS</a:t>
            </a:r>
            <a:r>
              <a:rPr lang="en-US" sz="749" spc="0">
                <a:solidFill>
                  <a:srgbClr val="FFFFFF"/>
                </a:solidFill>
                <a:latin typeface="IBM Plex Sans"/>
                <a:ea typeface="IBM Plex Sans"/>
                <a:cs typeface="IBM Plex Sans"/>
                <a:sym typeface="IBM Plex Sans"/>
              </a:rPr>
              <a:t> </a:t>
            </a:r>
            <a:r>
              <a:rPr lang="en-US" sz="749" spc="0">
                <a:solidFill>
                  <a:srgbClr val="263746"/>
                </a:solidFill>
                <a:latin typeface="IBM Plex Sans"/>
                <a:ea typeface="IBM Plex Sans"/>
                <a:cs typeface="IBM Plex Sans"/>
                <a:sym typeface="IBM Plex Sans"/>
              </a:rPr>
              <a:t>hardware</a:t>
            </a:r>
            <a:r>
              <a:rPr lang="en-US" sz="749" spc="0">
                <a:solidFill>
                  <a:srgbClr val="FFFFFF"/>
                </a:solidFill>
                <a:latin typeface="IBM Plex Sans"/>
                <a:ea typeface="IBM Plex Sans"/>
                <a:cs typeface="IBM Plex Sans"/>
                <a:sym typeface="IBM Plex Sans"/>
              </a:rPr>
              <a:t> </a:t>
            </a:r>
            <a:r>
              <a:rPr lang="en-US" sz="749" spc="0">
                <a:solidFill>
                  <a:srgbClr val="263746"/>
                </a:solidFill>
                <a:latin typeface="IBM Plex Sans"/>
                <a:ea typeface="IBM Plex Sans"/>
                <a:cs typeface="IBM Plex Sans"/>
                <a:sym typeface="IBM Plex Sans"/>
              </a:rPr>
              <a:t>with</a:t>
            </a:r>
            <a:r>
              <a:rPr lang="en-US" sz="749" spc="0">
                <a:solidFill>
                  <a:srgbClr val="FFFFFF"/>
                </a:solidFill>
                <a:latin typeface="IBM Plex Sans"/>
                <a:ea typeface="IBM Plex Sans"/>
                <a:cs typeface="IBM Plex Sans"/>
                <a:sym typeface="IBM Plex Sans"/>
              </a:rPr>
              <a:t> </a:t>
            </a:r>
            <a:r>
              <a:rPr lang="en-US" sz="749" spc="0">
                <a:solidFill>
                  <a:srgbClr val="263746"/>
                </a:solidFill>
                <a:latin typeface="IBM Plex Sans"/>
                <a:ea typeface="IBM Plex Sans"/>
                <a:cs typeface="IBM Plex Sans"/>
                <a:sym typeface="IBM Plex Sans"/>
              </a:rPr>
              <a:t>established</a:t>
            </a:r>
            <a:r>
              <a:rPr lang="en-US" sz="749" spc="0">
                <a:solidFill>
                  <a:srgbClr val="FFFFFF"/>
                </a:solidFill>
                <a:latin typeface="IBM Plex Sans"/>
                <a:ea typeface="IBM Plex Sans"/>
                <a:cs typeface="IBM Plex Sans"/>
                <a:sym typeface="IBM Plex Sans"/>
              </a:rPr>
              <a:t> </a:t>
            </a:r>
            <a:r>
              <a:rPr lang="en-US" sz="749" spc="0">
                <a:solidFill>
                  <a:srgbClr val="263746"/>
                </a:solidFill>
                <a:latin typeface="IBM Plex Sans"/>
                <a:ea typeface="IBM Plex Sans"/>
                <a:cs typeface="IBM Plex Sans"/>
                <a:sym typeface="IBM Plex Sans"/>
              </a:rPr>
              <a:t>EKF</a:t>
            </a:r>
            <a:r>
              <a:rPr lang="en-US" sz="749" spc="0">
                <a:solidFill>
                  <a:srgbClr val="FFFFFF"/>
                </a:solidFill>
                <a:latin typeface="IBM Plex Sans"/>
                <a:ea typeface="IBM Plex Sans"/>
                <a:cs typeface="IBM Plex Sans"/>
                <a:sym typeface="IBM Plex Sans"/>
              </a:rPr>
              <a:t> </a:t>
            </a:r>
            <a:r>
              <a:rPr lang="en-US" sz="749" spc="0">
                <a:solidFill>
                  <a:srgbClr val="263746"/>
                </a:solidFill>
                <a:latin typeface="IBM Plex Sans"/>
                <a:ea typeface="IBM Plex Sans"/>
                <a:cs typeface="IBM Plex Sans"/>
                <a:sym typeface="IBM Plex Sans"/>
              </a:rPr>
              <a:t>and</a:t>
            </a:r>
            <a:r>
              <a:rPr lang="en-US" sz="749" spc="0">
                <a:solidFill>
                  <a:srgbClr val="FFFFFF"/>
                </a:solidFill>
                <a:latin typeface="IBM Plex Sans"/>
                <a:ea typeface="IBM Plex Sans"/>
                <a:cs typeface="IBM Plex Sans"/>
                <a:sym typeface="IBM Plex Sans"/>
              </a:rPr>
              <a:t> </a:t>
            </a:r>
            <a:r>
              <a:rPr lang="en-US" sz="749" spc="0">
                <a:solidFill>
                  <a:srgbClr val="263746"/>
                </a:solidFill>
                <a:latin typeface="IBM Plex Sans"/>
                <a:ea typeface="IBM Plex Sans"/>
                <a:cs typeface="IBM Plex Sans"/>
                <a:sym typeface="IBM Plex Sans"/>
              </a:rPr>
              <a:t>closed-loop</a:t>
            </a:r>
            <a:r>
              <a:rPr lang="en-US" sz="749" spc="0">
                <a:solidFill>
                  <a:srgbClr val="FFFFFF"/>
                </a:solidFill>
                <a:latin typeface="IBM Plex Sans"/>
                <a:ea typeface="IBM Plex Sans"/>
                <a:cs typeface="IBM Plex Sans"/>
                <a:sym typeface="IBM Plex Sans"/>
              </a:rPr>
              <a:t> </a:t>
            </a:r>
            <a:r>
              <a:rPr lang="en-US" sz="749" spc="0">
                <a:solidFill>
                  <a:srgbClr val="263746"/>
                </a:solidFill>
                <a:latin typeface="IBM Plex Sans"/>
                <a:ea typeface="IBM Plex Sans"/>
                <a:cs typeface="IBM Plex Sans"/>
                <a:sym typeface="IBM Plex Sans"/>
              </a:rPr>
              <a:t>control</a:t>
            </a:r>
            <a:r>
              <a:rPr lang="en-US" sz="749" spc="0">
                <a:solidFill>
                  <a:srgbClr val="FFFFFF"/>
                </a:solidFill>
                <a:latin typeface="IBM Plex Sans"/>
                <a:ea typeface="IBM Plex Sans"/>
                <a:cs typeface="IBM Plex Sans"/>
                <a:sym typeface="IBM Plex Sans"/>
              </a:rPr>
              <a:t> </a:t>
            </a:r>
            <a:r>
              <a:rPr lang="en-US" sz="749" spc="0">
                <a:solidFill>
                  <a:srgbClr val="263746"/>
                </a:solidFill>
                <a:latin typeface="IBM Plex Sans"/>
                <a:ea typeface="IBM Plex Sans"/>
                <a:cs typeface="IBM Plex Sans"/>
                <a:sym typeface="IBM Plex Sans"/>
              </a:rPr>
              <a:t>techniques. </a:t>
            </a:r>
          </a:p>
        </p:txBody>
      </p:sp>
      <p:sp>
        <p:nvSpPr>
          <p:cNvPr name="TextBox 24" id="24"/>
          <p:cNvSpPr txBox="true"/>
          <p:nvPr/>
        </p:nvSpPr>
        <p:spPr>
          <a:xfrm rot="0">
            <a:off x="227114" y="1325108"/>
            <a:ext cx="1910391" cy="1028900"/>
          </a:xfrm>
          <a:prstGeom prst="rect">
            <a:avLst/>
          </a:prstGeom>
        </p:spPr>
        <p:txBody>
          <a:bodyPr anchor="t" rtlCol="false" tIns="0" lIns="0" bIns="0" rIns="0">
            <a:spAutoFit/>
          </a:bodyPr>
          <a:lstStyle/>
          <a:p>
            <a:pPr algn="l">
              <a:lnSpc>
                <a:spcPts val="1359"/>
              </a:lnSpc>
            </a:pPr>
            <a:r>
              <a:rPr lang="en-US" b="true" sz="677" spc="-11">
                <a:solidFill>
                  <a:srgbClr val="FFFFFF"/>
                </a:solidFill>
                <a:latin typeface="IBM Plex Sans Bold"/>
                <a:ea typeface="IBM Plex Sans Bold"/>
                <a:cs typeface="IBM Plex Sans Bold"/>
                <a:sym typeface="IBM Plex Sans Bold"/>
              </a:rPr>
              <a:t>Engineering Challenge</a:t>
            </a:r>
          </a:p>
          <a:p>
            <a:pPr algn="l">
              <a:lnSpc>
                <a:spcPts val="1359"/>
              </a:lnSpc>
            </a:pPr>
            <a:r>
              <a:rPr lang="en-US" b="true" sz="677" spc="-11">
                <a:solidFill>
                  <a:srgbClr val="263746"/>
                </a:solidFill>
                <a:latin typeface="IBM Plex Sans Bold"/>
                <a:ea typeface="IBM Plex Sans Bold"/>
                <a:cs typeface="IBM Plex Sans Bold"/>
                <a:sym typeface="IBM Plex Sans Bold"/>
              </a:rPr>
              <a:t>EMI</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near</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sensitive</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communication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hardware Added</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payload</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mass</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and</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heating</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power</a:t>
            </a:r>
          </a:p>
          <a:p>
            <a:pPr algn="l">
              <a:lnSpc>
                <a:spcPts val="1359"/>
              </a:lnSpc>
            </a:pPr>
            <a:r>
              <a:rPr lang="en-US" b="true" sz="677" spc="-11">
                <a:solidFill>
                  <a:srgbClr val="263746"/>
                </a:solidFill>
                <a:latin typeface="IBM Plex Sans Bold"/>
                <a:ea typeface="IBM Plex Sans Bold"/>
                <a:cs typeface="IBM Plex Sans Bold"/>
                <a:sym typeface="IBM Plex Sans Bold"/>
              </a:rPr>
              <a:t>Sensor</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drift</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in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sub-zero</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conditions</a:t>
            </a:r>
          </a:p>
          <a:p>
            <a:pPr algn="l">
              <a:lnSpc>
                <a:spcPts val="1359"/>
              </a:lnSpc>
            </a:pPr>
            <a:r>
              <a:rPr lang="en-US" b="true" sz="677" spc="-11">
                <a:solidFill>
                  <a:srgbClr val="263746"/>
                </a:solidFill>
                <a:latin typeface="IBM Plex Sans Bold"/>
                <a:ea typeface="IBM Plex Sans Bold"/>
                <a:cs typeface="IBM Plex Sans Bold"/>
                <a:sym typeface="IBM Plex Sans Bold"/>
              </a:rPr>
              <a:t>Rugged</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operation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in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HAA/SHAA</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environments Integration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with</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fielded</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legacy</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systems</a:t>
            </a:r>
          </a:p>
        </p:txBody>
      </p:sp>
      <p:sp>
        <p:nvSpPr>
          <p:cNvPr name="TextBox 25" id="25"/>
          <p:cNvSpPr txBox="true"/>
          <p:nvPr/>
        </p:nvSpPr>
        <p:spPr>
          <a:xfrm rot="0">
            <a:off x="2466908" y="1325108"/>
            <a:ext cx="2587590" cy="1020167"/>
          </a:xfrm>
          <a:prstGeom prst="rect">
            <a:avLst/>
          </a:prstGeom>
        </p:spPr>
        <p:txBody>
          <a:bodyPr anchor="t" rtlCol="false" tIns="0" lIns="0" bIns="0" rIns="0">
            <a:spAutoFit/>
          </a:bodyPr>
          <a:lstStyle/>
          <a:p>
            <a:pPr algn="l">
              <a:lnSpc>
                <a:spcPts val="1359"/>
              </a:lnSpc>
            </a:pPr>
            <a:r>
              <a:rPr lang="en-US" b="true" sz="677" spc="0">
                <a:solidFill>
                  <a:srgbClr val="FFFFFF"/>
                </a:solidFill>
                <a:latin typeface="IBM Plex Sans Bold"/>
                <a:ea typeface="IBM Plex Sans Bold"/>
                <a:cs typeface="IBM Plex Sans Bold"/>
                <a:sym typeface="IBM Plex Sans Bold"/>
              </a:rPr>
              <a:t>Mitigation Strategy</a:t>
            </a:r>
          </a:p>
          <a:p>
            <a:pPr algn="l">
              <a:lnSpc>
                <a:spcPts val="1359"/>
              </a:lnSpc>
            </a:pPr>
            <a:r>
              <a:rPr lang="en-US" b="true" sz="677" spc="0">
                <a:solidFill>
                  <a:srgbClr val="263746"/>
                </a:solidFill>
                <a:latin typeface="IBM Plex Sans Bold"/>
                <a:ea typeface="IBM Plex Sans Bold"/>
                <a:cs typeface="IBM Plex Sans Bold"/>
                <a:sym typeface="IBM Plex Sans Bold"/>
              </a:rPr>
              <a:t>Shielded</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layout,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filtered</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gate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drives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and</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spread-spectrum</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PWM Predictive,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low-duty-cycle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heating;</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target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module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mass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below</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50</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g Factory</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calibration</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plus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online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EKF</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bias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correction</a:t>
            </a:r>
          </a:p>
          <a:p>
            <a:pPr algn="l">
              <a:lnSpc>
                <a:spcPts val="1359"/>
              </a:lnSpc>
            </a:pPr>
            <a:r>
              <a:rPr lang="en-US" b="true" sz="677" spc="0">
                <a:solidFill>
                  <a:srgbClr val="263746"/>
                </a:solidFill>
                <a:latin typeface="IBM Plex Sans Bold"/>
                <a:ea typeface="IBM Plex Sans Bold"/>
                <a:cs typeface="IBM Plex Sans Bold"/>
                <a:sym typeface="IBM Plex Sans Bold"/>
              </a:rPr>
              <a:t>Conformal</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coating,</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IP65</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enclosure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and</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MIL-STD-810</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test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plan Non-invasive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CAN/UART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interface;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no</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host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power-bus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redesign</a:t>
            </a:r>
          </a:p>
        </p:txBody>
      </p:sp>
      <p:sp>
        <p:nvSpPr>
          <p:cNvPr name="TextBox 26" id="26"/>
          <p:cNvSpPr txBox="true"/>
          <p:nvPr/>
        </p:nvSpPr>
        <p:spPr>
          <a:xfrm rot="0">
            <a:off x="2410196" y="3120009"/>
            <a:ext cx="958386" cy="92888"/>
          </a:xfrm>
          <a:prstGeom prst="rect">
            <a:avLst/>
          </a:prstGeom>
        </p:spPr>
        <p:txBody>
          <a:bodyPr anchor="t" rtlCol="false" tIns="0" lIns="0" bIns="0" rIns="0">
            <a:spAutoFit/>
          </a:bodyPr>
          <a:lstStyle/>
          <a:p>
            <a:pPr algn="l">
              <a:lnSpc>
                <a:spcPts val="725"/>
              </a:lnSpc>
            </a:pPr>
            <a:r>
              <a:rPr lang="en-US" sz="518" spc="0">
                <a:solidFill>
                  <a:srgbClr val="FFFFFF"/>
                </a:solidFill>
                <a:latin typeface="IBM Plex Sans"/>
                <a:ea typeface="IBM Plex Sans"/>
                <a:cs typeface="IBM Plex Sans"/>
                <a:sym typeface="IBM Plex Sans"/>
              </a:rPr>
              <a:t>@SIH Idea submission–Template</a:t>
            </a:r>
          </a:p>
        </p:txBody>
      </p:sp>
      <p:sp>
        <p:nvSpPr>
          <p:cNvPr name="TextBox 27" id="27"/>
          <p:cNvSpPr txBox="true"/>
          <p:nvPr/>
        </p:nvSpPr>
        <p:spPr>
          <a:xfrm rot="0">
            <a:off x="5511384" y="3110865"/>
            <a:ext cx="49682" cy="120920"/>
          </a:xfrm>
          <a:prstGeom prst="rect">
            <a:avLst/>
          </a:prstGeom>
        </p:spPr>
        <p:txBody>
          <a:bodyPr anchor="t" rtlCol="false" tIns="0" lIns="0" bIns="0" rIns="0">
            <a:spAutoFit/>
          </a:bodyPr>
          <a:lstStyle/>
          <a:p>
            <a:pPr algn="l">
              <a:lnSpc>
                <a:spcPts val="976"/>
              </a:lnSpc>
            </a:pPr>
            <a:r>
              <a:rPr lang="en-US" b="true" sz="697" spc="-11">
                <a:solidFill>
                  <a:srgbClr val="FFFFFF"/>
                </a:solidFill>
                <a:latin typeface="IBM Plex Sans Bold"/>
                <a:ea typeface="IBM Plex Sans Bold"/>
                <a:cs typeface="IBM Plex Sans Bold"/>
                <a:sym typeface="IBM Plex Sans Bold"/>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504" y="113500"/>
            <a:ext cx="425196" cy="201987"/>
            <a:chOff x="0" y="0"/>
            <a:chExt cx="425196" cy="201994"/>
          </a:xfrm>
        </p:grpSpPr>
        <p:sp>
          <p:nvSpPr>
            <p:cNvPr name="Freeform 3" id="3"/>
            <p:cNvSpPr/>
            <p:nvPr/>
          </p:nvSpPr>
          <p:spPr>
            <a:xfrm flipH="false" flipV="false" rot="0">
              <a:off x="0" y="0"/>
              <a:ext cx="425194" cy="201932"/>
            </a:xfrm>
            <a:custGeom>
              <a:avLst/>
              <a:gdLst/>
              <a:ahLst/>
              <a:cxnLst/>
              <a:rect r="r" b="b" t="t" l="l"/>
              <a:pathLst>
                <a:path h="201932" w="425194">
                  <a:moveTo>
                    <a:pt x="396111" y="7620"/>
                  </a:moveTo>
                  <a:lnTo>
                    <a:pt x="29083" y="7620"/>
                  </a:lnTo>
                  <a:lnTo>
                    <a:pt x="29083" y="3810"/>
                  </a:lnTo>
                  <a:lnTo>
                    <a:pt x="29083" y="7620"/>
                  </a:lnTo>
                  <a:cubicBezTo>
                    <a:pt x="17272" y="7620"/>
                    <a:pt x="7620" y="17272"/>
                    <a:pt x="7620" y="29083"/>
                  </a:cubicBezTo>
                  <a:lnTo>
                    <a:pt x="3810" y="29083"/>
                  </a:lnTo>
                  <a:lnTo>
                    <a:pt x="7620" y="29083"/>
                  </a:lnTo>
                  <a:lnTo>
                    <a:pt x="7620" y="172849"/>
                  </a:lnTo>
                  <a:lnTo>
                    <a:pt x="3810" y="172849"/>
                  </a:lnTo>
                  <a:lnTo>
                    <a:pt x="7620" y="172849"/>
                  </a:lnTo>
                  <a:cubicBezTo>
                    <a:pt x="7620" y="184787"/>
                    <a:pt x="17272" y="194312"/>
                    <a:pt x="29083" y="194312"/>
                  </a:cubicBezTo>
                  <a:lnTo>
                    <a:pt x="29083" y="198122"/>
                  </a:lnTo>
                  <a:lnTo>
                    <a:pt x="29083" y="194312"/>
                  </a:lnTo>
                  <a:lnTo>
                    <a:pt x="396111" y="194312"/>
                  </a:lnTo>
                  <a:lnTo>
                    <a:pt x="396111" y="198122"/>
                  </a:lnTo>
                  <a:lnTo>
                    <a:pt x="396111" y="194312"/>
                  </a:lnTo>
                  <a:cubicBezTo>
                    <a:pt x="408049" y="194312"/>
                    <a:pt x="417574" y="184660"/>
                    <a:pt x="417574" y="172849"/>
                  </a:cubicBezTo>
                  <a:lnTo>
                    <a:pt x="421384" y="172849"/>
                  </a:lnTo>
                  <a:lnTo>
                    <a:pt x="417574" y="172849"/>
                  </a:lnTo>
                  <a:lnTo>
                    <a:pt x="417574" y="29083"/>
                  </a:lnTo>
                  <a:lnTo>
                    <a:pt x="421384" y="29083"/>
                  </a:lnTo>
                  <a:lnTo>
                    <a:pt x="417574" y="29083"/>
                  </a:lnTo>
                  <a:cubicBezTo>
                    <a:pt x="417574" y="17145"/>
                    <a:pt x="407922" y="7620"/>
                    <a:pt x="396111" y="7620"/>
                  </a:cubicBezTo>
                  <a:lnTo>
                    <a:pt x="396111" y="3810"/>
                  </a:lnTo>
                  <a:lnTo>
                    <a:pt x="396111" y="7620"/>
                  </a:lnTo>
                  <a:moveTo>
                    <a:pt x="396111" y="0"/>
                  </a:moveTo>
                  <a:cubicBezTo>
                    <a:pt x="412240" y="0"/>
                    <a:pt x="425194" y="13081"/>
                    <a:pt x="425194" y="29083"/>
                  </a:cubicBezTo>
                  <a:lnTo>
                    <a:pt x="425194" y="172849"/>
                  </a:lnTo>
                  <a:cubicBezTo>
                    <a:pt x="425194" y="188978"/>
                    <a:pt x="412113" y="201932"/>
                    <a:pt x="396111" y="201932"/>
                  </a:cubicBezTo>
                  <a:lnTo>
                    <a:pt x="29083" y="201932"/>
                  </a:lnTo>
                  <a:cubicBezTo>
                    <a:pt x="13081" y="201932"/>
                    <a:pt x="0" y="188978"/>
                    <a:pt x="0" y="172849"/>
                  </a:cubicBezTo>
                  <a:lnTo>
                    <a:pt x="0" y="29083"/>
                  </a:lnTo>
                  <a:cubicBezTo>
                    <a:pt x="0" y="13081"/>
                    <a:pt x="13081" y="0"/>
                    <a:pt x="29083" y="0"/>
                  </a:cubicBezTo>
                  <a:lnTo>
                    <a:pt x="396111" y="0"/>
                  </a:lnTo>
                  <a:close/>
                </a:path>
              </a:pathLst>
            </a:custGeom>
            <a:solidFill>
              <a:srgbClr val="70419B"/>
            </a:solidFill>
          </p:spPr>
        </p:sp>
      </p:grpSp>
      <p:grpSp>
        <p:nvGrpSpPr>
          <p:cNvPr name="Group 4" id="4"/>
          <p:cNvGrpSpPr/>
          <p:nvPr/>
        </p:nvGrpSpPr>
        <p:grpSpPr>
          <a:xfrm rot="0">
            <a:off x="4854483" y="77495"/>
            <a:ext cx="755990" cy="356483"/>
            <a:chOff x="0" y="0"/>
            <a:chExt cx="1007986" cy="475310"/>
          </a:xfrm>
        </p:grpSpPr>
        <p:sp>
          <p:nvSpPr>
            <p:cNvPr name="Freeform 5" id="5"/>
            <p:cNvSpPr/>
            <p:nvPr/>
          </p:nvSpPr>
          <p:spPr>
            <a:xfrm flipH="false" flipV="false" rot="0">
              <a:off x="0" y="0"/>
              <a:ext cx="1007999" cy="475361"/>
            </a:xfrm>
            <a:custGeom>
              <a:avLst/>
              <a:gdLst/>
              <a:ahLst/>
              <a:cxnLst/>
              <a:rect r="r" b="b" t="t" l="l"/>
              <a:pathLst>
                <a:path h="475361" w="1007999">
                  <a:moveTo>
                    <a:pt x="0" y="0"/>
                  </a:moveTo>
                  <a:lnTo>
                    <a:pt x="1007999" y="0"/>
                  </a:lnTo>
                  <a:lnTo>
                    <a:pt x="1007999" y="475361"/>
                  </a:lnTo>
                  <a:lnTo>
                    <a:pt x="0" y="475361"/>
                  </a:lnTo>
                  <a:lnTo>
                    <a:pt x="0" y="0"/>
                  </a:lnTo>
                  <a:close/>
                </a:path>
              </a:pathLst>
            </a:custGeom>
            <a:blipFill>
              <a:blip r:embed="rId2"/>
              <a:stretch>
                <a:fillRect l="0" t="0" r="1" b="10"/>
              </a:stretch>
            </a:blipFill>
          </p:spPr>
        </p:sp>
      </p:grpSp>
      <p:grpSp>
        <p:nvGrpSpPr>
          <p:cNvPr name="Group 6" id="6"/>
          <p:cNvGrpSpPr/>
          <p:nvPr/>
        </p:nvGrpSpPr>
        <p:grpSpPr>
          <a:xfrm rot="0">
            <a:off x="2104044" y="1761896"/>
            <a:ext cx="1551918" cy="165887"/>
            <a:chOff x="0" y="0"/>
            <a:chExt cx="1551915" cy="165887"/>
          </a:xfrm>
        </p:grpSpPr>
        <p:sp>
          <p:nvSpPr>
            <p:cNvPr name="Freeform 7" id="7"/>
            <p:cNvSpPr/>
            <p:nvPr/>
          </p:nvSpPr>
          <p:spPr>
            <a:xfrm flipH="false" flipV="false" rot="0">
              <a:off x="0" y="0"/>
              <a:ext cx="1551940" cy="165862"/>
            </a:xfrm>
            <a:custGeom>
              <a:avLst/>
              <a:gdLst/>
              <a:ahLst/>
              <a:cxnLst/>
              <a:rect r="r" b="b" t="t" l="l"/>
              <a:pathLst>
                <a:path h="165862" w="1551940">
                  <a:moveTo>
                    <a:pt x="0" y="165862"/>
                  </a:moveTo>
                  <a:lnTo>
                    <a:pt x="1551940" y="165862"/>
                  </a:lnTo>
                  <a:lnTo>
                    <a:pt x="1551940" y="0"/>
                  </a:lnTo>
                  <a:lnTo>
                    <a:pt x="0" y="0"/>
                  </a:lnTo>
                  <a:close/>
                </a:path>
              </a:pathLst>
            </a:custGeom>
            <a:solidFill>
              <a:srgbClr val="E7F1FA"/>
            </a:solidFill>
          </p:spPr>
        </p:sp>
      </p:grpSp>
      <p:grpSp>
        <p:nvGrpSpPr>
          <p:cNvPr name="Group 8" id="8"/>
          <p:cNvGrpSpPr/>
          <p:nvPr/>
        </p:nvGrpSpPr>
        <p:grpSpPr>
          <a:xfrm rot="0">
            <a:off x="-10" y="3124810"/>
            <a:ext cx="5760072" cy="115205"/>
            <a:chOff x="0" y="0"/>
            <a:chExt cx="5760072" cy="115202"/>
          </a:xfrm>
        </p:grpSpPr>
        <p:sp>
          <p:nvSpPr>
            <p:cNvPr name="Freeform 9" id="9"/>
            <p:cNvSpPr/>
            <p:nvPr/>
          </p:nvSpPr>
          <p:spPr>
            <a:xfrm flipH="false" flipV="false" rot="0">
              <a:off x="0" y="0"/>
              <a:ext cx="5760083" cy="115186"/>
            </a:xfrm>
            <a:custGeom>
              <a:avLst/>
              <a:gdLst/>
              <a:ahLst/>
              <a:cxnLst/>
              <a:rect r="r" b="b" t="t" l="l"/>
              <a:pathLst>
                <a:path h="115186" w="5760083">
                  <a:moveTo>
                    <a:pt x="0" y="115186"/>
                  </a:moveTo>
                  <a:lnTo>
                    <a:pt x="0" y="0"/>
                  </a:lnTo>
                  <a:lnTo>
                    <a:pt x="5760083" y="0"/>
                  </a:lnTo>
                  <a:lnTo>
                    <a:pt x="5760083" y="115186"/>
                  </a:lnTo>
                  <a:close/>
                </a:path>
              </a:pathLst>
            </a:custGeom>
            <a:solidFill>
              <a:srgbClr val="087CC1"/>
            </a:solidFill>
          </p:spPr>
        </p:sp>
      </p:grpSp>
      <p:grpSp>
        <p:nvGrpSpPr>
          <p:cNvPr name="Group 10" id="10"/>
          <p:cNvGrpSpPr/>
          <p:nvPr/>
        </p:nvGrpSpPr>
        <p:grpSpPr>
          <a:xfrm rot="0">
            <a:off x="1762039" y="711889"/>
            <a:ext cx="2235908" cy="165887"/>
            <a:chOff x="0" y="0"/>
            <a:chExt cx="2235911" cy="165887"/>
          </a:xfrm>
        </p:grpSpPr>
        <p:sp>
          <p:nvSpPr>
            <p:cNvPr name="Freeform 11" id="11"/>
            <p:cNvSpPr/>
            <p:nvPr/>
          </p:nvSpPr>
          <p:spPr>
            <a:xfrm flipH="false" flipV="false" rot="0">
              <a:off x="0" y="0"/>
              <a:ext cx="2235962" cy="165862"/>
            </a:xfrm>
            <a:custGeom>
              <a:avLst/>
              <a:gdLst/>
              <a:ahLst/>
              <a:cxnLst/>
              <a:rect r="r" b="b" t="t" l="l"/>
              <a:pathLst>
                <a:path h="165862" w="2235962">
                  <a:moveTo>
                    <a:pt x="0" y="165862"/>
                  </a:moveTo>
                  <a:lnTo>
                    <a:pt x="2235962" y="165862"/>
                  </a:lnTo>
                  <a:lnTo>
                    <a:pt x="2235962" y="0"/>
                  </a:lnTo>
                  <a:lnTo>
                    <a:pt x="0" y="0"/>
                  </a:lnTo>
                  <a:close/>
                </a:path>
              </a:pathLst>
            </a:custGeom>
            <a:solidFill>
              <a:srgbClr val="E7F1FA"/>
            </a:solidFill>
          </p:spPr>
        </p:sp>
      </p:grpSp>
      <p:grpSp>
        <p:nvGrpSpPr>
          <p:cNvPr name="Group 12" id="12"/>
          <p:cNvGrpSpPr/>
          <p:nvPr/>
        </p:nvGrpSpPr>
        <p:grpSpPr>
          <a:xfrm rot="0">
            <a:off x="87687" y="2059819"/>
            <a:ext cx="5522785" cy="757836"/>
            <a:chOff x="0" y="0"/>
            <a:chExt cx="5571731" cy="764553"/>
          </a:xfrm>
        </p:grpSpPr>
        <p:sp>
          <p:nvSpPr>
            <p:cNvPr name="Freeform 13" id="13"/>
            <p:cNvSpPr/>
            <p:nvPr/>
          </p:nvSpPr>
          <p:spPr>
            <a:xfrm flipH="false" flipV="false" rot="0">
              <a:off x="66040" y="66040"/>
              <a:ext cx="1728468" cy="617725"/>
            </a:xfrm>
            <a:custGeom>
              <a:avLst/>
              <a:gdLst/>
              <a:ahLst/>
              <a:cxnLst/>
              <a:rect r="r" b="b" t="t" l="l"/>
              <a:pathLst>
                <a:path h="617725" w="1728468">
                  <a:moveTo>
                    <a:pt x="1703195" y="0"/>
                  </a:moveTo>
                  <a:lnTo>
                    <a:pt x="25273" y="0"/>
                  </a:lnTo>
                  <a:cubicBezTo>
                    <a:pt x="11303" y="0"/>
                    <a:pt x="0" y="11303"/>
                    <a:pt x="0" y="25273"/>
                  </a:cubicBezTo>
                  <a:lnTo>
                    <a:pt x="0" y="592452"/>
                  </a:lnTo>
                  <a:cubicBezTo>
                    <a:pt x="0" y="606422"/>
                    <a:pt x="11303" y="617725"/>
                    <a:pt x="25273" y="617725"/>
                  </a:cubicBezTo>
                  <a:lnTo>
                    <a:pt x="1703195" y="617725"/>
                  </a:lnTo>
                  <a:cubicBezTo>
                    <a:pt x="1717165" y="617725"/>
                    <a:pt x="1728468" y="606422"/>
                    <a:pt x="1728468" y="592452"/>
                  </a:cubicBezTo>
                  <a:lnTo>
                    <a:pt x="1728468" y="25273"/>
                  </a:lnTo>
                  <a:cubicBezTo>
                    <a:pt x="1728468" y="11303"/>
                    <a:pt x="1717165" y="0"/>
                    <a:pt x="1703195" y="0"/>
                  </a:cubicBezTo>
                  <a:close/>
                </a:path>
              </a:pathLst>
            </a:custGeom>
            <a:solidFill>
              <a:srgbClr val="77B7DD"/>
            </a:solidFill>
          </p:spPr>
        </p:sp>
        <p:sp>
          <p:nvSpPr>
            <p:cNvPr name="Freeform 14" id="14"/>
            <p:cNvSpPr/>
            <p:nvPr/>
          </p:nvSpPr>
          <p:spPr>
            <a:xfrm flipH="false" flipV="false" rot="0">
              <a:off x="63500" y="63500"/>
              <a:ext cx="1733548" cy="622805"/>
            </a:xfrm>
            <a:custGeom>
              <a:avLst/>
              <a:gdLst/>
              <a:ahLst/>
              <a:cxnLst/>
              <a:rect r="r" b="b" t="t" l="l"/>
              <a:pathLst>
                <a:path h="622805" w="1733548">
                  <a:moveTo>
                    <a:pt x="1705735" y="5080"/>
                  </a:moveTo>
                  <a:lnTo>
                    <a:pt x="27813" y="5080"/>
                  </a:lnTo>
                  <a:lnTo>
                    <a:pt x="27813" y="2540"/>
                  </a:lnTo>
                  <a:lnTo>
                    <a:pt x="27813" y="5080"/>
                  </a:lnTo>
                  <a:cubicBezTo>
                    <a:pt x="15240" y="5080"/>
                    <a:pt x="5080" y="15240"/>
                    <a:pt x="5080" y="27813"/>
                  </a:cubicBezTo>
                  <a:lnTo>
                    <a:pt x="2540" y="27813"/>
                  </a:lnTo>
                  <a:lnTo>
                    <a:pt x="5080" y="27813"/>
                  </a:lnTo>
                  <a:lnTo>
                    <a:pt x="5080" y="594992"/>
                  </a:lnTo>
                  <a:lnTo>
                    <a:pt x="2540" y="594992"/>
                  </a:lnTo>
                  <a:lnTo>
                    <a:pt x="5080" y="594992"/>
                  </a:lnTo>
                  <a:cubicBezTo>
                    <a:pt x="5080" y="607565"/>
                    <a:pt x="15240" y="617725"/>
                    <a:pt x="27813" y="617725"/>
                  </a:cubicBezTo>
                  <a:lnTo>
                    <a:pt x="27813" y="620265"/>
                  </a:lnTo>
                  <a:lnTo>
                    <a:pt x="27813" y="617725"/>
                  </a:lnTo>
                  <a:lnTo>
                    <a:pt x="1705735" y="617725"/>
                  </a:lnTo>
                  <a:lnTo>
                    <a:pt x="1705735" y="620265"/>
                  </a:lnTo>
                  <a:lnTo>
                    <a:pt x="1705735" y="617725"/>
                  </a:lnTo>
                  <a:cubicBezTo>
                    <a:pt x="1718308" y="617725"/>
                    <a:pt x="1728468" y="607565"/>
                    <a:pt x="1728468" y="594992"/>
                  </a:cubicBezTo>
                  <a:lnTo>
                    <a:pt x="1731008" y="594992"/>
                  </a:lnTo>
                  <a:lnTo>
                    <a:pt x="1728468" y="594992"/>
                  </a:lnTo>
                  <a:lnTo>
                    <a:pt x="1728468" y="27813"/>
                  </a:lnTo>
                  <a:lnTo>
                    <a:pt x="1731008" y="27813"/>
                  </a:lnTo>
                  <a:lnTo>
                    <a:pt x="1728468" y="27813"/>
                  </a:lnTo>
                  <a:cubicBezTo>
                    <a:pt x="1728468" y="15240"/>
                    <a:pt x="1718308" y="5080"/>
                    <a:pt x="1705735" y="5080"/>
                  </a:cubicBezTo>
                  <a:lnTo>
                    <a:pt x="1705735" y="2540"/>
                  </a:lnTo>
                  <a:lnTo>
                    <a:pt x="1705735" y="5080"/>
                  </a:lnTo>
                  <a:moveTo>
                    <a:pt x="1705735" y="0"/>
                  </a:moveTo>
                  <a:cubicBezTo>
                    <a:pt x="1721102" y="0"/>
                    <a:pt x="1733548" y="12446"/>
                    <a:pt x="1733548" y="27813"/>
                  </a:cubicBezTo>
                  <a:lnTo>
                    <a:pt x="1733548" y="594992"/>
                  </a:lnTo>
                  <a:cubicBezTo>
                    <a:pt x="1733548" y="610359"/>
                    <a:pt x="1721102" y="622805"/>
                    <a:pt x="1705735" y="622805"/>
                  </a:cubicBezTo>
                  <a:lnTo>
                    <a:pt x="27813" y="622805"/>
                  </a:lnTo>
                  <a:cubicBezTo>
                    <a:pt x="12446" y="622805"/>
                    <a:pt x="0" y="610359"/>
                    <a:pt x="0" y="594992"/>
                  </a:cubicBezTo>
                  <a:lnTo>
                    <a:pt x="0" y="27813"/>
                  </a:lnTo>
                  <a:cubicBezTo>
                    <a:pt x="0" y="12446"/>
                    <a:pt x="12446" y="0"/>
                    <a:pt x="27813" y="0"/>
                  </a:cubicBezTo>
                  <a:lnTo>
                    <a:pt x="1705735" y="0"/>
                  </a:lnTo>
                  <a:close/>
                </a:path>
              </a:pathLst>
            </a:custGeom>
            <a:solidFill>
              <a:srgbClr val="6BB0DA"/>
            </a:solidFill>
          </p:spPr>
        </p:sp>
        <p:sp>
          <p:nvSpPr>
            <p:cNvPr name="Freeform 15" id="15"/>
            <p:cNvSpPr/>
            <p:nvPr/>
          </p:nvSpPr>
          <p:spPr>
            <a:xfrm flipH="false" flipV="false" rot="0">
              <a:off x="1921635" y="66040"/>
              <a:ext cx="1728468" cy="545209"/>
            </a:xfrm>
            <a:custGeom>
              <a:avLst/>
              <a:gdLst/>
              <a:ahLst/>
              <a:cxnLst/>
              <a:rect r="r" b="b" t="t" l="l"/>
              <a:pathLst>
                <a:path h="545209" w="1728468">
                  <a:moveTo>
                    <a:pt x="1703196" y="0"/>
                  </a:moveTo>
                  <a:lnTo>
                    <a:pt x="25273" y="0"/>
                  </a:lnTo>
                  <a:cubicBezTo>
                    <a:pt x="11303" y="0"/>
                    <a:pt x="0" y="11303"/>
                    <a:pt x="0" y="25273"/>
                  </a:cubicBezTo>
                  <a:lnTo>
                    <a:pt x="0" y="519935"/>
                  </a:lnTo>
                  <a:cubicBezTo>
                    <a:pt x="0" y="533905"/>
                    <a:pt x="11303" y="545208"/>
                    <a:pt x="25273" y="545208"/>
                  </a:cubicBezTo>
                  <a:lnTo>
                    <a:pt x="1703196" y="545208"/>
                  </a:lnTo>
                  <a:cubicBezTo>
                    <a:pt x="1717166" y="545208"/>
                    <a:pt x="1728469" y="533905"/>
                    <a:pt x="1728469" y="519935"/>
                  </a:cubicBezTo>
                  <a:lnTo>
                    <a:pt x="1728469" y="25273"/>
                  </a:lnTo>
                  <a:cubicBezTo>
                    <a:pt x="1728469" y="11303"/>
                    <a:pt x="1717166" y="0"/>
                    <a:pt x="1703196" y="0"/>
                  </a:cubicBezTo>
                  <a:close/>
                </a:path>
              </a:pathLst>
            </a:custGeom>
            <a:solidFill>
              <a:srgbClr val="77B7DD"/>
            </a:solidFill>
          </p:spPr>
        </p:sp>
        <p:sp>
          <p:nvSpPr>
            <p:cNvPr name="Freeform 16" id="16"/>
            <p:cNvSpPr/>
            <p:nvPr/>
          </p:nvSpPr>
          <p:spPr>
            <a:xfrm flipH="false" flipV="false" rot="0">
              <a:off x="1919095" y="63500"/>
              <a:ext cx="1733548" cy="550289"/>
            </a:xfrm>
            <a:custGeom>
              <a:avLst/>
              <a:gdLst/>
              <a:ahLst/>
              <a:cxnLst/>
              <a:rect r="r" b="b" t="t" l="l"/>
              <a:pathLst>
                <a:path h="550289" w="1733548">
                  <a:moveTo>
                    <a:pt x="1705736" y="5080"/>
                  </a:moveTo>
                  <a:lnTo>
                    <a:pt x="27813" y="5080"/>
                  </a:lnTo>
                  <a:lnTo>
                    <a:pt x="27813" y="2540"/>
                  </a:lnTo>
                  <a:lnTo>
                    <a:pt x="27813" y="5080"/>
                  </a:lnTo>
                  <a:cubicBezTo>
                    <a:pt x="15240" y="5080"/>
                    <a:pt x="5080" y="15240"/>
                    <a:pt x="5080" y="27813"/>
                  </a:cubicBezTo>
                  <a:lnTo>
                    <a:pt x="2540" y="27813"/>
                  </a:lnTo>
                  <a:lnTo>
                    <a:pt x="5080" y="27813"/>
                  </a:lnTo>
                  <a:lnTo>
                    <a:pt x="5080" y="522475"/>
                  </a:lnTo>
                  <a:lnTo>
                    <a:pt x="2540" y="522475"/>
                  </a:lnTo>
                  <a:lnTo>
                    <a:pt x="5080" y="522475"/>
                  </a:lnTo>
                  <a:cubicBezTo>
                    <a:pt x="5080" y="535048"/>
                    <a:pt x="15240" y="545208"/>
                    <a:pt x="27813" y="545208"/>
                  </a:cubicBezTo>
                  <a:lnTo>
                    <a:pt x="27813" y="547748"/>
                  </a:lnTo>
                  <a:lnTo>
                    <a:pt x="27813" y="545208"/>
                  </a:lnTo>
                  <a:lnTo>
                    <a:pt x="1705736" y="545208"/>
                  </a:lnTo>
                  <a:lnTo>
                    <a:pt x="1705736" y="547748"/>
                  </a:lnTo>
                  <a:lnTo>
                    <a:pt x="1705736" y="545208"/>
                  </a:lnTo>
                  <a:cubicBezTo>
                    <a:pt x="1718309" y="545208"/>
                    <a:pt x="1728469" y="535048"/>
                    <a:pt x="1728469" y="522475"/>
                  </a:cubicBezTo>
                  <a:lnTo>
                    <a:pt x="1731009" y="522475"/>
                  </a:lnTo>
                  <a:lnTo>
                    <a:pt x="1728469" y="522475"/>
                  </a:lnTo>
                  <a:lnTo>
                    <a:pt x="1728469" y="27813"/>
                  </a:lnTo>
                  <a:lnTo>
                    <a:pt x="1731009" y="27813"/>
                  </a:lnTo>
                  <a:lnTo>
                    <a:pt x="1728469" y="27813"/>
                  </a:lnTo>
                  <a:cubicBezTo>
                    <a:pt x="1728469" y="15240"/>
                    <a:pt x="1718309" y="5080"/>
                    <a:pt x="1705736" y="5080"/>
                  </a:cubicBezTo>
                  <a:lnTo>
                    <a:pt x="1705736" y="2540"/>
                  </a:lnTo>
                  <a:lnTo>
                    <a:pt x="1705736" y="5080"/>
                  </a:lnTo>
                  <a:moveTo>
                    <a:pt x="1705736" y="0"/>
                  </a:moveTo>
                  <a:cubicBezTo>
                    <a:pt x="1721103" y="0"/>
                    <a:pt x="1733549" y="12446"/>
                    <a:pt x="1733549" y="27813"/>
                  </a:cubicBezTo>
                  <a:lnTo>
                    <a:pt x="1733549" y="522475"/>
                  </a:lnTo>
                  <a:cubicBezTo>
                    <a:pt x="1733549" y="537842"/>
                    <a:pt x="1721103" y="550288"/>
                    <a:pt x="1705736" y="550288"/>
                  </a:cubicBezTo>
                  <a:lnTo>
                    <a:pt x="27813" y="550288"/>
                  </a:lnTo>
                  <a:cubicBezTo>
                    <a:pt x="12446" y="550288"/>
                    <a:pt x="0" y="537842"/>
                    <a:pt x="0" y="522475"/>
                  </a:cubicBezTo>
                  <a:lnTo>
                    <a:pt x="0" y="27813"/>
                  </a:lnTo>
                  <a:cubicBezTo>
                    <a:pt x="0" y="12446"/>
                    <a:pt x="12446" y="0"/>
                    <a:pt x="27813" y="0"/>
                  </a:cubicBezTo>
                  <a:lnTo>
                    <a:pt x="1705736" y="0"/>
                  </a:lnTo>
                  <a:close/>
                </a:path>
              </a:pathLst>
            </a:custGeom>
            <a:solidFill>
              <a:srgbClr val="6BB0DA"/>
            </a:solidFill>
          </p:spPr>
        </p:sp>
        <p:sp>
          <p:nvSpPr>
            <p:cNvPr name="Freeform 17" id="17"/>
            <p:cNvSpPr/>
            <p:nvPr/>
          </p:nvSpPr>
          <p:spPr>
            <a:xfrm flipH="false" flipV="false" rot="0">
              <a:off x="3777231" y="66040"/>
              <a:ext cx="1728468" cy="632457"/>
            </a:xfrm>
            <a:custGeom>
              <a:avLst/>
              <a:gdLst/>
              <a:ahLst/>
              <a:cxnLst/>
              <a:rect r="r" b="b" t="t" l="l"/>
              <a:pathLst>
                <a:path h="632457" w="1728468">
                  <a:moveTo>
                    <a:pt x="1703195" y="0"/>
                  </a:moveTo>
                  <a:lnTo>
                    <a:pt x="25273" y="0"/>
                  </a:lnTo>
                  <a:cubicBezTo>
                    <a:pt x="11302" y="0"/>
                    <a:pt x="0" y="11303"/>
                    <a:pt x="0" y="25273"/>
                  </a:cubicBezTo>
                  <a:lnTo>
                    <a:pt x="0" y="607184"/>
                  </a:lnTo>
                  <a:cubicBezTo>
                    <a:pt x="0" y="621154"/>
                    <a:pt x="11302" y="632457"/>
                    <a:pt x="25273" y="632457"/>
                  </a:cubicBezTo>
                  <a:lnTo>
                    <a:pt x="1703195" y="632457"/>
                  </a:lnTo>
                  <a:cubicBezTo>
                    <a:pt x="1717165" y="632457"/>
                    <a:pt x="1728468" y="621154"/>
                    <a:pt x="1728468" y="607184"/>
                  </a:cubicBezTo>
                  <a:lnTo>
                    <a:pt x="1728468" y="25273"/>
                  </a:lnTo>
                  <a:cubicBezTo>
                    <a:pt x="1728468" y="11303"/>
                    <a:pt x="1717165" y="0"/>
                    <a:pt x="1703195" y="0"/>
                  </a:cubicBezTo>
                  <a:close/>
                </a:path>
              </a:pathLst>
            </a:custGeom>
            <a:solidFill>
              <a:srgbClr val="77B7DD"/>
            </a:solidFill>
          </p:spPr>
        </p:sp>
        <p:sp>
          <p:nvSpPr>
            <p:cNvPr name="Freeform 18" id="18"/>
            <p:cNvSpPr/>
            <p:nvPr/>
          </p:nvSpPr>
          <p:spPr>
            <a:xfrm flipH="false" flipV="false" rot="0">
              <a:off x="3774691" y="63500"/>
              <a:ext cx="1733548" cy="637537"/>
            </a:xfrm>
            <a:custGeom>
              <a:avLst/>
              <a:gdLst/>
              <a:ahLst/>
              <a:cxnLst/>
              <a:rect r="r" b="b" t="t" l="l"/>
              <a:pathLst>
                <a:path h="637537" w="1733548">
                  <a:moveTo>
                    <a:pt x="1705735" y="5080"/>
                  </a:moveTo>
                  <a:lnTo>
                    <a:pt x="27813" y="5080"/>
                  </a:lnTo>
                  <a:lnTo>
                    <a:pt x="27813" y="2540"/>
                  </a:lnTo>
                  <a:lnTo>
                    <a:pt x="27813" y="5080"/>
                  </a:lnTo>
                  <a:cubicBezTo>
                    <a:pt x="15240" y="5080"/>
                    <a:pt x="5079" y="15240"/>
                    <a:pt x="5079" y="27813"/>
                  </a:cubicBezTo>
                  <a:lnTo>
                    <a:pt x="2540" y="27813"/>
                  </a:lnTo>
                  <a:lnTo>
                    <a:pt x="5079" y="27813"/>
                  </a:lnTo>
                  <a:lnTo>
                    <a:pt x="5079" y="609724"/>
                  </a:lnTo>
                  <a:lnTo>
                    <a:pt x="2540" y="609724"/>
                  </a:lnTo>
                  <a:lnTo>
                    <a:pt x="5079" y="609724"/>
                  </a:lnTo>
                  <a:cubicBezTo>
                    <a:pt x="5079" y="622297"/>
                    <a:pt x="15240" y="632457"/>
                    <a:pt x="27813" y="632457"/>
                  </a:cubicBezTo>
                  <a:lnTo>
                    <a:pt x="27813" y="634997"/>
                  </a:lnTo>
                  <a:lnTo>
                    <a:pt x="27813" y="632457"/>
                  </a:lnTo>
                  <a:lnTo>
                    <a:pt x="1705735" y="632457"/>
                  </a:lnTo>
                  <a:lnTo>
                    <a:pt x="1705735" y="634997"/>
                  </a:lnTo>
                  <a:lnTo>
                    <a:pt x="1705735" y="632457"/>
                  </a:lnTo>
                  <a:cubicBezTo>
                    <a:pt x="1718308" y="632457"/>
                    <a:pt x="1728468" y="622297"/>
                    <a:pt x="1728468" y="609724"/>
                  </a:cubicBezTo>
                  <a:lnTo>
                    <a:pt x="1731008" y="609724"/>
                  </a:lnTo>
                  <a:lnTo>
                    <a:pt x="1728468" y="609724"/>
                  </a:lnTo>
                  <a:lnTo>
                    <a:pt x="1728468" y="27813"/>
                  </a:lnTo>
                  <a:lnTo>
                    <a:pt x="1731008" y="27813"/>
                  </a:lnTo>
                  <a:lnTo>
                    <a:pt x="1728468" y="27813"/>
                  </a:lnTo>
                  <a:cubicBezTo>
                    <a:pt x="1728468" y="15240"/>
                    <a:pt x="1718308" y="5080"/>
                    <a:pt x="1705735" y="5080"/>
                  </a:cubicBezTo>
                  <a:lnTo>
                    <a:pt x="1705735" y="2540"/>
                  </a:lnTo>
                  <a:lnTo>
                    <a:pt x="1705735" y="5080"/>
                  </a:lnTo>
                  <a:moveTo>
                    <a:pt x="1705735" y="0"/>
                  </a:moveTo>
                  <a:cubicBezTo>
                    <a:pt x="1721102" y="0"/>
                    <a:pt x="1733548" y="12446"/>
                    <a:pt x="1733548" y="27813"/>
                  </a:cubicBezTo>
                  <a:lnTo>
                    <a:pt x="1733548" y="609724"/>
                  </a:lnTo>
                  <a:cubicBezTo>
                    <a:pt x="1733548" y="625091"/>
                    <a:pt x="1721102" y="637537"/>
                    <a:pt x="1705735" y="637537"/>
                  </a:cubicBezTo>
                  <a:lnTo>
                    <a:pt x="27813" y="637537"/>
                  </a:lnTo>
                  <a:cubicBezTo>
                    <a:pt x="12446" y="637537"/>
                    <a:pt x="0" y="625091"/>
                    <a:pt x="0" y="609724"/>
                  </a:cubicBezTo>
                  <a:lnTo>
                    <a:pt x="0" y="27813"/>
                  </a:lnTo>
                  <a:cubicBezTo>
                    <a:pt x="0" y="12446"/>
                    <a:pt x="12446" y="0"/>
                    <a:pt x="27813" y="0"/>
                  </a:cubicBezTo>
                  <a:lnTo>
                    <a:pt x="1705735" y="0"/>
                  </a:lnTo>
                  <a:close/>
                </a:path>
              </a:pathLst>
            </a:custGeom>
            <a:solidFill>
              <a:srgbClr val="6BB0DA"/>
            </a:solidFill>
          </p:spPr>
        </p:sp>
      </p:grpSp>
      <p:grpSp>
        <p:nvGrpSpPr>
          <p:cNvPr name="Group 19" id="19"/>
          <p:cNvGrpSpPr/>
          <p:nvPr/>
        </p:nvGrpSpPr>
        <p:grpSpPr>
          <a:xfrm rot="0">
            <a:off x="87687" y="1009793"/>
            <a:ext cx="5571734" cy="617077"/>
            <a:chOff x="0" y="0"/>
            <a:chExt cx="5571731" cy="617080"/>
          </a:xfrm>
        </p:grpSpPr>
        <p:sp>
          <p:nvSpPr>
            <p:cNvPr name="Freeform 20" id="20"/>
            <p:cNvSpPr/>
            <p:nvPr/>
          </p:nvSpPr>
          <p:spPr>
            <a:xfrm flipH="false" flipV="false" rot="0">
              <a:off x="66040" y="66040"/>
              <a:ext cx="1728468" cy="481331"/>
            </a:xfrm>
            <a:custGeom>
              <a:avLst/>
              <a:gdLst/>
              <a:ahLst/>
              <a:cxnLst/>
              <a:rect r="r" b="b" t="t" l="l"/>
              <a:pathLst>
                <a:path h="481331" w="1728468">
                  <a:moveTo>
                    <a:pt x="1703195" y="0"/>
                  </a:moveTo>
                  <a:lnTo>
                    <a:pt x="25273" y="0"/>
                  </a:lnTo>
                  <a:cubicBezTo>
                    <a:pt x="11303" y="0"/>
                    <a:pt x="0" y="11303"/>
                    <a:pt x="0" y="25273"/>
                  </a:cubicBezTo>
                  <a:lnTo>
                    <a:pt x="0" y="456058"/>
                  </a:lnTo>
                  <a:cubicBezTo>
                    <a:pt x="0" y="470028"/>
                    <a:pt x="11303" y="481331"/>
                    <a:pt x="25273" y="481331"/>
                  </a:cubicBezTo>
                  <a:lnTo>
                    <a:pt x="1703195" y="481331"/>
                  </a:lnTo>
                  <a:cubicBezTo>
                    <a:pt x="1717165" y="481331"/>
                    <a:pt x="1728468" y="470028"/>
                    <a:pt x="1728468" y="456058"/>
                  </a:cubicBezTo>
                  <a:lnTo>
                    <a:pt x="1728468" y="25273"/>
                  </a:lnTo>
                  <a:cubicBezTo>
                    <a:pt x="1728468" y="11303"/>
                    <a:pt x="1717165" y="0"/>
                    <a:pt x="1703195" y="0"/>
                  </a:cubicBezTo>
                  <a:close/>
                </a:path>
              </a:pathLst>
            </a:custGeom>
            <a:solidFill>
              <a:srgbClr val="77B7DD"/>
            </a:solidFill>
          </p:spPr>
        </p:sp>
        <p:sp>
          <p:nvSpPr>
            <p:cNvPr name="Freeform 21" id="21"/>
            <p:cNvSpPr/>
            <p:nvPr/>
          </p:nvSpPr>
          <p:spPr>
            <a:xfrm flipH="false" flipV="false" rot="0">
              <a:off x="63500" y="63500"/>
              <a:ext cx="1733548" cy="486411"/>
            </a:xfrm>
            <a:custGeom>
              <a:avLst/>
              <a:gdLst/>
              <a:ahLst/>
              <a:cxnLst/>
              <a:rect r="r" b="b" t="t" l="l"/>
              <a:pathLst>
                <a:path h="486411" w="1733548">
                  <a:moveTo>
                    <a:pt x="1705735" y="5080"/>
                  </a:moveTo>
                  <a:lnTo>
                    <a:pt x="27813" y="5080"/>
                  </a:lnTo>
                  <a:lnTo>
                    <a:pt x="27813" y="2540"/>
                  </a:lnTo>
                  <a:lnTo>
                    <a:pt x="27813" y="5080"/>
                  </a:lnTo>
                  <a:cubicBezTo>
                    <a:pt x="15240" y="5080"/>
                    <a:pt x="5080" y="15240"/>
                    <a:pt x="5080" y="27813"/>
                  </a:cubicBezTo>
                  <a:lnTo>
                    <a:pt x="2540" y="27813"/>
                  </a:lnTo>
                  <a:lnTo>
                    <a:pt x="5080" y="27813"/>
                  </a:lnTo>
                  <a:lnTo>
                    <a:pt x="5080" y="458598"/>
                  </a:lnTo>
                  <a:lnTo>
                    <a:pt x="2540" y="458598"/>
                  </a:lnTo>
                  <a:lnTo>
                    <a:pt x="5080" y="458598"/>
                  </a:lnTo>
                  <a:cubicBezTo>
                    <a:pt x="5080" y="471171"/>
                    <a:pt x="15240" y="481331"/>
                    <a:pt x="27813" y="481331"/>
                  </a:cubicBezTo>
                  <a:lnTo>
                    <a:pt x="27813" y="483871"/>
                  </a:lnTo>
                  <a:lnTo>
                    <a:pt x="27813" y="481331"/>
                  </a:lnTo>
                  <a:lnTo>
                    <a:pt x="1705735" y="481331"/>
                  </a:lnTo>
                  <a:lnTo>
                    <a:pt x="1705735" y="483871"/>
                  </a:lnTo>
                  <a:lnTo>
                    <a:pt x="1705735" y="481331"/>
                  </a:lnTo>
                  <a:cubicBezTo>
                    <a:pt x="1718308" y="481331"/>
                    <a:pt x="1728468" y="471171"/>
                    <a:pt x="1728468" y="458598"/>
                  </a:cubicBezTo>
                  <a:lnTo>
                    <a:pt x="1731008" y="458598"/>
                  </a:lnTo>
                  <a:lnTo>
                    <a:pt x="1728468" y="458598"/>
                  </a:lnTo>
                  <a:lnTo>
                    <a:pt x="1728468" y="27813"/>
                  </a:lnTo>
                  <a:lnTo>
                    <a:pt x="1731008" y="27813"/>
                  </a:lnTo>
                  <a:lnTo>
                    <a:pt x="1728468" y="27813"/>
                  </a:lnTo>
                  <a:cubicBezTo>
                    <a:pt x="1728468" y="15240"/>
                    <a:pt x="1718308" y="5080"/>
                    <a:pt x="1705735" y="5080"/>
                  </a:cubicBezTo>
                  <a:lnTo>
                    <a:pt x="1705735" y="2540"/>
                  </a:lnTo>
                  <a:lnTo>
                    <a:pt x="1705735" y="5080"/>
                  </a:lnTo>
                  <a:moveTo>
                    <a:pt x="1705735" y="0"/>
                  </a:moveTo>
                  <a:cubicBezTo>
                    <a:pt x="1721102" y="0"/>
                    <a:pt x="1733548" y="12446"/>
                    <a:pt x="1733548" y="27813"/>
                  </a:cubicBezTo>
                  <a:lnTo>
                    <a:pt x="1733548" y="458598"/>
                  </a:lnTo>
                  <a:cubicBezTo>
                    <a:pt x="1733548" y="473965"/>
                    <a:pt x="1721102" y="486411"/>
                    <a:pt x="1705735" y="486411"/>
                  </a:cubicBezTo>
                  <a:lnTo>
                    <a:pt x="27813" y="486411"/>
                  </a:lnTo>
                  <a:cubicBezTo>
                    <a:pt x="12446" y="486411"/>
                    <a:pt x="0" y="473965"/>
                    <a:pt x="0" y="458598"/>
                  </a:cubicBezTo>
                  <a:lnTo>
                    <a:pt x="0" y="27813"/>
                  </a:lnTo>
                  <a:cubicBezTo>
                    <a:pt x="0" y="12446"/>
                    <a:pt x="12446" y="0"/>
                    <a:pt x="27813" y="0"/>
                  </a:cubicBezTo>
                  <a:lnTo>
                    <a:pt x="1705735" y="0"/>
                  </a:lnTo>
                  <a:close/>
                </a:path>
              </a:pathLst>
            </a:custGeom>
            <a:solidFill>
              <a:srgbClr val="6BB0DA"/>
            </a:solidFill>
          </p:spPr>
        </p:sp>
        <p:sp>
          <p:nvSpPr>
            <p:cNvPr name="Freeform 22" id="22"/>
            <p:cNvSpPr/>
            <p:nvPr/>
          </p:nvSpPr>
          <p:spPr>
            <a:xfrm flipH="false" flipV="false" rot="0">
              <a:off x="1921635" y="66040"/>
              <a:ext cx="1728468" cy="485014"/>
            </a:xfrm>
            <a:custGeom>
              <a:avLst/>
              <a:gdLst/>
              <a:ahLst/>
              <a:cxnLst/>
              <a:rect r="r" b="b" t="t" l="l"/>
              <a:pathLst>
                <a:path h="485014" w="1728468">
                  <a:moveTo>
                    <a:pt x="1703196" y="0"/>
                  </a:moveTo>
                  <a:lnTo>
                    <a:pt x="25273" y="0"/>
                  </a:lnTo>
                  <a:cubicBezTo>
                    <a:pt x="11303" y="0"/>
                    <a:pt x="0" y="11303"/>
                    <a:pt x="0" y="25273"/>
                  </a:cubicBezTo>
                  <a:lnTo>
                    <a:pt x="0" y="459741"/>
                  </a:lnTo>
                  <a:cubicBezTo>
                    <a:pt x="0" y="473711"/>
                    <a:pt x="11303" y="485014"/>
                    <a:pt x="25273" y="485014"/>
                  </a:cubicBezTo>
                  <a:lnTo>
                    <a:pt x="1703196" y="485014"/>
                  </a:lnTo>
                  <a:cubicBezTo>
                    <a:pt x="1717166" y="485014"/>
                    <a:pt x="1728469" y="473711"/>
                    <a:pt x="1728469" y="459741"/>
                  </a:cubicBezTo>
                  <a:lnTo>
                    <a:pt x="1728469" y="25273"/>
                  </a:lnTo>
                  <a:cubicBezTo>
                    <a:pt x="1728469" y="11303"/>
                    <a:pt x="1717166" y="0"/>
                    <a:pt x="1703196" y="0"/>
                  </a:cubicBezTo>
                  <a:close/>
                </a:path>
              </a:pathLst>
            </a:custGeom>
            <a:solidFill>
              <a:srgbClr val="77B7DD"/>
            </a:solidFill>
          </p:spPr>
        </p:sp>
        <p:sp>
          <p:nvSpPr>
            <p:cNvPr name="Freeform 23" id="23"/>
            <p:cNvSpPr/>
            <p:nvPr/>
          </p:nvSpPr>
          <p:spPr>
            <a:xfrm flipH="false" flipV="false" rot="0">
              <a:off x="1919095" y="63500"/>
              <a:ext cx="1733548" cy="490094"/>
            </a:xfrm>
            <a:custGeom>
              <a:avLst/>
              <a:gdLst/>
              <a:ahLst/>
              <a:cxnLst/>
              <a:rect r="r" b="b" t="t" l="l"/>
              <a:pathLst>
                <a:path h="490094" w="1733548">
                  <a:moveTo>
                    <a:pt x="1705736" y="5080"/>
                  </a:moveTo>
                  <a:lnTo>
                    <a:pt x="27813" y="5080"/>
                  </a:lnTo>
                  <a:lnTo>
                    <a:pt x="27813" y="2540"/>
                  </a:lnTo>
                  <a:lnTo>
                    <a:pt x="27813" y="5080"/>
                  </a:lnTo>
                  <a:cubicBezTo>
                    <a:pt x="15240" y="5080"/>
                    <a:pt x="5080" y="15240"/>
                    <a:pt x="5080" y="27813"/>
                  </a:cubicBezTo>
                  <a:lnTo>
                    <a:pt x="2540" y="27813"/>
                  </a:lnTo>
                  <a:lnTo>
                    <a:pt x="5080" y="27813"/>
                  </a:lnTo>
                  <a:lnTo>
                    <a:pt x="5080" y="462281"/>
                  </a:lnTo>
                  <a:lnTo>
                    <a:pt x="2540" y="462281"/>
                  </a:lnTo>
                  <a:lnTo>
                    <a:pt x="5080" y="462281"/>
                  </a:lnTo>
                  <a:cubicBezTo>
                    <a:pt x="5080" y="474854"/>
                    <a:pt x="15240" y="485014"/>
                    <a:pt x="27813" y="485014"/>
                  </a:cubicBezTo>
                  <a:lnTo>
                    <a:pt x="27813" y="487554"/>
                  </a:lnTo>
                  <a:lnTo>
                    <a:pt x="27813" y="485014"/>
                  </a:lnTo>
                  <a:lnTo>
                    <a:pt x="1705736" y="485014"/>
                  </a:lnTo>
                  <a:lnTo>
                    <a:pt x="1705736" y="487554"/>
                  </a:lnTo>
                  <a:lnTo>
                    <a:pt x="1705736" y="485014"/>
                  </a:lnTo>
                  <a:cubicBezTo>
                    <a:pt x="1718309" y="485014"/>
                    <a:pt x="1728469" y="474854"/>
                    <a:pt x="1728469" y="462281"/>
                  </a:cubicBezTo>
                  <a:lnTo>
                    <a:pt x="1731009" y="462281"/>
                  </a:lnTo>
                  <a:lnTo>
                    <a:pt x="1728469" y="462281"/>
                  </a:lnTo>
                  <a:lnTo>
                    <a:pt x="1728469" y="27813"/>
                  </a:lnTo>
                  <a:lnTo>
                    <a:pt x="1731009" y="27813"/>
                  </a:lnTo>
                  <a:lnTo>
                    <a:pt x="1728469" y="27813"/>
                  </a:lnTo>
                  <a:cubicBezTo>
                    <a:pt x="1728469" y="15240"/>
                    <a:pt x="1718309" y="5080"/>
                    <a:pt x="1705736" y="5080"/>
                  </a:cubicBezTo>
                  <a:lnTo>
                    <a:pt x="1705736" y="2540"/>
                  </a:lnTo>
                  <a:lnTo>
                    <a:pt x="1705736" y="5080"/>
                  </a:lnTo>
                  <a:moveTo>
                    <a:pt x="1705736" y="0"/>
                  </a:moveTo>
                  <a:cubicBezTo>
                    <a:pt x="1721103" y="0"/>
                    <a:pt x="1733549" y="12446"/>
                    <a:pt x="1733549" y="27813"/>
                  </a:cubicBezTo>
                  <a:lnTo>
                    <a:pt x="1733549" y="462281"/>
                  </a:lnTo>
                  <a:cubicBezTo>
                    <a:pt x="1733549" y="477648"/>
                    <a:pt x="1721103" y="490094"/>
                    <a:pt x="1705736" y="490094"/>
                  </a:cubicBezTo>
                  <a:lnTo>
                    <a:pt x="27813" y="490094"/>
                  </a:lnTo>
                  <a:cubicBezTo>
                    <a:pt x="12446" y="490094"/>
                    <a:pt x="0" y="477648"/>
                    <a:pt x="0" y="462281"/>
                  </a:cubicBezTo>
                  <a:lnTo>
                    <a:pt x="0" y="27813"/>
                  </a:lnTo>
                  <a:cubicBezTo>
                    <a:pt x="0" y="12446"/>
                    <a:pt x="12446" y="0"/>
                    <a:pt x="27813" y="0"/>
                  </a:cubicBezTo>
                  <a:lnTo>
                    <a:pt x="1705736" y="0"/>
                  </a:lnTo>
                  <a:close/>
                </a:path>
              </a:pathLst>
            </a:custGeom>
            <a:solidFill>
              <a:srgbClr val="6BB0DA"/>
            </a:solidFill>
          </p:spPr>
        </p:sp>
        <p:sp>
          <p:nvSpPr>
            <p:cNvPr name="Freeform 24" id="24"/>
            <p:cNvSpPr/>
            <p:nvPr/>
          </p:nvSpPr>
          <p:spPr>
            <a:xfrm flipH="false" flipV="false" rot="0">
              <a:off x="3777231" y="66040"/>
              <a:ext cx="1728468" cy="485014"/>
            </a:xfrm>
            <a:custGeom>
              <a:avLst/>
              <a:gdLst/>
              <a:ahLst/>
              <a:cxnLst/>
              <a:rect r="r" b="b" t="t" l="l"/>
              <a:pathLst>
                <a:path h="485014" w="1728468">
                  <a:moveTo>
                    <a:pt x="1703195" y="0"/>
                  </a:moveTo>
                  <a:lnTo>
                    <a:pt x="25273" y="0"/>
                  </a:lnTo>
                  <a:cubicBezTo>
                    <a:pt x="11302" y="0"/>
                    <a:pt x="0" y="11303"/>
                    <a:pt x="0" y="25273"/>
                  </a:cubicBezTo>
                  <a:lnTo>
                    <a:pt x="0" y="459741"/>
                  </a:lnTo>
                  <a:cubicBezTo>
                    <a:pt x="0" y="473711"/>
                    <a:pt x="11302" y="485014"/>
                    <a:pt x="25273" y="485014"/>
                  </a:cubicBezTo>
                  <a:lnTo>
                    <a:pt x="1703195" y="485014"/>
                  </a:lnTo>
                  <a:cubicBezTo>
                    <a:pt x="1717165" y="485014"/>
                    <a:pt x="1728468" y="473711"/>
                    <a:pt x="1728468" y="459741"/>
                  </a:cubicBezTo>
                  <a:lnTo>
                    <a:pt x="1728468" y="25273"/>
                  </a:lnTo>
                  <a:cubicBezTo>
                    <a:pt x="1728468" y="11303"/>
                    <a:pt x="1717165" y="0"/>
                    <a:pt x="1703195" y="0"/>
                  </a:cubicBezTo>
                  <a:close/>
                </a:path>
              </a:pathLst>
            </a:custGeom>
            <a:solidFill>
              <a:srgbClr val="77B7DD"/>
            </a:solidFill>
          </p:spPr>
        </p:sp>
        <p:sp>
          <p:nvSpPr>
            <p:cNvPr name="Freeform 25" id="25"/>
            <p:cNvSpPr/>
            <p:nvPr/>
          </p:nvSpPr>
          <p:spPr>
            <a:xfrm flipH="false" flipV="false" rot="0">
              <a:off x="3774691" y="63500"/>
              <a:ext cx="1733548" cy="490094"/>
            </a:xfrm>
            <a:custGeom>
              <a:avLst/>
              <a:gdLst/>
              <a:ahLst/>
              <a:cxnLst/>
              <a:rect r="r" b="b" t="t" l="l"/>
              <a:pathLst>
                <a:path h="490094" w="1733548">
                  <a:moveTo>
                    <a:pt x="1705735" y="5080"/>
                  </a:moveTo>
                  <a:lnTo>
                    <a:pt x="27813" y="5080"/>
                  </a:lnTo>
                  <a:lnTo>
                    <a:pt x="27813" y="2540"/>
                  </a:lnTo>
                  <a:lnTo>
                    <a:pt x="27813" y="5080"/>
                  </a:lnTo>
                  <a:cubicBezTo>
                    <a:pt x="15240" y="5080"/>
                    <a:pt x="5079" y="15240"/>
                    <a:pt x="5079" y="27813"/>
                  </a:cubicBezTo>
                  <a:lnTo>
                    <a:pt x="2540" y="27813"/>
                  </a:lnTo>
                  <a:lnTo>
                    <a:pt x="5079" y="27813"/>
                  </a:lnTo>
                  <a:lnTo>
                    <a:pt x="5079" y="462281"/>
                  </a:lnTo>
                  <a:lnTo>
                    <a:pt x="2540" y="462281"/>
                  </a:lnTo>
                  <a:lnTo>
                    <a:pt x="5079" y="462281"/>
                  </a:lnTo>
                  <a:cubicBezTo>
                    <a:pt x="5079" y="474854"/>
                    <a:pt x="15240" y="485014"/>
                    <a:pt x="27813" y="485014"/>
                  </a:cubicBezTo>
                  <a:lnTo>
                    <a:pt x="27813" y="487554"/>
                  </a:lnTo>
                  <a:lnTo>
                    <a:pt x="27813" y="485014"/>
                  </a:lnTo>
                  <a:lnTo>
                    <a:pt x="1705735" y="485014"/>
                  </a:lnTo>
                  <a:lnTo>
                    <a:pt x="1705735" y="487554"/>
                  </a:lnTo>
                  <a:lnTo>
                    <a:pt x="1705735" y="485014"/>
                  </a:lnTo>
                  <a:cubicBezTo>
                    <a:pt x="1718308" y="485014"/>
                    <a:pt x="1728468" y="474854"/>
                    <a:pt x="1728468" y="462281"/>
                  </a:cubicBezTo>
                  <a:lnTo>
                    <a:pt x="1731008" y="462281"/>
                  </a:lnTo>
                  <a:lnTo>
                    <a:pt x="1728468" y="462281"/>
                  </a:lnTo>
                  <a:lnTo>
                    <a:pt x="1728468" y="27813"/>
                  </a:lnTo>
                  <a:lnTo>
                    <a:pt x="1731008" y="27813"/>
                  </a:lnTo>
                  <a:lnTo>
                    <a:pt x="1728468" y="27813"/>
                  </a:lnTo>
                  <a:cubicBezTo>
                    <a:pt x="1728468" y="15240"/>
                    <a:pt x="1718308" y="5080"/>
                    <a:pt x="1705735" y="5080"/>
                  </a:cubicBezTo>
                  <a:lnTo>
                    <a:pt x="1705735" y="2540"/>
                  </a:lnTo>
                  <a:lnTo>
                    <a:pt x="1705735" y="5080"/>
                  </a:lnTo>
                  <a:moveTo>
                    <a:pt x="1705735" y="0"/>
                  </a:moveTo>
                  <a:cubicBezTo>
                    <a:pt x="1721102" y="0"/>
                    <a:pt x="1733548" y="12446"/>
                    <a:pt x="1733548" y="27813"/>
                  </a:cubicBezTo>
                  <a:lnTo>
                    <a:pt x="1733548" y="462281"/>
                  </a:lnTo>
                  <a:cubicBezTo>
                    <a:pt x="1733548" y="477648"/>
                    <a:pt x="1721102" y="490094"/>
                    <a:pt x="1705735" y="490094"/>
                  </a:cubicBezTo>
                  <a:lnTo>
                    <a:pt x="27813" y="490094"/>
                  </a:lnTo>
                  <a:cubicBezTo>
                    <a:pt x="12446" y="490094"/>
                    <a:pt x="0" y="477648"/>
                    <a:pt x="0" y="462281"/>
                  </a:cubicBezTo>
                  <a:lnTo>
                    <a:pt x="0" y="27813"/>
                  </a:lnTo>
                  <a:cubicBezTo>
                    <a:pt x="0" y="12446"/>
                    <a:pt x="12446" y="0"/>
                    <a:pt x="27813" y="0"/>
                  </a:cubicBezTo>
                  <a:lnTo>
                    <a:pt x="1705735" y="0"/>
                  </a:lnTo>
                  <a:close/>
                </a:path>
              </a:pathLst>
            </a:custGeom>
            <a:solidFill>
              <a:srgbClr val="6BB0DA"/>
            </a:solidFill>
          </p:spPr>
        </p:sp>
      </p:grpSp>
      <p:sp>
        <p:nvSpPr>
          <p:cNvPr name="TextBox 26" id="26"/>
          <p:cNvSpPr txBox="true"/>
          <p:nvPr/>
        </p:nvSpPr>
        <p:spPr>
          <a:xfrm rot="0">
            <a:off x="249746" y="153791"/>
            <a:ext cx="229229" cy="122815"/>
          </a:xfrm>
          <a:prstGeom prst="rect">
            <a:avLst/>
          </a:prstGeom>
        </p:spPr>
        <p:txBody>
          <a:bodyPr anchor="t" rtlCol="false" tIns="0" lIns="0" bIns="0" rIns="0">
            <a:spAutoFit/>
          </a:bodyPr>
          <a:lstStyle/>
          <a:p>
            <a:pPr algn="ctr">
              <a:lnSpc>
                <a:spcPts val="478"/>
              </a:lnSpc>
            </a:pPr>
            <a:r>
              <a:rPr lang="en-US" b="true" sz="448" spc="-7">
                <a:solidFill>
                  <a:srgbClr val="263746"/>
                </a:solidFill>
                <a:latin typeface="IBM Plex Sans Bold"/>
                <a:ea typeface="IBM Plex Sans Bold"/>
                <a:cs typeface="IBM Plex Sans Bold"/>
                <a:sym typeface="IBM Plex Sans Bold"/>
              </a:rPr>
              <a:t>Circuit Breakers</a:t>
            </a:r>
          </a:p>
        </p:txBody>
      </p:sp>
      <p:sp>
        <p:nvSpPr>
          <p:cNvPr name="TextBox 27" id="27"/>
          <p:cNvSpPr txBox="true"/>
          <p:nvPr/>
        </p:nvSpPr>
        <p:spPr>
          <a:xfrm rot="0">
            <a:off x="1566739" y="23422"/>
            <a:ext cx="2678973" cy="299114"/>
          </a:xfrm>
          <a:prstGeom prst="rect">
            <a:avLst/>
          </a:prstGeom>
        </p:spPr>
        <p:txBody>
          <a:bodyPr anchor="t" rtlCol="false" tIns="0" lIns="0" bIns="0" rIns="0">
            <a:spAutoFit/>
          </a:bodyPr>
          <a:lstStyle/>
          <a:p>
            <a:pPr algn="l">
              <a:lnSpc>
                <a:spcPts val="2371"/>
              </a:lnSpc>
            </a:pPr>
            <a:r>
              <a:rPr lang="en-US" b="true" sz="1693" spc="-28">
                <a:solidFill>
                  <a:srgbClr val="183E69"/>
                </a:solidFill>
                <a:latin typeface="IBM Plex Sans Bold"/>
                <a:ea typeface="IBM Plex Sans Bold"/>
                <a:cs typeface="IBM Plex Sans Bold"/>
                <a:sym typeface="IBM Plex Sans Bold"/>
              </a:rPr>
              <a:t>IMPACT</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AND</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BENEFITS</a:t>
            </a:r>
          </a:p>
        </p:txBody>
      </p:sp>
      <p:sp>
        <p:nvSpPr>
          <p:cNvPr name="TextBox 28" id="28"/>
          <p:cNvSpPr txBox="true"/>
          <p:nvPr/>
        </p:nvSpPr>
        <p:spPr>
          <a:xfrm rot="0">
            <a:off x="2508142" y="1754610"/>
            <a:ext cx="758609" cy="136836"/>
          </a:xfrm>
          <a:prstGeom prst="rect">
            <a:avLst/>
          </a:prstGeom>
        </p:spPr>
        <p:txBody>
          <a:bodyPr anchor="t" rtlCol="false" tIns="0" lIns="0" bIns="0" rIns="0">
            <a:spAutoFit/>
          </a:bodyPr>
          <a:lstStyle/>
          <a:p>
            <a:pPr algn="l">
              <a:lnSpc>
                <a:spcPts val="1115"/>
              </a:lnSpc>
            </a:pPr>
            <a:r>
              <a:rPr lang="en-US" b="true" sz="797" spc="-13">
                <a:solidFill>
                  <a:srgbClr val="183E69"/>
                </a:solidFill>
                <a:latin typeface="IBM Plex Sans Bold"/>
                <a:ea typeface="IBM Plex Sans Bold"/>
                <a:cs typeface="IBM Plex Sans Bold"/>
                <a:sym typeface="IBM Plex Sans Bold"/>
              </a:rPr>
              <a:t>Benefit</a:t>
            </a:r>
            <a:r>
              <a:rPr lang="en-US" b="true" sz="797" spc="-13">
                <a:solidFill>
                  <a:srgbClr val="FFFFFF"/>
                </a:solidFill>
                <a:latin typeface="IBM Plex Sans Bold"/>
                <a:ea typeface="IBM Plex Sans Bold"/>
                <a:cs typeface="IBM Plex Sans Bold"/>
                <a:sym typeface="IBM Plex Sans Bold"/>
              </a:rPr>
              <a:t> </a:t>
            </a:r>
            <a:r>
              <a:rPr lang="en-US" b="true" sz="797" spc="-13">
                <a:solidFill>
                  <a:srgbClr val="183E69"/>
                </a:solidFill>
                <a:latin typeface="IBM Plex Sans Bold"/>
                <a:ea typeface="IBM Plex Sans Bold"/>
                <a:cs typeface="IBM Plex Sans Bold"/>
                <a:sym typeface="IBM Plex Sans Bold"/>
              </a:rPr>
              <a:t>Analysis</a:t>
            </a:r>
          </a:p>
        </p:txBody>
      </p:sp>
      <p:sp>
        <p:nvSpPr>
          <p:cNvPr name="TextBox 29" id="29"/>
          <p:cNvSpPr txBox="true"/>
          <p:nvPr/>
        </p:nvSpPr>
        <p:spPr>
          <a:xfrm rot="0">
            <a:off x="2056381" y="704583"/>
            <a:ext cx="1680181" cy="136836"/>
          </a:xfrm>
          <a:prstGeom prst="rect">
            <a:avLst/>
          </a:prstGeom>
        </p:spPr>
        <p:txBody>
          <a:bodyPr anchor="t" rtlCol="false" tIns="0" lIns="0" bIns="0" rIns="0">
            <a:spAutoFit/>
          </a:bodyPr>
          <a:lstStyle/>
          <a:p>
            <a:pPr algn="l">
              <a:lnSpc>
                <a:spcPts val="1115"/>
              </a:lnSpc>
            </a:pPr>
            <a:r>
              <a:rPr lang="en-US" b="true" sz="797" spc="-13">
                <a:solidFill>
                  <a:srgbClr val="183E69"/>
                </a:solidFill>
                <a:latin typeface="IBM Plex Sans Bold"/>
                <a:ea typeface="IBM Plex Sans Bold"/>
                <a:cs typeface="IBM Plex Sans Bold"/>
                <a:sym typeface="IBM Plex Sans Bold"/>
              </a:rPr>
              <a:t>Target</a:t>
            </a:r>
            <a:r>
              <a:rPr lang="en-US" b="true" sz="797" spc="-13">
                <a:solidFill>
                  <a:srgbClr val="FFFFFF"/>
                </a:solidFill>
                <a:latin typeface="IBM Plex Sans Bold"/>
                <a:ea typeface="IBM Plex Sans Bold"/>
                <a:cs typeface="IBM Plex Sans Bold"/>
                <a:sym typeface="IBM Plex Sans Bold"/>
              </a:rPr>
              <a:t> </a:t>
            </a:r>
            <a:r>
              <a:rPr lang="en-US" b="true" sz="797" spc="-13">
                <a:solidFill>
                  <a:srgbClr val="183E69"/>
                </a:solidFill>
                <a:latin typeface="IBM Plex Sans Bold"/>
                <a:ea typeface="IBM Plex Sans Bold"/>
                <a:cs typeface="IBM Plex Sans Bold"/>
                <a:sym typeface="IBM Plex Sans Bold"/>
              </a:rPr>
              <a:t>Audience</a:t>
            </a:r>
            <a:r>
              <a:rPr lang="en-US" b="true" sz="797" spc="-13">
                <a:solidFill>
                  <a:srgbClr val="FFFFFF"/>
                </a:solidFill>
                <a:latin typeface="IBM Plex Sans Bold"/>
                <a:ea typeface="IBM Plex Sans Bold"/>
                <a:cs typeface="IBM Plex Sans Bold"/>
                <a:sym typeface="IBM Plex Sans Bold"/>
              </a:rPr>
              <a:t> </a:t>
            </a:r>
            <a:r>
              <a:rPr lang="en-US" b="true" sz="797" spc="-13">
                <a:solidFill>
                  <a:srgbClr val="183E69"/>
                </a:solidFill>
                <a:latin typeface="IBM Plex Sans Bold"/>
                <a:ea typeface="IBM Plex Sans Bold"/>
                <a:cs typeface="IBM Plex Sans Bold"/>
                <a:sym typeface="IBM Plex Sans Bold"/>
              </a:rPr>
              <a:t>&amp;</a:t>
            </a:r>
            <a:r>
              <a:rPr lang="en-US" b="true" sz="797" spc="-13">
                <a:solidFill>
                  <a:srgbClr val="FFFFFF"/>
                </a:solidFill>
                <a:latin typeface="IBM Plex Sans Bold"/>
                <a:ea typeface="IBM Plex Sans Bold"/>
                <a:cs typeface="IBM Plex Sans Bold"/>
                <a:sym typeface="IBM Plex Sans Bold"/>
              </a:rPr>
              <a:t> </a:t>
            </a:r>
            <a:r>
              <a:rPr lang="en-US" b="true" sz="797" spc="-13">
                <a:solidFill>
                  <a:srgbClr val="183E69"/>
                </a:solidFill>
                <a:latin typeface="IBM Plex Sans Bold"/>
                <a:ea typeface="IBM Plex Sans Bold"/>
                <a:cs typeface="IBM Plex Sans Bold"/>
                <a:sym typeface="IBM Plex Sans Bold"/>
              </a:rPr>
              <a:t>Impact</a:t>
            </a:r>
            <a:r>
              <a:rPr lang="en-US" b="true" sz="797" spc="-13">
                <a:solidFill>
                  <a:srgbClr val="FFFFFF"/>
                </a:solidFill>
                <a:latin typeface="IBM Plex Sans Bold"/>
                <a:ea typeface="IBM Plex Sans Bold"/>
                <a:cs typeface="IBM Plex Sans Bold"/>
                <a:sym typeface="IBM Plex Sans Bold"/>
              </a:rPr>
              <a:t> </a:t>
            </a:r>
            <a:r>
              <a:rPr lang="en-US" b="true" sz="797" spc="-13">
                <a:solidFill>
                  <a:srgbClr val="183E69"/>
                </a:solidFill>
                <a:latin typeface="IBM Plex Sans Bold"/>
                <a:ea typeface="IBM Plex Sans Bold"/>
                <a:cs typeface="IBM Plex Sans Bold"/>
                <a:sym typeface="IBM Plex Sans Bold"/>
              </a:rPr>
              <a:t>Analysis</a:t>
            </a:r>
          </a:p>
        </p:txBody>
      </p:sp>
      <p:sp>
        <p:nvSpPr>
          <p:cNvPr name="TextBox 30" id="30"/>
          <p:cNvSpPr txBox="true"/>
          <p:nvPr/>
        </p:nvSpPr>
        <p:spPr>
          <a:xfrm rot="0">
            <a:off x="3928120" y="2158756"/>
            <a:ext cx="1594923" cy="535457"/>
          </a:xfrm>
          <a:prstGeom prst="rect">
            <a:avLst/>
          </a:prstGeom>
        </p:spPr>
        <p:txBody>
          <a:bodyPr anchor="t" rtlCol="false" tIns="0" lIns="0" bIns="0" rIns="0">
            <a:spAutoFit/>
          </a:bodyPr>
          <a:lstStyle/>
          <a:p>
            <a:pPr algn="l">
              <a:lnSpc>
                <a:spcPts val="779"/>
              </a:lnSpc>
            </a:pPr>
            <a:r>
              <a:rPr lang="en-US" b="true" sz="677" spc="-11">
                <a:solidFill>
                  <a:srgbClr val="263746"/>
                </a:solidFill>
                <a:latin typeface="IBM Plex Sans Bold"/>
                <a:ea typeface="IBM Plex Sans Bold"/>
                <a:cs typeface="IBM Plex Sans Bold"/>
                <a:sym typeface="IBM Plex Sans Bold"/>
              </a:rPr>
              <a:t>Mission &amp; safety impact</a:t>
            </a:r>
          </a:p>
          <a:p>
            <a:pPr algn="l">
              <a:lnSpc>
                <a:spcPts val="687"/>
              </a:lnSpc>
            </a:pP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Sustains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communication</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during</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icing</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condi- tions</a:t>
            </a:r>
          </a:p>
          <a:p>
            <a:pPr algn="l">
              <a:lnSpc>
                <a:spcPts val="687"/>
              </a:lnSpc>
            </a:pP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Lowers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fire</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and</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arc-flash</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risk</a:t>
            </a:r>
          </a:p>
          <a:p>
            <a:pPr algn="l">
              <a:lnSpc>
                <a:spcPts val="847"/>
              </a:lnSpc>
            </a:pP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Provides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real-time</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equipment-health</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visibil-</a:t>
            </a:r>
          </a:p>
          <a:p>
            <a:pPr algn="l">
              <a:lnSpc>
                <a:spcPts val="687"/>
              </a:lnSpc>
            </a:pPr>
            <a:r>
              <a:rPr lang="en-US" sz="597" spc="0">
                <a:solidFill>
                  <a:srgbClr val="263746"/>
                </a:solidFill>
                <a:latin typeface="IBM Plex Sans"/>
                <a:ea typeface="IBM Plex Sans"/>
                <a:cs typeface="IBM Plex Sans"/>
                <a:sym typeface="IBM Plex Sans"/>
              </a:rPr>
              <a:t>ity</a:t>
            </a:r>
          </a:p>
        </p:txBody>
      </p:sp>
      <p:sp>
        <p:nvSpPr>
          <p:cNvPr name="TextBox 31" id="31"/>
          <p:cNvSpPr txBox="true"/>
          <p:nvPr/>
        </p:nvSpPr>
        <p:spPr>
          <a:xfrm rot="0">
            <a:off x="216989" y="1108729"/>
            <a:ext cx="1616192" cy="363459"/>
          </a:xfrm>
          <a:prstGeom prst="rect">
            <a:avLst/>
          </a:prstGeom>
        </p:spPr>
        <p:txBody>
          <a:bodyPr anchor="t" rtlCol="false" tIns="0" lIns="0" bIns="0" rIns="0">
            <a:spAutoFit/>
          </a:bodyPr>
          <a:lstStyle/>
          <a:p>
            <a:pPr algn="l">
              <a:lnSpc>
                <a:spcPts val="718"/>
              </a:lnSpc>
            </a:pPr>
            <a:r>
              <a:rPr lang="en-US" b="true" sz="677" spc="-11">
                <a:solidFill>
                  <a:srgbClr val="263746"/>
                </a:solidFill>
                <a:latin typeface="IBM Plex Sans Bold"/>
                <a:ea typeface="IBM Plex Sans Bold"/>
                <a:cs typeface="IBM Plex Sans Bold"/>
                <a:sym typeface="IBM Plex Sans Bold"/>
              </a:rPr>
              <a:t>Indian Army &amp; frontline forces</a:t>
            </a:r>
          </a:p>
          <a:p>
            <a:pPr algn="l">
              <a:lnSpc>
                <a:spcPts val="665"/>
              </a:lnSpc>
            </a:pPr>
            <a:r>
              <a:rPr lang="en-US" sz="627" spc="0">
                <a:solidFill>
                  <a:srgbClr val="263746"/>
                </a:solidFill>
                <a:latin typeface="IBM Plex Sans"/>
                <a:ea typeface="IBM Plex Sans"/>
                <a:cs typeface="IBM Plex Sans"/>
                <a:sym typeface="IBM Plex Sans"/>
              </a:rPr>
              <a:t>Longer</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cold-weather</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mission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endurance,</a:t>
            </a:r>
          </a:p>
          <a:p>
            <a:pPr algn="l">
              <a:lnSpc>
                <a:spcPts val="866"/>
              </a:lnSpc>
            </a:pPr>
            <a:r>
              <a:rPr lang="en-US" sz="627" spc="0">
                <a:solidFill>
                  <a:srgbClr val="263746"/>
                </a:solidFill>
                <a:latin typeface="IBM Plex Sans"/>
                <a:ea typeface="IBM Plex Sans"/>
                <a:cs typeface="IBM Plex Sans"/>
                <a:sym typeface="IBM Plex Sans"/>
              </a:rPr>
              <a:t>more</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reliable</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communication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links</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and</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fewer</a:t>
            </a:r>
          </a:p>
          <a:p>
            <a:pPr algn="l">
              <a:lnSpc>
                <a:spcPts val="667"/>
              </a:lnSpc>
            </a:pPr>
            <a:r>
              <a:rPr lang="en-US" sz="627" spc="0">
                <a:solidFill>
                  <a:srgbClr val="263746"/>
                </a:solidFill>
                <a:latin typeface="IBM Plex Sans"/>
                <a:ea typeface="IBM Plex Sans"/>
                <a:cs typeface="IBM Plex Sans"/>
                <a:sym typeface="IBM Plex Sans"/>
              </a:rPr>
              <a:t>equipment-related</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mission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aborts.</a:t>
            </a:r>
          </a:p>
        </p:txBody>
      </p:sp>
      <p:sp>
        <p:nvSpPr>
          <p:cNvPr name="TextBox 32" id="32"/>
          <p:cNvSpPr txBox="true"/>
          <p:nvPr/>
        </p:nvSpPr>
        <p:spPr>
          <a:xfrm rot="0">
            <a:off x="2072554" y="1112349"/>
            <a:ext cx="1575054" cy="363459"/>
          </a:xfrm>
          <a:prstGeom prst="rect">
            <a:avLst/>
          </a:prstGeom>
        </p:spPr>
        <p:txBody>
          <a:bodyPr anchor="t" rtlCol="false" tIns="0" lIns="0" bIns="0" rIns="0">
            <a:spAutoFit/>
          </a:bodyPr>
          <a:lstStyle/>
          <a:p>
            <a:pPr algn="l">
              <a:lnSpc>
                <a:spcPts val="718"/>
              </a:lnSpc>
            </a:pPr>
            <a:r>
              <a:rPr lang="en-US" b="true" sz="677" spc="-10">
                <a:solidFill>
                  <a:srgbClr val="263746"/>
                </a:solidFill>
                <a:latin typeface="IBM Plex Sans Bold"/>
                <a:ea typeface="IBM Plex Sans Bold"/>
                <a:cs typeface="IBM Plex Sans Bold"/>
                <a:sym typeface="IBM Plex Sans Bold"/>
              </a:rPr>
              <a:t>DRDO &amp; Defence Production / IDEX</a:t>
            </a:r>
          </a:p>
          <a:p>
            <a:pPr algn="l">
              <a:lnSpc>
                <a:spcPts val="665"/>
              </a:lnSpc>
            </a:pPr>
            <a:r>
              <a:rPr lang="en-US" sz="627" spc="0">
                <a:solidFill>
                  <a:srgbClr val="263746"/>
                </a:solidFill>
                <a:latin typeface="IBM Plex Sans"/>
                <a:ea typeface="IBM Plex Sans"/>
                <a:cs typeface="IBM Plex Sans"/>
                <a:sym typeface="IBM Plex Sans"/>
              </a:rPr>
              <a:t>A</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reusable</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retrofit</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platform</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that</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hardens</a:t>
            </a:r>
          </a:p>
          <a:p>
            <a:pPr algn="l">
              <a:lnSpc>
                <a:spcPts val="866"/>
              </a:lnSpc>
            </a:pPr>
            <a:r>
              <a:rPr lang="en-US" sz="627" spc="0">
                <a:solidFill>
                  <a:srgbClr val="263746"/>
                </a:solidFill>
                <a:latin typeface="IBM Plex Sans"/>
                <a:ea typeface="IBM Plex Sans"/>
                <a:cs typeface="IBM Plex Sans"/>
                <a:sym typeface="IBM Plex Sans"/>
              </a:rPr>
              <a:t>existing</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equipment</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while</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reducing</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redesign,</a:t>
            </a:r>
          </a:p>
          <a:p>
            <a:pPr algn="l">
              <a:lnSpc>
                <a:spcPts val="667"/>
              </a:lnSpc>
            </a:pPr>
            <a:r>
              <a:rPr lang="en-US" sz="627" spc="0">
                <a:solidFill>
                  <a:srgbClr val="263746"/>
                </a:solidFill>
                <a:latin typeface="IBM Plex Sans"/>
                <a:ea typeface="IBM Plex Sans"/>
                <a:cs typeface="IBM Plex Sans"/>
                <a:sym typeface="IBM Plex Sans"/>
              </a:rPr>
              <a:t>qualification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and</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induction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effort.</a:t>
            </a:r>
          </a:p>
        </p:txBody>
      </p:sp>
      <p:sp>
        <p:nvSpPr>
          <p:cNvPr name="TextBox 33" id="33"/>
          <p:cNvSpPr txBox="true"/>
          <p:nvPr/>
        </p:nvSpPr>
        <p:spPr>
          <a:xfrm rot="0">
            <a:off x="3928120" y="1112349"/>
            <a:ext cx="1482842" cy="363459"/>
          </a:xfrm>
          <a:prstGeom prst="rect">
            <a:avLst/>
          </a:prstGeom>
        </p:spPr>
        <p:txBody>
          <a:bodyPr anchor="t" rtlCol="false" tIns="0" lIns="0" bIns="0" rIns="0">
            <a:spAutoFit/>
          </a:bodyPr>
          <a:lstStyle/>
          <a:p>
            <a:pPr algn="l">
              <a:lnSpc>
                <a:spcPts val="718"/>
              </a:lnSpc>
            </a:pPr>
            <a:r>
              <a:rPr lang="en-US" b="true" sz="677" spc="-11">
                <a:solidFill>
                  <a:srgbClr val="263746"/>
                </a:solidFill>
                <a:latin typeface="IBM Plex Sans Bold"/>
                <a:ea typeface="IBM Plex Sans Bold"/>
                <a:cs typeface="IBM Plex Sans Bold"/>
                <a:sym typeface="IBM Plex Sans Bold"/>
              </a:rPr>
              <a:t>Static installations at HAA/SHAA</a:t>
            </a:r>
          </a:p>
          <a:p>
            <a:pPr algn="l">
              <a:lnSpc>
                <a:spcPts val="665"/>
              </a:lnSpc>
            </a:pPr>
            <a:r>
              <a:rPr lang="en-US" sz="627" spc="0">
                <a:solidFill>
                  <a:srgbClr val="263746"/>
                </a:solidFill>
                <a:latin typeface="IBM Plex Sans"/>
                <a:ea typeface="IBM Plex Sans"/>
                <a:cs typeface="IBM Plex Sans"/>
                <a:sym typeface="IBM Plex Sans"/>
              </a:rPr>
              <a:t>Higher</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uptime</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for</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telecom,</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radar</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and</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re-</a:t>
            </a:r>
          </a:p>
          <a:p>
            <a:pPr algn="l">
              <a:lnSpc>
                <a:spcPts val="866"/>
              </a:lnSpc>
            </a:pPr>
            <a:r>
              <a:rPr lang="en-US" sz="627">
                <a:solidFill>
                  <a:srgbClr val="263746"/>
                </a:solidFill>
                <a:latin typeface="IBM Plex Sans"/>
                <a:ea typeface="IBM Plex Sans"/>
                <a:cs typeface="IBM Plex Sans"/>
                <a:sym typeface="IBM Plex Sans"/>
              </a:rPr>
              <a:t>mote</a:t>
            </a:r>
            <a:r>
              <a:rPr lang="en-US" sz="627">
                <a:solidFill>
                  <a:srgbClr val="FFFFFF"/>
                </a:solidFill>
                <a:latin typeface="IBM Plex Sans"/>
                <a:ea typeface="IBM Plex Sans"/>
                <a:cs typeface="IBM Plex Sans"/>
                <a:sym typeface="IBM Plex Sans"/>
              </a:rPr>
              <a:t> </a:t>
            </a:r>
            <a:r>
              <a:rPr lang="en-US" sz="627">
                <a:solidFill>
                  <a:srgbClr val="263746"/>
                </a:solidFill>
                <a:latin typeface="IBM Plex Sans"/>
                <a:ea typeface="IBM Plex Sans"/>
                <a:cs typeface="IBM Plex Sans"/>
                <a:sym typeface="IBM Plex Sans"/>
              </a:rPr>
              <a:t>posts</a:t>
            </a:r>
            <a:r>
              <a:rPr lang="en-US" sz="627">
                <a:solidFill>
                  <a:srgbClr val="FFFFFF"/>
                </a:solidFill>
                <a:latin typeface="IBM Plex Sans"/>
                <a:ea typeface="IBM Plex Sans"/>
                <a:cs typeface="IBM Plex Sans"/>
                <a:sym typeface="IBM Plex Sans"/>
              </a:rPr>
              <a:t> </a:t>
            </a:r>
            <a:r>
              <a:rPr lang="en-US" sz="627">
                <a:solidFill>
                  <a:srgbClr val="263746"/>
                </a:solidFill>
                <a:latin typeface="IBM Plex Sans"/>
                <a:ea typeface="IBM Plex Sans"/>
                <a:cs typeface="IBM Plex Sans"/>
                <a:sym typeface="IBM Plex Sans"/>
              </a:rPr>
              <a:t>through</a:t>
            </a:r>
            <a:r>
              <a:rPr lang="en-US" sz="627">
                <a:solidFill>
                  <a:srgbClr val="FFFFFF"/>
                </a:solidFill>
                <a:latin typeface="IBM Plex Sans"/>
                <a:ea typeface="IBM Plex Sans"/>
                <a:cs typeface="IBM Plex Sans"/>
                <a:sym typeface="IBM Plex Sans"/>
              </a:rPr>
              <a:t> </a:t>
            </a:r>
            <a:r>
              <a:rPr lang="en-US" sz="627">
                <a:solidFill>
                  <a:srgbClr val="263746"/>
                </a:solidFill>
                <a:latin typeface="IBM Plex Sans"/>
                <a:ea typeface="IBM Plex Sans"/>
                <a:cs typeface="IBM Plex Sans"/>
                <a:sym typeface="IBM Plex Sans"/>
              </a:rPr>
              <a:t>automated</a:t>
            </a:r>
            <a:r>
              <a:rPr lang="en-US" sz="627">
                <a:solidFill>
                  <a:srgbClr val="FFFFFF"/>
                </a:solidFill>
                <a:latin typeface="IBM Plex Sans"/>
                <a:ea typeface="IBM Plex Sans"/>
                <a:cs typeface="IBM Plex Sans"/>
                <a:sym typeface="IBM Plex Sans"/>
              </a:rPr>
              <a:t> </a:t>
            </a:r>
            <a:r>
              <a:rPr lang="en-US" sz="627">
                <a:solidFill>
                  <a:srgbClr val="263746"/>
                </a:solidFill>
                <a:latin typeface="IBM Plex Sans"/>
                <a:ea typeface="IBM Plex Sans"/>
                <a:cs typeface="IBM Plex Sans"/>
                <a:sym typeface="IBM Plex Sans"/>
              </a:rPr>
              <a:t>de-icing,</a:t>
            </a:r>
          </a:p>
          <a:p>
            <a:pPr algn="l">
              <a:lnSpc>
                <a:spcPts val="667"/>
              </a:lnSpc>
            </a:pPr>
            <a:r>
              <a:rPr lang="en-US" sz="627" spc="0">
                <a:solidFill>
                  <a:srgbClr val="263746"/>
                </a:solidFill>
                <a:latin typeface="IBM Plex Sans"/>
                <a:ea typeface="IBM Plex Sans"/>
                <a:cs typeface="IBM Plex Sans"/>
                <a:sym typeface="IBM Plex Sans"/>
              </a:rPr>
              <a:t>protection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and</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condition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monitoring.</a:t>
            </a:r>
          </a:p>
        </p:txBody>
      </p:sp>
      <p:sp>
        <p:nvSpPr>
          <p:cNvPr name="TextBox 34" id="34"/>
          <p:cNvSpPr txBox="true"/>
          <p:nvPr/>
        </p:nvSpPr>
        <p:spPr>
          <a:xfrm rot="0">
            <a:off x="134522" y="2126692"/>
            <a:ext cx="1627518" cy="741487"/>
          </a:xfrm>
          <a:prstGeom prst="rect">
            <a:avLst/>
          </a:prstGeom>
        </p:spPr>
        <p:txBody>
          <a:bodyPr anchor="t" rtlCol="false" tIns="0" lIns="0" bIns="0" rIns="0">
            <a:spAutoFit/>
          </a:bodyPr>
          <a:lstStyle/>
          <a:p>
            <a:pPr algn="l" marL="146264" indent="-73132" lvl="1">
              <a:lnSpc>
                <a:spcPts val="560"/>
              </a:lnSpc>
              <a:buFont typeface="Arial"/>
              <a:buChar char="•"/>
            </a:pPr>
            <a:r>
              <a:rPr lang="en-US" b="true" sz="677" spc="-11">
                <a:solidFill>
                  <a:srgbClr val="263746"/>
                </a:solidFill>
                <a:latin typeface="IBM Plex Sans Bold"/>
                <a:ea typeface="IBM Plex Sans Bold"/>
                <a:cs typeface="IBM Plex Sans Bold"/>
                <a:sym typeface="IBM Plex Sans Bold"/>
              </a:rPr>
              <a:t>Operational reliability</a:t>
            </a:r>
          </a:p>
          <a:p>
            <a:pPr algn="l">
              <a:lnSpc>
                <a:spcPts val="560"/>
              </a:lnSpc>
            </a:pPr>
          </a:p>
          <a:p>
            <a:pPr algn="l" marL="129056" indent="-64528" lvl="1">
              <a:lnSpc>
                <a:spcPts val="494"/>
              </a:lnSpc>
              <a:buFont typeface="Arial"/>
              <a:buChar char="•"/>
            </a:pPr>
            <a:r>
              <a:rPr lang="en-US" sz="597" spc="0">
                <a:solidFill>
                  <a:srgbClr val="263746"/>
                </a:solidFill>
                <a:latin typeface="IBM Plex Sans"/>
                <a:ea typeface="IBM Plex Sans"/>
                <a:cs typeface="IBM Plex Sans"/>
                <a:sym typeface="IBM Plex Sans"/>
              </a:rPr>
              <a:t>Detects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degradation</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before</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functional      </a:t>
            </a:r>
          </a:p>
          <a:p>
            <a:pPr algn="l">
              <a:lnSpc>
                <a:spcPts val="494"/>
              </a:lnSpc>
            </a:pPr>
          </a:p>
          <a:p>
            <a:pPr algn="l">
              <a:lnSpc>
                <a:spcPts val="494"/>
              </a:lnSpc>
            </a:pPr>
            <a:r>
              <a:rPr lang="en-US" sz="597" spc="0">
                <a:solidFill>
                  <a:srgbClr val="263746"/>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failure</a:t>
            </a:r>
          </a:p>
          <a:p>
            <a:pPr algn="l">
              <a:lnSpc>
                <a:spcPts val="888"/>
              </a:lnSpc>
            </a:pPr>
          </a:p>
          <a:p>
            <a:pPr algn="l" marL="129056" indent="-64528" lvl="1">
              <a:lnSpc>
                <a:spcPts val="888"/>
              </a:lnSpc>
              <a:buFont typeface="Arial"/>
              <a:buChar char="•"/>
            </a:pP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Maintains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batteries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within</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their</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usable ther</a:t>
            </a:r>
            <a:r>
              <a:rPr lang="en-US" sz="597" spc="0">
                <a:solidFill>
                  <a:srgbClr val="263746"/>
                </a:solidFill>
                <a:latin typeface="IBM Plex Sans"/>
                <a:ea typeface="IBM Plex Sans"/>
                <a:cs typeface="IBM Plex Sans"/>
                <a:sym typeface="IBM Plex Sans"/>
              </a:rPr>
              <a:t>mal</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range</a:t>
            </a:r>
          </a:p>
          <a:p>
            <a:pPr algn="l">
              <a:lnSpc>
                <a:spcPts val="1047"/>
              </a:lnSpc>
            </a:pPr>
          </a:p>
        </p:txBody>
      </p:sp>
      <p:sp>
        <p:nvSpPr>
          <p:cNvPr name="TextBox 35" id="35"/>
          <p:cNvSpPr txBox="true"/>
          <p:nvPr/>
        </p:nvSpPr>
        <p:spPr>
          <a:xfrm rot="0">
            <a:off x="2072545" y="2177806"/>
            <a:ext cx="1632642" cy="403675"/>
          </a:xfrm>
          <a:prstGeom prst="rect">
            <a:avLst/>
          </a:prstGeom>
        </p:spPr>
        <p:txBody>
          <a:bodyPr anchor="t" rtlCol="false" tIns="0" lIns="0" bIns="0" rIns="0">
            <a:spAutoFit/>
          </a:bodyPr>
          <a:lstStyle/>
          <a:p>
            <a:pPr algn="l">
              <a:lnSpc>
                <a:spcPts val="560"/>
              </a:lnSpc>
            </a:pPr>
            <a:r>
              <a:rPr lang="en-US" b="true" sz="677" spc="-11">
                <a:solidFill>
                  <a:srgbClr val="263746"/>
                </a:solidFill>
                <a:latin typeface="IBM Plex Sans Bold"/>
                <a:ea typeface="IBM Plex Sans Bold"/>
                <a:cs typeface="IBM Plex Sans Bold"/>
                <a:sym typeface="IBM Plex Sans Bold"/>
              </a:rPr>
              <a:t>Cost &amp; logistics savings</a:t>
            </a:r>
          </a:p>
          <a:p>
            <a:pPr algn="l">
              <a:lnSpc>
                <a:spcPts val="494"/>
              </a:lnSpc>
            </a:pPr>
          </a:p>
          <a:p>
            <a:pPr algn="l">
              <a:lnSpc>
                <a:spcPts val="888"/>
              </a:lnSpc>
            </a:pP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Reduces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emergency</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maintenance</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visits</a:t>
            </a:r>
          </a:p>
          <a:p>
            <a:pPr algn="l">
              <a:lnSpc>
                <a:spcPts val="645"/>
              </a:lnSpc>
            </a:pP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Reuses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one</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modular</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platform</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across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equip-</a:t>
            </a:r>
          </a:p>
          <a:p>
            <a:pPr algn="l">
              <a:lnSpc>
                <a:spcPts val="888"/>
              </a:lnSpc>
            </a:pPr>
            <a:r>
              <a:rPr lang="en-US" sz="597" spc="0">
                <a:solidFill>
                  <a:srgbClr val="263746"/>
                </a:solidFill>
                <a:latin typeface="IBM Plex Sans"/>
                <a:ea typeface="IBM Plex Sans"/>
                <a:cs typeface="IBM Plex Sans"/>
                <a:sym typeface="IBM Plex Sans"/>
              </a:rPr>
              <a:t>ment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types</a:t>
            </a:r>
          </a:p>
        </p:txBody>
      </p:sp>
      <p:sp>
        <p:nvSpPr>
          <p:cNvPr name="TextBox 36" id="36"/>
          <p:cNvSpPr txBox="true"/>
          <p:nvPr/>
        </p:nvSpPr>
        <p:spPr>
          <a:xfrm rot="0">
            <a:off x="2410187" y="3120009"/>
            <a:ext cx="958386" cy="92888"/>
          </a:xfrm>
          <a:prstGeom prst="rect">
            <a:avLst/>
          </a:prstGeom>
        </p:spPr>
        <p:txBody>
          <a:bodyPr anchor="t" rtlCol="false" tIns="0" lIns="0" bIns="0" rIns="0">
            <a:spAutoFit/>
          </a:bodyPr>
          <a:lstStyle/>
          <a:p>
            <a:pPr algn="l">
              <a:lnSpc>
                <a:spcPts val="725"/>
              </a:lnSpc>
            </a:pPr>
            <a:r>
              <a:rPr lang="en-US" sz="518" spc="0">
                <a:solidFill>
                  <a:srgbClr val="FFFFFF"/>
                </a:solidFill>
                <a:latin typeface="IBM Plex Sans"/>
                <a:ea typeface="IBM Plex Sans"/>
                <a:cs typeface="IBM Plex Sans"/>
                <a:sym typeface="IBM Plex Sans"/>
              </a:rPr>
              <a:t>@SIH Idea submission–Template</a:t>
            </a:r>
          </a:p>
        </p:txBody>
      </p:sp>
      <p:sp>
        <p:nvSpPr>
          <p:cNvPr name="TextBox 37" id="37"/>
          <p:cNvSpPr txBox="true"/>
          <p:nvPr/>
        </p:nvSpPr>
        <p:spPr>
          <a:xfrm rot="0">
            <a:off x="5511375" y="3110865"/>
            <a:ext cx="49682" cy="120920"/>
          </a:xfrm>
          <a:prstGeom prst="rect">
            <a:avLst/>
          </a:prstGeom>
        </p:spPr>
        <p:txBody>
          <a:bodyPr anchor="t" rtlCol="false" tIns="0" lIns="0" bIns="0" rIns="0">
            <a:spAutoFit/>
          </a:bodyPr>
          <a:lstStyle/>
          <a:p>
            <a:pPr algn="l">
              <a:lnSpc>
                <a:spcPts val="976"/>
              </a:lnSpc>
            </a:pPr>
            <a:r>
              <a:rPr lang="en-US" b="true" sz="697" spc="-11">
                <a:solidFill>
                  <a:srgbClr val="FFFFFF"/>
                </a:solidFill>
                <a:latin typeface="IBM Plex Sans Bold"/>
                <a:ea typeface="IBM Plex Sans Bold"/>
                <a:cs typeface="IBM Plex Sans Bold"/>
                <a:sym typeface="IBM Plex Sans Bold"/>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504" y="113500"/>
            <a:ext cx="425196" cy="201987"/>
            <a:chOff x="0" y="0"/>
            <a:chExt cx="425196" cy="201994"/>
          </a:xfrm>
        </p:grpSpPr>
        <p:sp>
          <p:nvSpPr>
            <p:cNvPr name="Freeform 3" id="3"/>
            <p:cNvSpPr/>
            <p:nvPr/>
          </p:nvSpPr>
          <p:spPr>
            <a:xfrm flipH="false" flipV="false" rot="0">
              <a:off x="0" y="0"/>
              <a:ext cx="425194" cy="201932"/>
            </a:xfrm>
            <a:custGeom>
              <a:avLst/>
              <a:gdLst/>
              <a:ahLst/>
              <a:cxnLst/>
              <a:rect r="r" b="b" t="t" l="l"/>
              <a:pathLst>
                <a:path h="201932" w="425194">
                  <a:moveTo>
                    <a:pt x="396111" y="7620"/>
                  </a:moveTo>
                  <a:lnTo>
                    <a:pt x="29083" y="7620"/>
                  </a:lnTo>
                  <a:lnTo>
                    <a:pt x="29083" y="3810"/>
                  </a:lnTo>
                  <a:lnTo>
                    <a:pt x="29083" y="7620"/>
                  </a:lnTo>
                  <a:cubicBezTo>
                    <a:pt x="17272" y="7620"/>
                    <a:pt x="7620" y="17272"/>
                    <a:pt x="7620" y="29083"/>
                  </a:cubicBezTo>
                  <a:lnTo>
                    <a:pt x="3810" y="29083"/>
                  </a:lnTo>
                  <a:lnTo>
                    <a:pt x="7620" y="29083"/>
                  </a:lnTo>
                  <a:lnTo>
                    <a:pt x="7620" y="172849"/>
                  </a:lnTo>
                  <a:lnTo>
                    <a:pt x="3810" y="172849"/>
                  </a:lnTo>
                  <a:lnTo>
                    <a:pt x="7620" y="172849"/>
                  </a:lnTo>
                  <a:cubicBezTo>
                    <a:pt x="7620" y="184787"/>
                    <a:pt x="17272" y="194312"/>
                    <a:pt x="29083" y="194312"/>
                  </a:cubicBezTo>
                  <a:lnTo>
                    <a:pt x="29083" y="198122"/>
                  </a:lnTo>
                  <a:lnTo>
                    <a:pt x="29083" y="194312"/>
                  </a:lnTo>
                  <a:lnTo>
                    <a:pt x="396111" y="194312"/>
                  </a:lnTo>
                  <a:lnTo>
                    <a:pt x="396111" y="198122"/>
                  </a:lnTo>
                  <a:lnTo>
                    <a:pt x="396111" y="194312"/>
                  </a:lnTo>
                  <a:cubicBezTo>
                    <a:pt x="408049" y="194312"/>
                    <a:pt x="417574" y="184660"/>
                    <a:pt x="417574" y="172849"/>
                  </a:cubicBezTo>
                  <a:lnTo>
                    <a:pt x="421384" y="172849"/>
                  </a:lnTo>
                  <a:lnTo>
                    <a:pt x="417574" y="172849"/>
                  </a:lnTo>
                  <a:lnTo>
                    <a:pt x="417574" y="29083"/>
                  </a:lnTo>
                  <a:lnTo>
                    <a:pt x="421384" y="29083"/>
                  </a:lnTo>
                  <a:lnTo>
                    <a:pt x="417574" y="29083"/>
                  </a:lnTo>
                  <a:cubicBezTo>
                    <a:pt x="417574" y="17145"/>
                    <a:pt x="407922" y="7620"/>
                    <a:pt x="396111" y="7620"/>
                  </a:cubicBezTo>
                  <a:lnTo>
                    <a:pt x="396111" y="3810"/>
                  </a:lnTo>
                  <a:lnTo>
                    <a:pt x="396111" y="7620"/>
                  </a:lnTo>
                  <a:moveTo>
                    <a:pt x="396111" y="0"/>
                  </a:moveTo>
                  <a:cubicBezTo>
                    <a:pt x="412240" y="0"/>
                    <a:pt x="425194" y="13081"/>
                    <a:pt x="425194" y="29083"/>
                  </a:cubicBezTo>
                  <a:lnTo>
                    <a:pt x="425194" y="172849"/>
                  </a:lnTo>
                  <a:cubicBezTo>
                    <a:pt x="425194" y="188978"/>
                    <a:pt x="412113" y="201932"/>
                    <a:pt x="396111" y="201932"/>
                  </a:cubicBezTo>
                  <a:lnTo>
                    <a:pt x="29083" y="201932"/>
                  </a:lnTo>
                  <a:cubicBezTo>
                    <a:pt x="13081" y="201932"/>
                    <a:pt x="0" y="188978"/>
                    <a:pt x="0" y="172849"/>
                  </a:cubicBezTo>
                  <a:lnTo>
                    <a:pt x="0" y="29083"/>
                  </a:lnTo>
                  <a:cubicBezTo>
                    <a:pt x="0" y="13081"/>
                    <a:pt x="13081" y="0"/>
                    <a:pt x="29083" y="0"/>
                  </a:cubicBezTo>
                  <a:lnTo>
                    <a:pt x="396111" y="0"/>
                  </a:lnTo>
                  <a:close/>
                </a:path>
              </a:pathLst>
            </a:custGeom>
            <a:solidFill>
              <a:srgbClr val="70419B"/>
            </a:solidFill>
          </p:spPr>
        </p:sp>
      </p:grpSp>
      <p:grpSp>
        <p:nvGrpSpPr>
          <p:cNvPr name="Group 4" id="4"/>
          <p:cNvGrpSpPr/>
          <p:nvPr/>
        </p:nvGrpSpPr>
        <p:grpSpPr>
          <a:xfrm rot="0">
            <a:off x="4854483" y="77495"/>
            <a:ext cx="755990" cy="356483"/>
            <a:chOff x="0" y="0"/>
            <a:chExt cx="1007986" cy="475310"/>
          </a:xfrm>
        </p:grpSpPr>
        <p:sp>
          <p:nvSpPr>
            <p:cNvPr name="Freeform 5" id="5"/>
            <p:cNvSpPr/>
            <p:nvPr/>
          </p:nvSpPr>
          <p:spPr>
            <a:xfrm flipH="false" flipV="false" rot="0">
              <a:off x="0" y="0"/>
              <a:ext cx="1007999" cy="475361"/>
            </a:xfrm>
            <a:custGeom>
              <a:avLst/>
              <a:gdLst/>
              <a:ahLst/>
              <a:cxnLst/>
              <a:rect r="r" b="b" t="t" l="l"/>
              <a:pathLst>
                <a:path h="475361" w="1007999">
                  <a:moveTo>
                    <a:pt x="0" y="0"/>
                  </a:moveTo>
                  <a:lnTo>
                    <a:pt x="1007999" y="0"/>
                  </a:lnTo>
                  <a:lnTo>
                    <a:pt x="1007999" y="475361"/>
                  </a:lnTo>
                  <a:lnTo>
                    <a:pt x="0" y="475361"/>
                  </a:lnTo>
                  <a:lnTo>
                    <a:pt x="0" y="0"/>
                  </a:lnTo>
                  <a:close/>
                </a:path>
              </a:pathLst>
            </a:custGeom>
            <a:blipFill>
              <a:blip r:embed="rId2"/>
              <a:stretch>
                <a:fillRect l="0" t="0" r="1" b="10"/>
              </a:stretch>
            </a:blipFill>
          </p:spPr>
        </p:sp>
      </p:grpSp>
      <p:grpSp>
        <p:nvGrpSpPr>
          <p:cNvPr name="Group 6" id="6"/>
          <p:cNvGrpSpPr/>
          <p:nvPr/>
        </p:nvGrpSpPr>
        <p:grpSpPr>
          <a:xfrm rot="0">
            <a:off x="-8" y="3124810"/>
            <a:ext cx="5760072" cy="115205"/>
            <a:chOff x="0" y="0"/>
            <a:chExt cx="5760072" cy="115202"/>
          </a:xfrm>
        </p:grpSpPr>
        <p:sp>
          <p:nvSpPr>
            <p:cNvPr name="Freeform 7" id="7"/>
            <p:cNvSpPr/>
            <p:nvPr/>
          </p:nvSpPr>
          <p:spPr>
            <a:xfrm flipH="false" flipV="false" rot="0">
              <a:off x="0" y="0"/>
              <a:ext cx="5760083" cy="115186"/>
            </a:xfrm>
            <a:custGeom>
              <a:avLst/>
              <a:gdLst/>
              <a:ahLst/>
              <a:cxnLst/>
              <a:rect r="r" b="b" t="t" l="l"/>
              <a:pathLst>
                <a:path h="115186" w="5760083">
                  <a:moveTo>
                    <a:pt x="0" y="115186"/>
                  </a:moveTo>
                  <a:lnTo>
                    <a:pt x="0" y="0"/>
                  </a:lnTo>
                  <a:lnTo>
                    <a:pt x="5760083" y="0"/>
                  </a:lnTo>
                  <a:lnTo>
                    <a:pt x="5760083" y="115186"/>
                  </a:lnTo>
                  <a:close/>
                </a:path>
              </a:pathLst>
            </a:custGeom>
            <a:solidFill>
              <a:srgbClr val="087CC1"/>
            </a:solidFill>
          </p:spPr>
        </p:sp>
      </p:grpSp>
      <p:grpSp>
        <p:nvGrpSpPr>
          <p:cNvPr name="Group 8" id="8"/>
          <p:cNvGrpSpPr/>
          <p:nvPr/>
        </p:nvGrpSpPr>
        <p:grpSpPr>
          <a:xfrm rot="0">
            <a:off x="87659" y="801129"/>
            <a:ext cx="5737116" cy="1968031"/>
            <a:chOff x="0" y="0"/>
            <a:chExt cx="5561876" cy="1907926"/>
          </a:xfrm>
        </p:grpSpPr>
        <p:sp>
          <p:nvSpPr>
            <p:cNvPr name="Freeform 9" id="9"/>
            <p:cNvSpPr/>
            <p:nvPr/>
          </p:nvSpPr>
          <p:spPr>
            <a:xfrm flipH="false" flipV="false" rot="0">
              <a:off x="66040" y="83074"/>
              <a:ext cx="5429759" cy="1741848"/>
            </a:xfrm>
            <a:custGeom>
              <a:avLst/>
              <a:gdLst/>
              <a:ahLst/>
              <a:cxnLst/>
              <a:rect r="r" b="b" t="t" l="l"/>
              <a:pathLst>
                <a:path h="1741848" w="5429759">
                  <a:moveTo>
                    <a:pt x="5391786" y="0"/>
                  </a:moveTo>
                  <a:lnTo>
                    <a:pt x="37973" y="0"/>
                  </a:lnTo>
                  <a:cubicBezTo>
                    <a:pt x="17018" y="0"/>
                    <a:pt x="0" y="21408"/>
                    <a:pt x="0" y="47768"/>
                  </a:cubicBezTo>
                  <a:lnTo>
                    <a:pt x="0" y="1694080"/>
                  </a:lnTo>
                  <a:cubicBezTo>
                    <a:pt x="0" y="1720441"/>
                    <a:pt x="17018" y="1741848"/>
                    <a:pt x="37973" y="1741848"/>
                  </a:cubicBezTo>
                  <a:lnTo>
                    <a:pt x="5391786" y="1741848"/>
                  </a:lnTo>
                  <a:cubicBezTo>
                    <a:pt x="5412741" y="1741848"/>
                    <a:pt x="5429759" y="1720441"/>
                    <a:pt x="5429759" y="1694080"/>
                  </a:cubicBezTo>
                  <a:lnTo>
                    <a:pt x="5429759" y="47768"/>
                  </a:lnTo>
                  <a:cubicBezTo>
                    <a:pt x="5429759" y="21408"/>
                    <a:pt x="5412741" y="0"/>
                    <a:pt x="5391786" y="0"/>
                  </a:cubicBezTo>
                  <a:close/>
                </a:path>
              </a:pathLst>
            </a:custGeom>
            <a:solidFill>
              <a:srgbClr val="77B7DD"/>
            </a:solidFill>
          </p:spPr>
        </p:sp>
        <p:sp>
          <p:nvSpPr>
            <p:cNvPr name="Freeform 10" id="10"/>
            <p:cNvSpPr/>
            <p:nvPr/>
          </p:nvSpPr>
          <p:spPr>
            <a:xfrm flipH="false" flipV="false" rot="0">
              <a:off x="63500" y="79879"/>
              <a:ext cx="5434839" cy="1748238"/>
            </a:xfrm>
            <a:custGeom>
              <a:avLst/>
              <a:gdLst/>
              <a:ahLst/>
              <a:cxnLst/>
              <a:rect r="r" b="b" t="t" l="l"/>
              <a:pathLst>
                <a:path h="1748238" w="5434839">
                  <a:moveTo>
                    <a:pt x="5394326" y="6391"/>
                  </a:moveTo>
                  <a:lnTo>
                    <a:pt x="40513" y="6391"/>
                  </a:lnTo>
                  <a:lnTo>
                    <a:pt x="40513" y="3195"/>
                  </a:lnTo>
                  <a:lnTo>
                    <a:pt x="40513" y="6391"/>
                  </a:lnTo>
                  <a:cubicBezTo>
                    <a:pt x="20955" y="6391"/>
                    <a:pt x="5080" y="26360"/>
                    <a:pt x="5080" y="50963"/>
                  </a:cubicBezTo>
                  <a:lnTo>
                    <a:pt x="2540" y="50963"/>
                  </a:lnTo>
                  <a:lnTo>
                    <a:pt x="5080" y="50963"/>
                  </a:lnTo>
                  <a:lnTo>
                    <a:pt x="5080" y="1697275"/>
                  </a:lnTo>
                  <a:lnTo>
                    <a:pt x="2540" y="1697275"/>
                  </a:lnTo>
                  <a:lnTo>
                    <a:pt x="5080" y="1697275"/>
                  </a:lnTo>
                  <a:cubicBezTo>
                    <a:pt x="5080" y="1721878"/>
                    <a:pt x="20955" y="1741848"/>
                    <a:pt x="40513" y="1741848"/>
                  </a:cubicBezTo>
                  <a:lnTo>
                    <a:pt x="40513" y="1745043"/>
                  </a:lnTo>
                  <a:lnTo>
                    <a:pt x="40513" y="1741848"/>
                  </a:lnTo>
                  <a:lnTo>
                    <a:pt x="5394326" y="1741848"/>
                  </a:lnTo>
                  <a:lnTo>
                    <a:pt x="5394326" y="1745043"/>
                  </a:lnTo>
                  <a:lnTo>
                    <a:pt x="5394326" y="1741848"/>
                  </a:lnTo>
                  <a:cubicBezTo>
                    <a:pt x="5413884" y="1741848"/>
                    <a:pt x="5429759" y="1721878"/>
                    <a:pt x="5429759" y="1697275"/>
                  </a:cubicBezTo>
                  <a:lnTo>
                    <a:pt x="5432299" y="1697275"/>
                  </a:lnTo>
                  <a:lnTo>
                    <a:pt x="5429759" y="1697275"/>
                  </a:lnTo>
                  <a:lnTo>
                    <a:pt x="5429759" y="50963"/>
                  </a:lnTo>
                  <a:lnTo>
                    <a:pt x="5432299" y="50963"/>
                  </a:lnTo>
                  <a:lnTo>
                    <a:pt x="5429759" y="50963"/>
                  </a:lnTo>
                  <a:cubicBezTo>
                    <a:pt x="5429759" y="26360"/>
                    <a:pt x="5413884" y="6391"/>
                    <a:pt x="5394326" y="6391"/>
                  </a:cubicBezTo>
                  <a:lnTo>
                    <a:pt x="5394326" y="3195"/>
                  </a:lnTo>
                  <a:lnTo>
                    <a:pt x="5394326" y="6391"/>
                  </a:lnTo>
                  <a:moveTo>
                    <a:pt x="5394326" y="0"/>
                  </a:moveTo>
                  <a:cubicBezTo>
                    <a:pt x="5416678" y="0"/>
                    <a:pt x="5434839" y="22846"/>
                    <a:pt x="5434839" y="50963"/>
                  </a:cubicBezTo>
                  <a:lnTo>
                    <a:pt x="5434839" y="1697275"/>
                  </a:lnTo>
                  <a:cubicBezTo>
                    <a:pt x="5434839" y="1725393"/>
                    <a:pt x="5416678" y="1748238"/>
                    <a:pt x="5394326" y="1748238"/>
                  </a:cubicBezTo>
                  <a:lnTo>
                    <a:pt x="40513" y="1748238"/>
                  </a:lnTo>
                  <a:cubicBezTo>
                    <a:pt x="18161" y="1748238"/>
                    <a:pt x="0" y="1725393"/>
                    <a:pt x="0" y="1697275"/>
                  </a:cubicBezTo>
                  <a:lnTo>
                    <a:pt x="0" y="50963"/>
                  </a:lnTo>
                  <a:cubicBezTo>
                    <a:pt x="0" y="22846"/>
                    <a:pt x="18161" y="0"/>
                    <a:pt x="40513" y="0"/>
                  </a:cubicBezTo>
                  <a:lnTo>
                    <a:pt x="5394326" y="0"/>
                  </a:lnTo>
                  <a:close/>
                </a:path>
              </a:pathLst>
            </a:custGeom>
            <a:solidFill>
              <a:srgbClr val="90C4E3"/>
            </a:solidFill>
          </p:spPr>
        </p:sp>
      </p:grpSp>
      <p:sp>
        <p:nvSpPr>
          <p:cNvPr name="TextBox 11" id="11"/>
          <p:cNvSpPr txBox="true"/>
          <p:nvPr/>
        </p:nvSpPr>
        <p:spPr>
          <a:xfrm rot="0">
            <a:off x="249746" y="153791"/>
            <a:ext cx="229229" cy="122815"/>
          </a:xfrm>
          <a:prstGeom prst="rect">
            <a:avLst/>
          </a:prstGeom>
        </p:spPr>
        <p:txBody>
          <a:bodyPr anchor="t" rtlCol="false" tIns="0" lIns="0" bIns="0" rIns="0">
            <a:spAutoFit/>
          </a:bodyPr>
          <a:lstStyle/>
          <a:p>
            <a:pPr algn="ctr">
              <a:lnSpc>
                <a:spcPts val="478"/>
              </a:lnSpc>
            </a:pPr>
            <a:r>
              <a:rPr lang="en-US" b="true" sz="448" spc="-7">
                <a:solidFill>
                  <a:srgbClr val="263746"/>
                </a:solidFill>
                <a:latin typeface="IBM Plex Sans Bold"/>
                <a:ea typeface="IBM Plex Sans Bold"/>
                <a:cs typeface="IBM Plex Sans Bold"/>
                <a:sym typeface="IBM Plex Sans Bold"/>
              </a:rPr>
              <a:t>Circuit Breakers</a:t>
            </a:r>
          </a:p>
        </p:txBody>
      </p:sp>
      <p:sp>
        <p:nvSpPr>
          <p:cNvPr name="TextBox 12" id="12"/>
          <p:cNvSpPr txBox="true"/>
          <p:nvPr/>
        </p:nvSpPr>
        <p:spPr>
          <a:xfrm rot="0">
            <a:off x="1236907" y="23422"/>
            <a:ext cx="3351819" cy="299114"/>
          </a:xfrm>
          <a:prstGeom prst="rect">
            <a:avLst/>
          </a:prstGeom>
        </p:spPr>
        <p:txBody>
          <a:bodyPr anchor="t" rtlCol="false" tIns="0" lIns="0" bIns="0" rIns="0">
            <a:spAutoFit/>
          </a:bodyPr>
          <a:lstStyle/>
          <a:p>
            <a:pPr algn="l">
              <a:lnSpc>
                <a:spcPts val="2371"/>
              </a:lnSpc>
            </a:pPr>
            <a:r>
              <a:rPr lang="en-US" b="true" sz="1693" spc="-28">
                <a:solidFill>
                  <a:srgbClr val="183E69"/>
                </a:solidFill>
                <a:latin typeface="IBM Plex Sans Bold"/>
                <a:ea typeface="IBM Plex Sans Bold"/>
                <a:cs typeface="IBM Plex Sans Bold"/>
                <a:sym typeface="IBM Plex Sans Bold"/>
              </a:rPr>
              <a:t>RESEARCH</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AND</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REFERENCES</a:t>
            </a:r>
          </a:p>
        </p:txBody>
      </p:sp>
      <p:sp>
        <p:nvSpPr>
          <p:cNvPr name="TextBox 13" id="13"/>
          <p:cNvSpPr txBox="true"/>
          <p:nvPr/>
        </p:nvSpPr>
        <p:spPr>
          <a:xfrm rot="0">
            <a:off x="264033" y="907228"/>
            <a:ext cx="5176123" cy="469664"/>
          </a:xfrm>
          <a:prstGeom prst="rect">
            <a:avLst/>
          </a:prstGeom>
        </p:spPr>
        <p:txBody>
          <a:bodyPr anchor="t" rtlCol="false" tIns="0" lIns="0" bIns="0" rIns="0">
            <a:spAutoFit/>
          </a:bodyPr>
          <a:lstStyle/>
          <a:p>
            <a:pPr algn="l">
              <a:lnSpc>
                <a:spcPts val="1457"/>
              </a:lnSpc>
            </a:pPr>
            <a:r>
              <a:rPr lang="en-US" b="true" sz="797" spc="-13">
                <a:solidFill>
                  <a:srgbClr val="263746"/>
                </a:solidFill>
                <a:latin typeface="IBM Plex Sans Bold"/>
                <a:ea typeface="IBM Plex Sans Bold"/>
                <a:cs typeface="IBM Plex Sans Bold"/>
                <a:sym typeface="IBM Plex Sans Bold"/>
              </a:rPr>
              <a:t>Technical Foundation &amp; Prior Art</a:t>
            </a:r>
          </a:p>
          <a:p>
            <a:pPr algn="l">
              <a:lnSpc>
                <a:spcPts val="1380"/>
              </a:lnSpc>
            </a:pPr>
            <a:r>
              <a:rPr lang="en-US" sz="677" spc="0">
                <a:solidFill>
                  <a:srgbClr val="087CC1"/>
                </a:solidFill>
                <a:latin typeface="IBM Plex Sans"/>
                <a:ea typeface="IBM Plex Sans"/>
                <a:cs typeface="IBM Plex Sans"/>
                <a:sym typeface="IBM Plex Sans"/>
              </a:rPr>
              <a: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MIL-STD-810H,</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Methods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500.6</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and</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502.6</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Qualification</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Framework</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for</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Low-Pressure</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and</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Low-Temperature</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Operation.</a:t>
            </a:r>
          </a:p>
          <a:p>
            <a:pPr algn="l">
              <a:lnSpc>
                <a:spcPts val="967"/>
              </a:lnSpc>
            </a:pPr>
            <a:r>
              <a:rPr lang="en-US" sz="677" spc="-11">
                <a:solidFill>
                  <a:srgbClr val="087CC1"/>
                </a:solidFill>
                <a:latin typeface="IBM Plex Sans"/>
                <a:ea typeface="IBM Plex Sans"/>
                <a:cs typeface="IBM Plex Sans"/>
                <a:sym typeface="IBM Plex Sans"/>
              </a:rPr>
              <a:t>•</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Low-Pressure</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Partial</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Discharge</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in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Wide-Bandgap</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Power</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Modules</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Technical</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Basis</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for</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Pressure-Aware</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Switching</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and</a:t>
            </a:r>
          </a:p>
        </p:txBody>
      </p:sp>
      <p:sp>
        <p:nvSpPr>
          <p:cNvPr name="TextBox 14" id="14"/>
          <p:cNvSpPr txBox="true"/>
          <p:nvPr/>
        </p:nvSpPr>
        <p:spPr>
          <a:xfrm rot="0">
            <a:off x="404403" y="1362075"/>
            <a:ext cx="1610192" cy="128064"/>
          </a:xfrm>
          <a:prstGeom prst="rect">
            <a:avLst/>
          </a:prstGeom>
        </p:spPr>
        <p:txBody>
          <a:bodyPr anchor="t" rtlCol="false" tIns="0" lIns="0" bIns="0" rIns="0">
            <a:spAutoFit/>
          </a:bodyPr>
          <a:lstStyle/>
          <a:p>
            <a:pPr algn="l">
              <a:lnSpc>
                <a:spcPts val="948"/>
              </a:lnSpc>
            </a:pPr>
            <a:r>
              <a:rPr lang="en-US" sz="677" spc="0">
                <a:solidFill>
                  <a:srgbClr val="263746"/>
                </a:solidFill>
                <a:latin typeface="IBM Plex Sans"/>
                <a:ea typeface="IBM Plex Sans"/>
                <a:cs typeface="IBM Plex Sans"/>
                <a:sym typeface="IBM Plex Sans"/>
              </a:rPr>
              <a:t>Converter</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De-rating</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(arXiv:2006.15001).</a:t>
            </a:r>
          </a:p>
        </p:txBody>
      </p:sp>
      <p:sp>
        <p:nvSpPr>
          <p:cNvPr name="TextBox 15" id="15"/>
          <p:cNvSpPr txBox="true"/>
          <p:nvPr/>
        </p:nvSpPr>
        <p:spPr>
          <a:xfrm rot="0">
            <a:off x="264033" y="1511170"/>
            <a:ext cx="5135851" cy="128064"/>
          </a:xfrm>
          <a:prstGeom prst="rect">
            <a:avLst/>
          </a:prstGeom>
        </p:spPr>
        <p:txBody>
          <a:bodyPr anchor="t" rtlCol="false" tIns="0" lIns="0" bIns="0" rIns="0">
            <a:spAutoFit/>
          </a:bodyPr>
          <a:lstStyle/>
          <a:p>
            <a:pPr algn="l">
              <a:lnSpc>
                <a:spcPts val="948"/>
              </a:lnSpc>
            </a:pPr>
            <a:r>
              <a:rPr lang="en-US" sz="677" spc="0">
                <a:solidFill>
                  <a:srgbClr val="087CC1"/>
                </a:solidFill>
                <a:latin typeface="IBM Plex Sans"/>
                <a:ea typeface="IBM Plex Sans"/>
                <a:cs typeface="IBM Plex Sans"/>
                <a:sym typeface="IBM Plex Sans"/>
              </a:rPr>
              <a: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Low-Temperature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Lithium-Ion</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Cell</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Research</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Supports</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Predictive</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Preheating</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and</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Pulsed-Current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Thermal</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Management</a:t>
            </a:r>
          </a:p>
        </p:txBody>
      </p:sp>
      <p:sp>
        <p:nvSpPr>
          <p:cNvPr name="TextBox 16" id="16"/>
          <p:cNvSpPr txBox="true"/>
          <p:nvPr/>
        </p:nvSpPr>
        <p:spPr>
          <a:xfrm rot="0">
            <a:off x="404403" y="1609868"/>
            <a:ext cx="1314240" cy="128064"/>
          </a:xfrm>
          <a:prstGeom prst="rect">
            <a:avLst/>
          </a:prstGeom>
        </p:spPr>
        <p:txBody>
          <a:bodyPr anchor="t" rtlCol="false" tIns="0" lIns="0" bIns="0" rIns="0">
            <a:spAutoFit/>
          </a:bodyPr>
          <a:lstStyle/>
          <a:p>
            <a:pPr algn="l">
              <a:lnSpc>
                <a:spcPts val="948"/>
              </a:lnSpc>
            </a:pPr>
            <a:r>
              <a:rPr lang="en-US" sz="677" spc="0">
                <a:solidFill>
                  <a:srgbClr val="263746"/>
                </a:solidFill>
                <a:latin typeface="IBM Plex Sans"/>
                <a:ea typeface="IBM Plex Sans"/>
                <a:cs typeface="IBM Plex Sans"/>
                <a:sym typeface="IBM Plex Sans"/>
              </a:rPr>
              <a:t>Strategies</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(ScienceDirect,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2025).</a:t>
            </a:r>
          </a:p>
        </p:txBody>
      </p:sp>
      <p:sp>
        <p:nvSpPr>
          <p:cNvPr name="TextBox 17" id="17"/>
          <p:cNvSpPr txBox="true"/>
          <p:nvPr/>
        </p:nvSpPr>
        <p:spPr>
          <a:xfrm rot="0">
            <a:off x="264033" y="1758953"/>
            <a:ext cx="5212128" cy="128064"/>
          </a:xfrm>
          <a:prstGeom prst="rect">
            <a:avLst/>
          </a:prstGeom>
        </p:spPr>
        <p:txBody>
          <a:bodyPr anchor="t" rtlCol="false" tIns="0" lIns="0" bIns="0" rIns="0">
            <a:spAutoFit/>
          </a:bodyPr>
          <a:lstStyle/>
          <a:p>
            <a:pPr algn="l">
              <a:lnSpc>
                <a:spcPts val="948"/>
              </a:lnSpc>
            </a:pPr>
            <a:r>
              <a:rPr lang="en-US" sz="677" spc="0">
                <a:solidFill>
                  <a:srgbClr val="087CC1"/>
                </a:solidFill>
                <a:latin typeface="IBM Plex Sans"/>
                <a:ea typeface="IBM Plex Sans"/>
                <a:cs typeface="IBM Plex Sans"/>
                <a:sym typeface="IBM Plex Sans"/>
              </a:rPr>
              <a: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US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Patents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9,083,065</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and</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5,834,131</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Prior</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Art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for</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Self-Heating</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Battery</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Systems;</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HIMKAVACH</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adds</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SensorFfusion</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and</a:t>
            </a:r>
          </a:p>
        </p:txBody>
      </p:sp>
      <p:sp>
        <p:nvSpPr>
          <p:cNvPr name="TextBox 18" id="18"/>
          <p:cNvSpPr txBox="true"/>
          <p:nvPr/>
        </p:nvSpPr>
        <p:spPr>
          <a:xfrm rot="0">
            <a:off x="404403" y="1857642"/>
            <a:ext cx="689173" cy="230443"/>
          </a:xfrm>
          <a:prstGeom prst="rect">
            <a:avLst/>
          </a:prstGeom>
        </p:spPr>
        <p:txBody>
          <a:bodyPr anchor="t" rtlCol="false" tIns="0" lIns="0" bIns="0" rIns="0">
            <a:spAutoFit/>
          </a:bodyPr>
          <a:lstStyle/>
          <a:p>
            <a:pPr algn="l">
              <a:lnSpc>
                <a:spcPts val="948"/>
              </a:lnSpc>
            </a:pPr>
            <a:r>
              <a:rPr lang="en-US" sz="677" spc="0">
                <a:solidFill>
                  <a:srgbClr val="263746"/>
                </a:solidFill>
                <a:latin typeface="IBM Plex Sans"/>
                <a:ea typeface="IBM Plex Sans"/>
                <a:cs typeface="IBM Plex Sans"/>
                <a:sym typeface="IBM Plex Sans"/>
              </a:rPr>
              <a:t>Predictive</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Control</a:t>
            </a:r>
          </a:p>
          <a:p>
            <a:pPr algn="l">
              <a:lnSpc>
                <a:spcPts val="948"/>
              </a:lnSpc>
            </a:pPr>
            <a:r>
              <a:rPr lang="en-US" sz="677" spc="0">
                <a:solidFill>
                  <a:srgbClr val="263746"/>
                </a:solidFill>
                <a:latin typeface="IBM Plex Sans"/>
                <a:ea typeface="IBM Plex Sans"/>
                <a:cs typeface="IBM Plex Sans"/>
                <a:sym typeface="IBM Plex Sans"/>
              </a:rPr>
              <a:t>.</a:t>
            </a:r>
          </a:p>
        </p:txBody>
      </p:sp>
      <p:sp>
        <p:nvSpPr>
          <p:cNvPr name="TextBox 19" id="19"/>
          <p:cNvSpPr txBox="true"/>
          <p:nvPr/>
        </p:nvSpPr>
        <p:spPr>
          <a:xfrm rot="0">
            <a:off x="264033" y="2006727"/>
            <a:ext cx="4583211" cy="116559"/>
          </a:xfrm>
          <a:prstGeom prst="rect">
            <a:avLst/>
          </a:prstGeom>
        </p:spPr>
        <p:txBody>
          <a:bodyPr anchor="t" rtlCol="false" tIns="0" lIns="0" bIns="0" rIns="0">
            <a:spAutoFit/>
          </a:bodyPr>
          <a:lstStyle/>
          <a:p>
            <a:pPr algn="l">
              <a:lnSpc>
                <a:spcPts val="948"/>
              </a:lnSpc>
            </a:pPr>
            <a:r>
              <a:rPr lang="en-US" sz="677" spc="0">
                <a:solidFill>
                  <a:srgbClr val="087CC1"/>
                </a:solidFill>
                <a:latin typeface="IBM Plex Sans"/>
                <a:ea typeface="IBM Plex Sans"/>
                <a:cs typeface="IBM Plex Sans"/>
                <a:sym typeface="IBM Plex Sans"/>
              </a:rPr>
              <a: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SIH</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2026</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Problem</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Statement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26049</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Defines</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the</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HAA/SHAA</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Challenge</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Context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and</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Target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Operating</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Environment</a:t>
            </a:r>
          </a:p>
        </p:txBody>
      </p:sp>
      <p:sp>
        <p:nvSpPr>
          <p:cNvPr name="TextBox 20" id="20"/>
          <p:cNvSpPr txBox="true"/>
          <p:nvPr/>
        </p:nvSpPr>
        <p:spPr>
          <a:xfrm rot="0">
            <a:off x="2410196" y="3120009"/>
            <a:ext cx="958386" cy="92888"/>
          </a:xfrm>
          <a:prstGeom prst="rect">
            <a:avLst/>
          </a:prstGeom>
        </p:spPr>
        <p:txBody>
          <a:bodyPr anchor="t" rtlCol="false" tIns="0" lIns="0" bIns="0" rIns="0">
            <a:spAutoFit/>
          </a:bodyPr>
          <a:lstStyle/>
          <a:p>
            <a:pPr algn="l">
              <a:lnSpc>
                <a:spcPts val="725"/>
              </a:lnSpc>
            </a:pPr>
            <a:r>
              <a:rPr lang="en-US" sz="518" spc="0">
                <a:solidFill>
                  <a:srgbClr val="FFFFFF"/>
                </a:solidFill>
                <a:latin typeface="IBM Plex Sans"/>
                <a:ea typeface="IBM Plex Sans"/>
                <a:cs typeface="IBM Plex Sans"/>
                <a:sym typeface="IBM Plex Sans"/>
              </a:rPr>
              <a:t>@SIH Idea submission–Template</a:t>
            </a:r>
          </a:p>
        </p:txBody>
      </p:sp>
      <p:sp>
        <p:nvSpPr>
          <p:cNvPr name="TextBox 21" id="21"/>
          <p:cNvSpPr txBox="true"/>
          <p:nvPr/>
        </p:nvSpPr>
        <p:spPr>
          <a:xfrm rot="0">
            <a:off x="5511384" y="3110865"/>
            <a:ext cx="49682" cy="120920"/>
          </a:xfrm>
          <a:prstGeom prst="rect">
            <a:avLst/>
          </a:prstGeom>
        </p:spPr>
        <p:txBody>
          <a:bodyPr anchor="t" rtlCol="false" tIns="0" lIns="0" bIns="0" rIns="0">
            <a:spAutoFit/>
          </a:bodyPr>
          <a:lstStyle/>
          <a:p>
            <a:pPr algn="l">
              <a:lnSpc>
                <a:spcPts val="976"/>
              </a:lnSpc>
            </a:pPr>
            <a:r>
              <a:rPr lang="en-US" b="true" sz="697" spc="-11">
                <a:solidFill>
                  <a:srgbClr val="FFFFFF"/>
                </a:solidFill>
                <a:latin typeface="IBM Plex Sans Bold"/>
                <a:ea typeface="IBM Plex Sans Bold"/>
                <a:cs typeface="IBM Plex Sans Bold"/>
                <a:sym typeface="IBM Plex Sans Bold"/>
              </a:rPr>
              <a:t>6</a:t>
            </a:r>
          </a:p>
        </p:txBody>
      </p:sp>
      <p:sp>
        <p:nvSpPr>
          <p:cNvPr name="TextBox 22" id="22"/>
          <p:cNvSpPr txBox="true"/>
          <p:nvPr/>
        </p:nvSpPr>
        <p:spPr>
          <a:xfrm rot="0">
            <a:off x="264033" y="2239670"/>
            <a:ext cx="5983348" cy="116559"/>
          </a:xfrm>
          <a:prstGeom prst="rect">
            <a:avLst/>
          </a:prstGeom>
        </p:spPr>
        <p:txBody>
          <a:bodyPr anchor="t" rtlCol="false" tIns="0" lIns="0" bIns="0" rIns="0">
            <a:spAutoFit/>
          </a:bodyPr>
          <a:lstStyle/>
          <a:p>
            <a:pPr algn="l">
              <a:lnSpc>
                <a:spcPts val="948"/>
              </a:lnSpc>
            </a:pPr>
            <a:r>
              <a:rPr lang="en-US" sz="677" spc="0">
                <a:solidFill>
                  <a:srgbClr val="087CC1"/>
                </a:solidFill>
                <a:latin typeface="IBM Plex Sans"/>
                <a:ea typeface="IBM Plex Sans"/>
                <a:cs typeface="IBM Plex Sans"/>
                <a:sym typeface="IBM Plex Sans"/>
              </a:rPr>
              <a:t>•</a:t>
            </a:r>
            <a:r>
              <a:rPr lang="en-US" b="true" sz="677" spc="0">
                <a:solidFill>
                  <a:srgbClr val="263746"/>
                </a:solidFill>
                <a:latin typeface="IBM Plex Sans Bold"/>
                <a:ea typeface="IBM Plex Sans Bold"/>
                <a:cs typeface="IBM Plex Sans Bold"/>
                <a:sym typeface="IBM Plex Sans Bold"/>
              </a:rPr>
              <a:t> https://www.researchgate.net/publication/3174445_High-Altitude_Considerations_for_Electrical_Power_Systems_and_Components</a:t>
            </a:r>
            <a:r>
              <a:rPr lang="en-US" sz="677" spc="0">
                <a:solidFill>
                  <a:srgbClr val="263746"/>
                </a:solidFill>
                <a:latin typeface="IBM Plex Sans"/>
                <a:ea typeface="IBM Plex Sans"/>
                <a:cs typeface="IBM Plex Sans"/>
                <a:sym typeface="IBM Plex Sans"/>
              </a:rPr>
              <a:t>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DAHUD2TLlOk</dc:identifier>
  <dcterms:modified xsi:type="dcterms:W3CDTF">2011-08-01T06:04:30Z</dcterms:modified>
  <cp:revision>1</cp:revision>
  <dc:title> SIH26-A0H-T341_Presentation_Final</dc:title>
</cp:coreProperties>
</file>