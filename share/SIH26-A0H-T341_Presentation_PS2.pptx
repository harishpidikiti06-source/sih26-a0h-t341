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5753100" cy="3238500"/>
  <p:notesSz cx="6858000" cy="9144000"/>
  <p:embeddedFontLst>
    <p:embeddedFont>
      <p:font typeface="Open Sans Bold" charset="1" panose="020B0806030504020204"/>
      <p:regular r:id="rId12"/>
    </p:embeddedFont>
    <p:embeddedFont>
      <p:font typeface="IBM Plex Sans" charset="1" panose="020B0503050203000203"/>
      <p:regular r:id="rId13"/>
    </p:embeddedFont>
    <p:embeddedFont>
      <p:font typeface="IBM Plex Sans Condensed" charset="1" panose="020B0506050203000203"/>
      <p:regular r:id="rId14"/>
    </p:embeddedFont>
    <p:embeddedFont>
      <p:font typeface="IBM Plex Sans Bold" charset="1" panose="020B0803050203000203"/>
      <p:regular r:id="rId15"/>
    </p:embeddedFont>
    <p:embeddedFont>
      <p:font typeface="IBM Plex Sans Bold Italics" charset="1" panose="020B0803050203000203"/>
      <p:regular r:id="rId16"/>
    </p:embeddedFont>
    <p:embeddedFont>
      <p:font typeface="Open Sans" charset="1" panose="020B0606030504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www.nmdc.co.in/" TargetMode="External" Type="http://schemas.openxmlformats.org/officeDocument/2006/relationships/hyperlink"/><Relationship Id="rId4" Target="https://www.nmdc.co.in/" TargetMode="External" Type="http://schemas.openxmlformats.org/officeDocument/2006/relationships/hyperlink"/><Relationship Id="rId5" Target="https://www.nmdc.co.in/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50273" y="92526"/>
            <a:ext cx="774002" cy="366084"/>
            <a:chOff x="0" y="0"/>
            <a:chExt cx="1032002" cy="4881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2002" cy="488061"/>
            </a:xfrm>
            <a:custGeom>
              <a:avLst/>
              <a:gdLst/>
              <a:ahLst/>
              <a:cxnLst/>
              <a:rect r="r" b="b" t="t" l="l"/>
              <a:pathLst>
                <a:path h="488061" w="1032002">
                  <a:moveTo>
                    <a:pt x="0" y="0"/>
                  </a:moveTo>
                  <a:lnTo>
                    <a:pt x="1032002" y="0"/>
                  </a:lnTo>
                  <a:lnTo>
                    <a:pt x="1032002" y="488061"/>
                  </a:lnTo>
                  <a:lnTo>
                    <a:pt x="0" y="4880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3132020"/>
            <a:ext cx="5760072" cy="108004"/>
            <a:chOff x="0" y="0"/>
            <a:chExt cx="5760072" cy="1080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760086" cy="107948"/>
            </a:xfrm>
            <a:custGeom>
              <a:avLst/>
              <a:gdLst/>
              <a:ahLst/>
              <a:cxnLst/>
              <a:rect r="r" b="b" t="t" l="l"/>
              <a:pathLst>
                <a:path h="107948" w="5760086">
                  <a:moveTo>
                    <a:pt x="0" y="0"/>
                  </a:moveTo>
                  <a:lnTo>
                    <a:pt x="0" y="107948"/>
                  </a:lnTo>
                  <a:lnTo>
                    <a:pt x="5760086" y="107948"/>
                  </a:lnTo>
                  <a:lnTo>
                    <a:pt x="5760086" y="0"/>
                  </a:lnTo>
                  <a:close/>
                </a:path>
              </a:pathLst>
            </a:custGeom>
            <a:solidFill>
              <a:srgbClr val="087FB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008528" y="668512"/>
            <a:ext cx="1872110" cy="2004565"/>
            <a:chOff x="0" y="0"/>
            <a:chExt cx="2496147" cy="26727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96185" cy="2672715"/>
            </a:xfrm>
            <a:custGeom>
              <a:avLst/>
              <a:gdLst/>
              <a:ahLst/>
              <a:cxnLst/>
              <a:rect r="r" b="b" t="t" l="l"/>
              <a:pathLst>
                <a:path h="2672715" w="2496185">
                  <a:moveTo>
                    <a:pt x="0" y="0"/>
                  </a:moveTo>
                  <a:lnTo>
                    <a:pt x="2496185" y="0"/>
                  </a:lnTo>
                  <a:lnTo>
                    <a:pt x="2496185" y="2672715"/>
                  </a:lnTo>
                  <a:lnTo>
                    <a:pt x="0" y="2672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-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3386528" y="1046531"/>
            <a:ext cx="1296029" cy="1386630"/>
            <a:chOff x="0" y="0"/>
            <a:chExt cx="1728038" cy="184884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28089" cy="1848866"/>
            </a:xfrm>
            <a:custGeom>
              <a:avLst/>
              <a:gdLst/>
              <a:ahLst/>
              <a:cxnLst/>
              <a:rect r="r" b="b" t="t" l="l"/>
              <a:pathLst>
                <a:path h="1848866" w="1728089">
                  <a:moveTo>
                    <a:pt x="0" y="0"/>
                  </a:moveTo>
                  <a:lnTo>
                    <a:pt x="1728089" y="0"/>
                  </a:lnTo>
                  <a:lnTo>
                    <a:pt x="1728089" y="1848866"/>
                  </a:lnTo>
                  <a:lnTo>
                    <a:pt x="0" y="18488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69112" y="-11963"/>
            <a:ext cx="3677993" cy="299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b="true" sz="1693" spc="-1">
                <a:solidFill>
                  <a:srgbClr val="19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SMART</a:t>
            </a:r>
            <a:r>
              <a:rPr lang="en-US" b="true" sz="1693" spc="-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1693" spc="-1">
                <a:solidFill>
                  <a:srgbClr val="19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INDIA</a:t>
            </a:r>
            <a:r>
              <a:rPr lang="en-US" b="true" sz="1693" spc="-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1693" spc="-1">
                <a:solidFill>
                  <a:srgbClr val="19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HACKATHON</a:t>
            </a:r>
            <a:r>
              <a:rPr lang="en-US" b="true" sz="1693" spc="-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1693" spc="-1">
                <a:solidFill>
                  <a:srgbClr val="19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2026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73442" y="3130725"/>
            <a:ext cx="829389" cy="8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7"/>
              </a:lnSpc>
            </a:pPr>
            <a:r>
              <a:rPr lang="en-US" sz="448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@SIH Idea submission–Template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533920" y="3123324"/>
            <a:ext cx="42586" cy="105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b="true" sz="5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3989" y="1953263"/>
            <a:ext cx="1643739" cy="86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3"/>
              </a:lnSpc>
            </a:pPr>
            <a:r>
              <a:rPr lang="en-US" sz="1046" spc="24">
                <a:solidFill>
                  <a:srgbClr val="293E4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•Theme:</a:t>
            </a:r>
            <a:r>
              <a:rPr lang="en-US" sz="1046" spc="2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46" spc="24">
                <a:solidFill>
                  <a:srgbClr val="293E4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Smart</a:t>
            </a:r>
            <a:r>
              <a:rPr lang="en-US" sz="1046" spc="2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46" spc="24">
                <a:solidFill>
                  <a:srgbClr val="293E4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Automation •Category:</a:t>
            </a:r>
            <a:r>
              <a:rPr lang="en-US" sz="1046" spc="2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46" spc="24">
                <a:solidFill>
                  <a:srgbClr val="293E4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Hardware •Team</a:t>
            </a:r>
            <a:r>
              <a:rPr lang="en-US" sz="1046" spc="2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46" spc="24">
                <a:solidFill>
                  <a:srgbClr val="293E4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ID:</a:t>
            </a:r>
            <a:r>
              <a:rPr lang="en-US" sz="1046" spc="2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46" spc="24">
                <a:solidFill>
                  <a:srgbClr val="293E4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SIH26-A0H-T341 •Team:</a:t>
            </a:r>
            <a:r>
              <a:rPr lang="en-US" sz="1046" spc="2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46" spc="24">
                <a:solidFill>
                  <a:srgbClr val="293E4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Circuit</a:t>
            </a:r>
            <a:r>
              <a:rPr lang="en-US" sz="1046" spc="2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46" spc="24">
                <a:solidFill>
                  <a:srgbClr val="293E4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Breakers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3989" y="405260"/>
            <a:ext cx="3150737" cy="430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3"/>
              </a:lnSpc>
            </a:pPr>
            <a:r>
              <a:rPr lang="en-US" sz="1046" spc="25">
                <a:solidFill>
                  <a:srgbClr val="293E4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•Problem</a:t>
            </a:r>
            <a:r>
              <a:rPr lang="en-US" sz="1046" spc="2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46" spc="25">
                <a:solidFill>
                  <a:srgbClr val="293E4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Statement</a:t>
            </a:r>
            <a:r>
              <a:rPr lang="en-US" sz="1046" spc="2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46" spc="25">
                <a:solidFill>
                  <a:srgbClr val="293E4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ID:</a:t>
            </a:r>
            <a:r>
              <a:rPr lang="en-US" sz="1046" spc="2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46" spc="25">
                <a:solidFill>
                  <a:srgbClr val="293E4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SIH26007</a:t>
            </a:r>
          </a:p>
          <a:p>
            <a:pPr algn="l">
              <a:lnSpc>
                <a:spcPts val="1693"/>
              </a:lnSpc>
            </a:pPr>
            <a:r>
              <a:rPr lang="en-US" sz="1046" spc="25">
                <a:solidFill>
                  <a:srgbClr val="293E4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•Problem</a:t>
            </a:r>
            <a:r>
              <a:rPr lang="en-US" sz="1046" spc="2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46" spc="25">
                <a:solidFill>
                  <a:srgbClr val="293E4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Statement</a:t>
            </a:r>
            <a:r>
              <a:rPr lang="en-US" sz="1046" spc="2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46" spc="25">
                <a:solidFill>
                  <a:srgbClr val="293E4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Title:</a:t>
            </a:r>
            <a:r>
              <a:rPr lang="en-US" sz="1046" spc="2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46" spc="25">
                <a:solidFill>
                  <a:srgbClr val="293E4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Safe</a:t>
            </a:r>
            <a:r>
              <a:rPr lang="en-US" sz="1046" spc="2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46" spc="25">
                <a:solidFill>
                  <a:srgbClr val="293E4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1046" spc="2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46" spc="25">
                <a:solidFill>
                  <a:srgbClr val="293E4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Efficient</a:t>
            </a:r>
            <a:r>
              <a:rPr lang="en-US" sz="1046" spc="2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46" spc="25">
                <a:solidFill>
                  <a:srgbClr val="293E4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Operation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50279" y="835447"/>
            <a:ext cx="3073832" cy="430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3"/>
              </a:lnSpc>
            </a:pPr>
            <a:r>
              <a:rPr lang="en-US" sz="1046" spc="24">
                <a:solidFill>
                  <a:srgbClr val="293E4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1046" spc="2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46" spc="24">
                <a:solidFill>
                  <a:srgbClr val="293E4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Mine</a:t>
            </a:r>
            <a:r>
              <a:rPr lang="en-US" sz="1046" spc="2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46" spc="24">
                <a:solidFill>
                  <a:srgbClr val="293E4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Vehicles</a:t>
            </a:r>
            <a:r>
              <a:rPr lang="en-US" sz="1046" spc="2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46" spc="24">
                <a:solidFill>
                  <a:srgbClr val="293E4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</a:t>
            </a:r>
            <a:r>
              <a:rPr lang="en-US" sz="1046" spc="2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46" spc="24">
                <a:solidFill>
                  <a:srgbClr val="293E4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Fog</a:t>
            </a:r>
            <a:r>
              <a:rPr lang="en-US" sz="1046" spc="2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46" spc="24">
                <a:solidFill>
                  <a:srgbClr val="293E4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1046" spc="2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46" spc="24">
                <a:solidFill>
                  <a:srgbClr val="293E4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Low-Visibility</a:t>
            </a:r>
            <a:r>
              <a:rPr lang="en-US" sz="1046" spc="2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46" spc="24">
                <a:solidFill>
                  <a:srgbClr val="293E4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Conditions</a:t>
            </a:r>
            <a:r>
              <a:rPr lang="en-US" sz="1046" spc="2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46" spc="24">
                <a:solidFill>
                  <a:srgbClr val="293E4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 Open</a:t>
            </a:r>
            <a:r>
              <a:rPr lang="en-US" sz="1046" spc="2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46" spc="24">
                <a:solidFill>
                  <a:srgbClr val="293E4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Cast</a:t>
            </a:r>
            <a:r>
              <a:rPr lang="en-US" sz="1046" spc="2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46" spc="24">
                <a:solidFill>
                  <a:srgbClr val="293E4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Iron</a:t>
            </a:r>
            <a:r>
              <a:rPr lang="en-US" sz="1046" spc="2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46" spc="24">
                <a:solidFill>
                  <a:srgbClr val="293E4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Ore</a:t>
            </a:r>
            <a:r>
              <a:rPr lang="en-US" sz="1046" spc="2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46" spc="24">
                <a:solidFill>
                  <a:srgbClr val="293E4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Mines.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50273" y="92526"/>
            <a:ext cx="774002" cy="366084"/>
            <a:chOff x="0" y="0"/>
            <a:chExt cx="1032002" cy="4881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2002" cy="488061"/>
            </a:xfrm>
            <a:custGeom>
              <a:avLst/>
              <a:gdLst/>
              <a:ahLst/>
              <a:cxnLst/>
              <a:rect r="r" b="b" t="t" l="l"/>
              <a:pathLst>
                <a:path h="488061" w="1032002">
                  <a:moveTo>
                    <a:pt x="0" y="0"/>
                  </a:moveTo>
                  <a:lnTo>
                    <a:pt x="1032002" y="0"/>
                  </a:lnTo>
                  <a:lnTo>
                    <a:pt x="1032002" y="488061"/>
                  </a:lnTo>
                  <a:lnTo>
                    <a:pt x="0" y="4880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6761" y="117948"/>
            <a:ext cx="426463" cy="210455"/>
            <a:chOff x="0" y="0"/>
            <a:chExt cx="426466" cy="2104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6468" cy="210445"/>
            </a:xfrm>
            <a:custGeom>
              <a:avLst/>
              <a:gdLst/>
              <a:ahLst/>
              <a:cxnLst/>
              <a:rect r="r" b="b" t="t" l="l"/>
              <a:pathLst>
                <a:path h="210445" w="426468">
                  <a:moveTo>
                    <a:pt x="8890" y="29719"/>
                  </a:moveTo>
                  <a:lnTo>
                    <a:pt x="8890" y="180726"/>
                  </a:lnTo>
                  <a:lnTo>
                    <a:pt x="4445" y="180726"/>
                  </a:lnTo>
                  <a:lnTo>
                    <a:pt x="8890" y="180726"/>
                  </a:lnTo>
                  <a:cubicBezTo>
                    <a:pt x="8890" y="192283"/>
                    <a:pt x="18288" y="201555"/>
                    <a:pt x="29718" y="201555"/>
                  </a:cubicBezTo>
                  <a:lnTo>
                    <a:pt x="29718" y="206000"/>
                  </a:lnTo>
                  <a:lnTo>
                    <a:pt x="29718" y="201555"/>
                  </a:lnTo>
                  <a:lnTo>
                    <a:pt x="396750" y="201555"/>
                  </a:lnTo>
                  <a:lnTo>
                    <a:pt x="396750" y="206000"/>
                  </a:lnTo>
                  <a:lnTo>
                    <a:pt x="396750" y="201555"/>
                  </a:lnTo>
                  <a:cubicBezTo>
                    <a:pt x="408307" y="201555"/>
                    <a:pt x="417578" y="192156"/>
                    <a:pt x="417578" y="180726"/>
                  </a:cubicBezTo>
                  <a:lnTo>
                    <a:pt x="422024" y="180726"/>
                  </a:lnTo>
                  <a:lnTo>
                    <a:pt x="417578" y="180726"/>
                  </a:lnTo>
                  <a:lnTo>
                    <a:pt x="417578" y="29719"/>
                  </a:lnTo>
                  <a:lnTo>
                    <a:pt x="422024" y="29719"/>
                  </a:lnTo>
                  <a:lnTo>
                    <a:pt x="417578" y="29719"/>
                  </a:lnTo>
                  <a:cubicBezTo>
                    <a:pt x="417578" y="18162"/>
                    <a:pt x="408180" y="8890"/>
                    <a:pt x="396750" y="8890"/>
                  </a:cubicBezTo>
                  <a:lnTo>
                    <a:pt x="396750" y="4445"/>
                  </a:lnTo>
                  <a:lnTo>
                    <a:pt x="396750" y="8890"/>
                  </a:lnTo>
                  <a:lnTo>
                    <a:pt x="29718" y="8890"/>
                  </a:lnTo>
                  <a:lnTo>
                    <a:pt x="29718" y="4445"/>
                  </a:lnTo>
                  <a:lnTo>
                    <a:pt x="29718" y="8890"/>
                  </a:lnTo>
                  <a:cubicBezTo>
                    <a:pt x="18161" y="8890"/>
                    <a:pt x="8890" y="18162"/>
                    <a:pt x="8890" y="29719"/>
                  </a:cubicBezTo>
                  <a:lnTo>
                    <a:pt x="4445" y="29719"/>
                  </a:lnTo>
                  <a:lnTo>
                    <a:pt x="8890" y="29719"/>
                  </a:lnTo>
                  <a:moveTo>
                    <a:pt x="0" y="29719"/>
                  </a:moveTo>
                  <a:cubicBezTo>
                    <a:pt x="0" y="13335"/>
                    <a:pt x="13335" y="0"/>
                    <a:pt x="29718" y="0"/>
                  </a:cubicBezTo>
                  <a:lnTo>
                    <a:pt x="396750" y="0"/>
                  </a:lnTo>
                  <a:cubicBezTo>
                    <a:pt x="413133" y="0"/>
                    <a:pt x="426468" y="13335"/>
                    <a:pt x="426468" y="29719"/>
                  </a:cubicBezTo>
                  <a:lnTo>
                    <a:pt x="426468" y="180726"/>
                  </a:lnTo>
                  <a:cubicBezTo>
                    <a:pt x="426468" y="197110"/>
                    <a:pt x="413133" y="210445"/>
                    <a:pt x="396750" y="210445"/>
                  </a:cubicBezTo>
                  <a:lnTo>
                    <a:pt x="29718" y="210445"/>
                  </a:lnTo>
                  <a:cubicBezTo>
                    <a:pt x="13335" y="210445"/>
                    <a:pt x="0" y="197110"/>
                    <a:pt x="0" y="180726"/>
                  </a:cubicBezTo>
                  <a:lnTo>
                    <a:pt x="0" y="29719"/>
                  </a:lnTo>
                  <a:close/>
                </a:path>
              </a:pathLst>
            </a:custGeom>
            <a:solidFill>
              <a:srgbClr val="7543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168" y="635956"/>
            <a:ext cx="1734083" cy="1752076"/>
            <a:chOff x="0" y="0"/>
            <a:chExt cx="1734083" cy="17520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6040" y="66040"/>
              <a:ext cx="1601982" cy="377952"/>
            </a:xfrm>
            <a:custGeom>
              <a:avLst/>
              <a:gdLst/>
              <a:ahLst/>
              <a:cxnLst/>
              <a:rect r="r" b="b" t="t" l="l"/>
              <a:pathLst>
                <a:path h="377952" w="1601982">
                  <a:moveTo>
                    <a:pt x="0" y="25273"/>
                  </a:moveTo>
                  <a:lnTo>
                    <a:pt x="0" y="352679"/>
                  </a:lnTo>
                  <a:cubicBezTo>
                    <a:pt x="0" y="366649"/>
                    <a:pt x="11303" y="377952"/>
                    <a:pt x="25273" y="377952"/>
                  </a:cubicBezTo>
                  <a:lnTo>
                    <a:pt x="1576709" y="377952"/>
                  </a:lnTo>
                  <a:cubicBezTo>
                    <a:pt x="1590679" y="377952"/>
                    <a:pt x="1601982" y="366649"/>
                    <a:pt x="1601982" y="352679"/>
                  </a:cubicBezTo>
                  <a:lnTo>
                    <a:pt x="1601982" y="25273"/>
                  </a:lnTo>
                  <a:cubicBezTo>
                    <a:pt x="1601982" y="11303"/>
                    <a:pt x="1590679" y="0"/>
                    <a:pt x="1576709" y="0"/>
                  </a:cubicBezTo>
                  <a:lnTo>
                    <a:pt x="25273" y="0"/>
                  </a:lnTo>
                  <a:cubicBezTo>
                    <a:pt x="11303" y="0"/>
                    <a:pt x="0" y="11303"/>
                    <a:pt x="0" y="25273"/>
                  </a:cubicBez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500" y="63500"/>
              <a:ext cx="1607062" cy="383032"/>
            </a:xfrm>
            <a:custGeom>
              <a:avLst/>
              <a:gdLst/>
              <a:ahLst/>
              <a:cxnLst/>
              <a:rect r="r" b="b" t="t" l="l"/>
              <a:pathLst>
                <a:path h="383032" w="1607062">
                  <a:moveTo>
                    <a:pt x="5080" y="27813"/>
                  </a:moveTo>
                  <a:lnTo>
                    <a:pt x="5080" y="355219"/>
                  </a:lnTo>
                  <a:lnTo>
                    <a:pt x="2540" y="355219"/>
                  </a:lnTo>
                  <a:lnTo>
                    <a:pt x="5080" y="355219"/>
                  </a:lnTo>
                  <a:cubicBezTo>
                    <a:pt x="5080" y="367792"/>
                    <a:pt x="15240" y="377952"/>
                    <a:pt x="27813" y="377952"/>
                  </a:cubicBezTo>
                  <a:lnTo>
                    <a:pt x="27813" y="380492"/>
                  </a:lnTo>
                  <a:lnTo>
                    <a:pt x="27813" y="377952"/>
                  </a:lnTo>
                  <a:lnTo>
                    <a:pt x="1579249" y="377952"/>
                  </a:lnTo>
                  <a:lnTo>
                    <a:pt x="1579249" y="380492"/>
                  </a:lnTo>
                  <a:lnTo>
                    <a:pt x="1579249" y="377952"/>
                  </a:lnTo>
                  <a:cubicBezTo>
                    <a:pt x="1591822" y="377952"/>
                    <a:pt x="1601982" y="367792"/>
                    <a:pt x="1601982" y="355219"/>
                  </a:cubicBezTo>
                  <a:lnTo>
                    <a:pt x="1604522" y="355219"/>
                  </a:lnTo>
                  <a:lnTo>
                    <a:pt x="1601982" y="355219"/>
                  </a:lnTo>
                  <a:lnTo>
                    <a:pt x="1601982" y="27813"/>
                  </a:lnTo>
                  <a:lnTo>
                    <a:pt x="1604522" y="27813"/>
                  </a:lnTo>
                  <a:lnTo>
                    <a:pt x="1601982" y="27813"/>
                  </a:lnTo>
                  <a:cubicBezTo>
                    <a:pt x="1601982" y="15240"/>
                    <a:pt x="1591822" y="5080"/>
                    <a:pt x="1579249" y="5080"/>
                  </a:cubicBezTo>
                  <a:lnTo>
                    <a:pt x="1579249" y="2540"/>
                  </a:lnTo>
                  <a:lnTo>
                    <a:pt x="1579249" y="5080"/>
                  </a:lnTo>
                  <a:lnTo>
                    <a:pt x="27813" y="5080"/>
                  </a:lnTo>
                  <a:lnTo>
                    <a:pt x="27813" y="2540"/>
                  </a:lnTo>
                  <a:lnTo>
                    <a:pt x="27813" y="5080"/>
                  </a:lnTo>
                  <a:cubicBezTo>
                    <a:pt x="15240" y="5080"/>
                    <a:pt x="5080" y="15240"/>
                    <a:pt x="5080" y="27813"/>
                  </a:cubicBezTo>
                  <a:lnTo>
                    <a:pt x="2540" y="27813"/>
                  </a:lnTo>
                  <a:lnTo>
                    <a:pt x="5080" y="27813"/>
                  </a:lnTo>
                  <a:moveTo>
                    <a:pt x="0" y="27813"/>
                  </a:moveTo>
                  <a:cubicBezTo>
                    <a:pt x="0" y="12446"/>
                    <a:pt x="12446" y="0"/>
                    <a:pt x="27813" y="0"/>
                  </a:cubicBezTo>
                  <a:lnTo>
                    <a:pt x="1579249" y="0"/>
                  </a:lnTo>
                  <a:cubicBezTo>
                    <a:pt x="1594616" y="0"/>
                    <a:pt x="1607062" y="12446"/>
                    <a:pt x="1607062" y="27813"/>
                  </a:cubicBezTo>
                  <a:lnTo>
                    <a:pt x="1607062" y="355219"/>
                  </a:lnTo>
                  <a:cubicBezTo>
                    <a:pt x="1607062" y="370586"/>
                    <a:pt x="1594616" y="383032"/>
                    <a:pt x="1579249" y="383032"/>
                  </a:cubicBezTo>
                  <a:lnTo>
                    <a:pt x="27813" y="383032"/>
                  </a:lnTo>
                  <a:cubicBezTo>
                    <a:pt x="12446" y="383032"/>
                    <a:pt x="0" y="370586"/>
                    <a:pt x="0" y="355219"/>
                  </a:cubicBezTo>
                  <a:lnTo>
                    <a:pt x="0" y="27813"/>
                  </a:lnTo>
                  <a:close/>
                </a:path>
              </a:pathLst>
            </a:custGeom>
            <a:solidFill>
              <a:srgbClr val="79B7D7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6040" y="480060"/>
              <a:ext cx="1601982" cy="377952"/>
            </a:xfrm>
            <a:custGeom>
              <a:avLst/>
              <a:gdLst/>
              <a:ahLst/>
              <a:cxnLst/>
              <a:rect r="r" b="b" t="t" l="l"/>
              <a:pathLst>
                <a:path h="377952" w="1601982">
                  <a:moveTo>
                    <a:pt x="0" y="25273"/>
                  </a:moveTo>
                  <a:lnTo>
                    <a:pt x="0" y="352678"/>
                  </a:lnTo>
                  <a:cubicBezTo>
                    <a:pt x="0" y="366648"/>
                    <a:pt x="11303" y="377951"/>
                    <a:pt x="25273" y="377951"/>
                  </a:cubicBezTo>
                  <a:lnTo>
                    <a:pt x="1576709" y="377951"/>
                  </a:lnTo>
                  <a:cubicBezTo>
                    <a:pt x="1590679" y="377951"/>
                    <a:pt x="1601982" y="366648"/>
                    <a:pt x="1601982" y="352678"/>
                  </a:cubicBezTo>
                  <a:lnTo>
                    <a:pt x="1601982" y="25273"/>
                  </a:lnTo>
                  <a:cubicBezTo>
                    <a:pt x="1601982" y="11303"/>
                    <a:pt x="1590679" y="0"/>
                    <a:pt x="1576709" y="0"/>
                  </a:cubicBezTo>
                  <a:lnTo>
                    <a:pt x="25273" y="0"/>
                  </a:lnTo>
                  <a:cubicBezTo>
                    <a:pt x="11303" y="0"/>
                    <a:pt x="0" y="11303"/>
                    <a:pt x="0" y="25273"/>
                  </a:cubicBez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3500" y="477520"/>
              <a:ext cx="1607062" cy="383032"/>
            </a:xfrm>
            <a:custGeom>
              <a:avLst/>
              <a:gdLst/>
              <a:ahLst/>
              <a:cxnLst/>
              <a:rect r="r" b="b" t="t" l="l"/>
              <a:pathLst>
                <a:path h="383032" w="1607062">
                  <a:moveTo>
                    <a:pt x="5080" y="27813"/>
                  </a:moveTo>
                  <a:lnTo>
                    <a:pt x="5080" y="355218"/>
                  </a:lnTo>
                  <a:lnTo>
                    <a:pt x="2540" y="355218"/>
                  </a:lnTo>
                  <a:lnTo>
                    <a:pt x="5080" y="355218"/>
                  </a:lnTo>
                  <a:cubicBezTo>
                    <a:pt x="5080" y="367791"/>
                    <a:pt x="15240" y="377951"/>
                    <a:pt x="27813" y="377951"/>
                  </a:cubicBezTo>
                  <a:lnTo>
                    <a:pt x="27813" y="380491"/>
                  </a:lnTo>
                  <a:lnTo>
                    <a:pt x="27813" y="377951"/>
                  </a:lnTo>
                  <a:lnTo>
                    <a:pt x="1579249" y="377951"/>
                  </a:lnTo>
                  <a:lnTo>
                    <a:pt x="1579249" y="380491"/>
                  </a:lnTo>
                  <a:lnTo>
                    <a:pt x="1579249" y="377951"/>
                  </a:lnTo>
                  <a:cubicBezTo>
                    <a:pt x="1591822" y="377951"/>
                    <a:pt x="1601982" y="367791"/>
                    <a:pt x="1601982" y="355218"/>
                  </a:cubicBezTo>
                  <a:lnTo>
                    <a:pt x="1604522" y="355218"/>
                  </a:lnTo>
                  <a:lnTo>
                    <a:pt x="1601982" y="355218"/>
                  </a:lnTo>
                  <a:lnTo>
                    <a:pt x="1601982" y="27813"/>
                  </a:lnTo>
                  <a:lnTo>
                    <a:pt x="1604522" y="27813"/>
                  </a:lnTo>
                  <a:lnTo>
                    <a:pt x="1601982" y="27813"/>
                  </a:lnTo>
                  <a:cubicBezTo>
                    <a:pt x="1601982" y="15240"/>
                    <a:pt x="1591822" y="5080"/>
                    <a:pt x="1579249" y="5080"/>
                  </a:cubicBezTo>
                  <a:lnTo>
                    <a:pt x="1579249" y="2540"/>
                  </a:lnTo>
                  <a:lnTo>
                    <a:pt x="1579249" y="5080"/>
                  </a:lnTo>
                  <a:lnTo>
                    <a:pt x="27813" y="5080"/>
                  </a:lnTo>
                  <a:lnTo>
                    <a:pt x="27813" y="2540"/>
                  </a:lnTo>
                  <a:lnTo>
                    <a:pt x="27813" y="5080"/>
                  </a:lnTo>
                  <a:cubicBezTo>
                    <a:pt x="15240" y="5080"/>
                    <a:pt x="5080" y="15240"/>
                    <a:pt x="5080" y="27813"/>
                  </a:cubicBezTo>
                  <a:lnTo>
                    <a:pt x="2540" y="27813"/>
                  </a:lnTo>
                  <a:lnTo>
                    <a:pt x="5080" y="27813"/>
                  </a:lnTo>
                  <a:moveTo>
                    <a:pt x="0" y="27813"/>
                  </a:moveTo>
                  <a:cubicBezTo>
                    <a:pt x="0" y="12446"/>
                    <a:pt x="12446" y="0"/>
                    <a:pt x="27813" y="0"/>
                  </a:cubicBezTo>
                  <a:lnTo>
                    <a:pt x="1579249" y="0"/>
                  </a:lnTo>
                  <a:cubicBezTo>
                    <a:pt x="1594616" y="0"/>
                    <a:pt x="1607062" y="12446"/>
                    <a:pt x="1607062" y="27813"/>
                  </a:cubicBezTo>
                  <a:lnTo>
                    <a:pt x="1607062" y="355218"/>
                  </a:lnTo>
                  <a:cubicBezTo>
                    <a:pt x="1607062" y="370585"/>
                    <a:pt x="1594616" y="383031"/>
                    <a:pt x="1579249" y="383031"/>
                  </a:cubicBezTo>
                  <a:lnTo>
                    <a:pt x="27813" y="383031"/>
                  </a:lnTo>
                  <a:cubicBezTo>
                    <a:pt x="12446" y="383031"/>
                    <a:pt x="0" y="370585"/>
                    <a:pt x="0" y="355218"/>
                  </a:cubicBezTo>
                  <a:lnTo>
                    <a:pt x="0" y="27813"/>
                  </a:lnTo>
                  <a:close/>
                </a:path>
              </a:pathLst>
            </a:custGeom>
            <a:solidFill>
              <a:srgbClr val="79B7D7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6040" y="894079"/>
              <a:ext cx="1601982" cy="377952"/>
            </a:xfrm>
            <a:custGeom>
              <a:avLst/>
              <a:gdLst/>
              <a:ahLst/>
              <a:cxnLst/>
              <a:rect r="r" b="b" t="t" l="l"/>
              <a:pathLst>
                <a:path h="377952" w="1601982">
                  <a:moveTo>
                    <a:pt x="0" y="25273"/>
                  </a:moveTo>
                  <a:lnTo>
                    <a:pt x="0" y="352679"/>
                  </a:lnTo>
                  <a:cubicBezTo>
                    <a:pt x="0" y="366649"/>
                    <a:pt x="11303" y="377952"/>
                    <a:pt x="25273" y="377952"/>
                  </a:cubicBezTo>
                  <a:lnTo>
                    <a:pt x="1576709" y="377952"/>
                  </a:lnTo>
                  <a:cubicBezTo>
                    <a:pt x="1590679" y="377952"/>
                    <a:pt x="1601982" y="366649"/>
                    <a:pt x="1601982" y="352679"/>
                  </a:cubicBezTo>
                  <a:lnTo>
                    <a:pt x="1601982" y="25273"/>
                  </a:lnTo>
                  <a:cubicBezTo>
                    <a:pt x="1601982" y="11303"/>
                    <a:pt x="1590679" y="0"/>
                    <a:pt x="1576709" y="0"/>
                  </a:cubicBezTo>
                  <a:lnTo>
                    <a:pt x="25273" y="0"/>
                  </a:lnTo>
                  <a:cubicBezTo>
                    <a:pt x="11303" y="0"/>
                    <a:pt x="0" y="11303"/>
                    <a:pt x="0" y="25273"/>
                  </a:cubicBez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3500" y="891539"/>
              <a:ext cx="1607062" cy="383032"/>
            </a:xfrm>
            <a:custGeom>
              <a:avLst/>
              <a:gdLst/>
              <a:ahLst/>
              <a:cxnLst/>
              <a:rect r="r" b="b" t="t" l="l"/>
              <a:pathLst>
                <a:path h="383032" w="1607062">
                  <a:moveTo>
                    <a:pt x="5080" y="27813"/>
                  </a:moveTo>
                  <a:lnTo>
                    <a:pt x="5080" y="355219"/>
                  </a:lnTo>
                  <a:lnTo>
                    <a:pt x="2540" y="355219"/>
                  </a:lnTo>
                  <a:lnTo>
                    <a:pt x="5080" y="355219"/>
                  </a:lnTo>
                  <a:cubicBezTo>
                    <a:pt x="5080" y="367792"/>
                    <a:pt x="15240" y="377952"/>
                    <a:pt x="27813" y="377952"/>
                  </a:cubicBezTo>
                  <a:lnTo>
                    <a:pt x="27813" y="380492"/>
                  </a:lnTo>
                  <a:lnTo>
                    <a:pt x="27813" y="377952"/>
                  </a:lnTo>
                  <a:lnTo>
                    <a:pt x="1579249" y="377952"/>
                  </a:lnTo>
                  <a:lnTo>
                    <a:pt x="1579249" y="380492"/>
                  </a:lnTo>
                  <a:lnTo>
                    <a:pt x="1579249" y="377952"/>
                  </a:lnTo>
                  <a:cubicBezTo>
                    <a:pt x="1591822" y="377952"/>
                    <a:pt x="1601982" y="367792"/>
                    <a:pt x="1601982" y="355219"/>
                  </a:cubicBezTo>
                  <a:lnTo>
                    <a:pt x="1604522" y="355219"/>
                  </a:lnTo>
                  <a:lnTo>
                    <a:pt x="1601982" y="355219"/>
                  </a:lnTo>
                  <a:lnTo>
                    <a:pt x="1601982" y="27813"/>
                  </a:lnTo>
                  <a:lnTo>
                    <a:pt x="1604522" y="27813"/>
                  </a:lnTo>
                  <a:lnTo>
                    <a:pt x="1601982" y="27813"/>
                  </a:lnTo>
                  <a:cubicBezTo>
                    <a:pt x="1601982" y="15240"/>
                    <a:pt x="1591822" y="5080"/>
                    <a:pt x="1579249" y="5080"/>
                  </a:cubicBezTo>
                  <a:lnTo>
                    <a:pt x="1579249" y="2540"/>
                  </a:lnTo>
                  <a:lnTo>
                    <a:pt x="1579249" y="5080"/>
                  </a:lnTo>
                  <a:lnTo>
                    <a:pt x="27813" y="5080"/>
                  </a:lnTo>
                  <a:lnTo>
                    <a:pt x="27813" y="2540"/>
                  </a:lnTo>
                  <a:lnTo>
                    <a:pt x="27813" y="5080"/>
                  </a:lnTo>
                  <a:cubicBezTo>
                    <a:pt x="15240" y="5080"/>
                    <a:pt x="5080" y="15240"/>
                    <a:pt x="5080" y="27813"/>
                  </a:cubicBezTo>
                  <a:lnTo>
                    <a:pt x="2540" y="27813"/>
                  </a:lnTo>
                  <a:lnTo>
                    <a:pt x="5080" y="27813"/>
                  </a:lnTo>
                  <a:moveTo>
                    <a:pt x="0" y="27813"/>
                  </a:moveTo>
                  <a:cubicBezTo>
                    <a:pt x="0" y="12446"/>
                    <a:pt x="12446" y="0"/>
                    <a:pt x="27813" y="0"/>
                  </a:cubicBezTo>
                  <a:lnTo>
                    <a:pt x="1579249" y="0"/>
                  </a:lnTo>
                  <a:cubicBezTo>
                    <a:pt x="1594616" y="0"/>
                    <a:pt x="1607062" y="12446"/>
                    <a:pt x="1607062" y="27813"/>
                  </a:cubicBezTo>
                  <a:lnTo>
                    <a:pt x="1607062" y="355219"/>
                  </a:lnTo>
                  <a:cubicBezTo>
                    <a:pt x="1607062" y="370586"/>
                    <a:pt x="1594616" y="383032"/>
                    <a:pt x="1579249" y="383032"/>
                  </a:cubicBezTo>
                  <a:lnTo>
                    <a:pt x="27813" y="383032"/>
                  </a:lnTo>
                  <a:cubicBezTo>
                    <a:pt x="12446" y="383032"/>
                    <a:pt x="0" y="370586"/>
                    <a:pt x="0" y="355219"/>
                  </a:cubicBezTo>
                  <a:lnTo>
                    <a:pt x="0" y="27813"/>
                  </a:lnTo>
                  <a:close/>
                </a:path>
              </a:pathLst>
            </a:custGeom>
            <a:solidFill>
              <a:srgbClr val="79B7D7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6040" y="1308099"/>
              <a:ext cx="1601982" cy="377952"/>
            </a:xfrm>
            <a:custGeom>
              <a:avLst/>
              <a:gdLst/>
              <a:ahLst/>
              <a:cxnLst/>
              <a:rect r="r" b="b" t="t" l="l"/>
              <a:pathLst>
                <a:path h="377952" w="1601982">
                  <a:moveTo>
                    <a:pt x="0" y="25273"/>
                  </a:moveTo>
                  <a:lnTo>
                    <a:pt x="0" y="352679"/>
                  </a:lnTo>
                  <a:cubicBezTo>
                    <a:pt x="0" y="366649"/>
                    <a:pt x="11303" y="377952"/>
                    <a:pt x="25273" y="377952"/>
                  </a:cubicBezTo>
                  <a:lnTo>
                    <a:pt x="1576709" y="377952"/>
                  </a:lnTo>
                  <a:cubicBezTo>
                    <a:pt x="1590679" y="377952"/>
                    <a:pt x="1601982" y="366649"/>
                    <a:pt x="1601982" y="352679"/>
                  </a:cubicBezTo>
                  <a:lnTo>
                    <a:pt x="1601982" y="25273"/>
                  </a:lnTo>
                  <a:cubicBezTo>
                    <a:pt x="1601982" y="11303"/>
                    <a:pt x="1590679" y="0"/>
                    <a:pt x="1576709" y="0"/>
                  </a:cubicBezTo>
                  <a:lnTo>
                    <a:pt x="25273" y="0"/>
                  </a:lnTo>
                  <a:cubicBezTo>
                    <a:pt x="11303" y="0"/>
                    <a:pt x="0" y="11303"/>
                    <a:pt x="0" y="25273"/>
                  </a:cubicBez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3500" y="1305559"/>
              <a:ext cx="1607062" cy="383032"/>
            </a:xfrm>
            <a:custGeom>
              <a:avLst/>
              <a:gdLst/>
              <a:ahLst/>
              <a:cxnLst/>
              <a:rect r="r" b="b" t="t" l="l"/>
              <a:pathLst>
                <a:path h="383032" w="1607062">
                  <a:moveTo>
                    <a:pt x="5080" y="27813"/>
                  </a:moveTo>
                  <a:lnTo>
                    <a:pt x="5080" y="355219"/>
                  </a:lnTo>
                  <a:lnTo>
                    <a:pt x="2540" y="355219"/>
                  </a:lnTo>
                  <a:lnTo>
                    <a:pt x="5080" y="355219"/>
                  </a:lnTo>
                  <a:cubicBezTo>
                    <a:pt x="5080" y="367792"/>
                    <a:pt x="15240" y="377952"/>
                    <a:pt x="27813" y="377952"/>
                  </a:cubicBezTo>
                  <a:lnTo>
                    <a:pt x="27813" y="380492"/>
                  </a:lnTo>
                  <a:lnTo>
                    <a:pt x="27813" y="377952"/>
                  </a:lnTo>
                  <a:lnTo>
                    <a:pt x="1579249" y="377952"/>
                  </a:lnTo>
                  <a:lnTo>
                    <a:pt x="1579249" y="380492"/>
                  </a:lnTo>
                  <a:lnTo>
                    <a:pt x="1579249" y="377952"/>
                  </a:lnTo>
                  <a:cubicBezTo>
                    <a:pt x="1591822" y="377952"/>
                    <a:pt x="1601982" y="367792"/>
                    <a:pt x="1601982" y="355219"/>
                  </a:cubicBezTo>
                  <a:lnTo>
                    <a:pt x="1604522" y="355219"/>
                  </a:lnTo>
                  <a:lnTo>
                    <a:pt x="1601982" y="355219"/>
                  </a:lnTo>
                  <a:lnTo>
                    <a:pt x="1601982" y="27813"/>
                  </a:lnTo>
                  <a:lnTo>
                    <a:pt x="1604522" y="27813"/>
                  </a:lnTo>
                  <a:lnTo>
                    <a:pt x="1601982" y="27813"/>
                  </a:lnTo>
                  <a:cubicBezTo>
                    <a:pt x="1601982" y="15240"/>
                    <a:pt x="1591822" y="5080"/>
                    <a:pt x="1579249" y="5080"/>
                  </a:cubicBezTo>
                  <a:lnTo>
                    <a:pt x="1579249" y="2540"/>
                  </a:lnTo>
                  <a:lnTo>
                    <a:pt x="1579249" y="5080"/>
                  </a:lnTo>
                  <a:lnTo>
                    <a:pt x="27813" y="5080"/>
                  </a:lnTo>
                  <a:lnTo>
                    <a:pt x="27813" y="2540"/>
                  </a:lnTo>
                  <a:lnTo>
                    <a:pt x="27813" y="5080"/>
                  </a:lnTo>
                  <a:cubicBezTo>
                    <a:pt x="15240" y="5080"/>
                    <a:pt x="5080" y="15240"/>
                    <a:pt x="5080" y="27813"/>
                  </a:cubicBezTo>
                  <a:lnTo>
                    <a:pt x="2540" y="27813"/>
                  </a:lnTo>
                  <a:lnTo>
                    <a:pt x="5080" y="27813"/>
                  </a:lnTo>
                  <a:moveTo>
                    <a:pt x="0" y="27813"/>
                  </a:moveTo>
                  <a:cubicBezTo>
                    <a:pt x="0" y="12446"/>
                    <a:pt x="12446" y="0"/>
                    <a:pt x="27813" y="0"/>
                  </a:cubicBezTo>
                  <a:lnTo>
                    <a:pt x="1579249" y="0"/>
                  </a:lnTo>
                  <a:cubicBezTo>
                    <a:pt x="1594616" y="0"/>
                    <a:pt x="1607062" y="12446"/>
                    <a:pt x="1607062" y="27813"/>
                  </a:cubicBezTo>
                  <a:lnTo>
                    <a:pt x="1607062" y="355219"/>
                  </a:lnTo>
                  <a:cubicBezTo>
                    <a:pt x="1607062" y="370586"/>
                    <a:pt x="1594616" y="383032"/>
                    <a:pt x="1579249" y="383032"/>
                  </a:cubicBezTo>
                  <a:lnTo>
                    <a:pt x="27813" y="383032"/>
                  </a:lnTo>
                  <a:cubicBezTo>
                    <a:pt x="12446" y="383032"/>
                    <a:pt x="0" y="370586"/>
                    <a:pt x="0" y="355219"/>
                  </a:cubicBezTo>
                  <a:lnTo>
                    <a:pt x="0" y="27813"/>
                  </a:lnTo>
                  <a:close/>
                </a:path>
              </a:pathLst>
            </a:custGeom>
            <a:solidFill>
              <a:srgbClr val="79B7D7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-10" y="3132020"/>
            <a:ext cx="5760072" cy="108004"/>
            <a:chOff x="0" y="0"/>
            <a:chExt cx="5760072" cy="1080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760086" cy="107948"/>
            </a:xfrm>
            <a:custGeom>
              <a:avLst/>
              <a:gdLst/>
              <a:ahLst/>
              <a:cxnLst/>
              <a:rect r="r" b="b" t="t" l="l"/>
              <a:pathLst>
                <a:path h="107948" w="5760086">
                  <a:moveTo>
                    <a:pt x="0" y="0"/>
                  </a:moveTo>
                  <a:lnTo>
                    <a:pt x="0" y="107948"/>
                  </a:lnTo>
                  <a:lnTo>
                    <a:pt x="5760086" y="107948"/>
                  </a:lnTo>
                  <a:lnTo>
                    <a:pt x="5760086" y="0"/>
                  </a:lnTo>
                  <a:close/>
                </a:path>
              </a:pathLst>
            </a:custGeom>
            <a:solidFill>
              <a:srgbClr val="087FBD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898513" y="959968"/>
            <a:ext cx="2199561" cy="510064"/>
            <a:chOff x="0" y="0"/>
            <a:chExt cx="2199551" cy="5100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3500" y="66040"/>
              <a:ext cx="810004" cy="305945"/>
            </a:xfrm>
            <a:custGeom>
              <a:avLst/>
              <a:gdLst/>
              <a:ahLst/>
              <a:cxnLst/>
              <a:rect r="r" b="b" t="t" l="l"/>
              <a:pathLst>
                <a:path h="305945" w="810004">
                  <a:moveTo>
                    <a:pt x="0" y="0"/>
                  </a:moveTo>
                  <a:lnTo>
                    <a:pt x="0" y="305946"/>
                  </a:lnTo>
                  <a:lnTo>
                    <a:pt x="810004" y="305946"/>
                  </a:lnTo>
                  <a:lnTo>
                    <a:pt x="810004" y="0"/>
                  </a:lnTo>
                  <a:close/>
                </a:path>
              </a:pathLst>
            </a:custGeom>
            <a:solidFill>
              <a:srgbClr val="087FBD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880743" y="212726"/>
              <a:ext cx="304164" cy="12700"/>
            </a:xfrm>
            <a:custGeom>
              <a:avLst/>
              <a:gdLst/>
              <a:ahLst/>
              <a:cxnLst/>
              <a:rect r="r" b="b" t="t" l="l"/>
              <a:pathLst>
                <a:path h="12700" w="304164">
                  <a:moveTo>
                    <a:pt x="0" y="0"/>
                  </a:moveTo>
                  <a:lnTo>
                    <a:pt x="304164" y="0"/>
                  </a:lnTo>
                  <a:lnTo>
                    <a:pt x="304164" y="12701"/>
                  </a:lnTo>
                  <a:lnTo>
                    <a:pt x="0" y="12701"/>
                  </a:lnTo>
                  <a:close/>
                </a:path>
              </a:pathLst>
            </a:custGeom>
            <a:solidFill>
              <a:srgbClr val="193F7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178684" y="209678"/>
              <a:ext cx="24638" cy="18796"/>
            </a:xfrm>
            <a:custGeom>
              <a:avLst/>
              <a:gdLst/>
              <a:ahLst/>
              <a:cxnLst/>
              <a:rect r="r" b="b" t="t" l="l"/>
              <a:pathLst>
                <a:path h="18796" w="24638">
                  <a:moveTo>
                    <a:pt x="24638" y="9399"/>
                  </a:moveTo>
                  <a:lnTo>
                    <a:pt x="0" y="0"/>
                  </a:lnTo>
                  <a:lnTo>
                    <a:pt x="8255" y="9399"/>
                  </a:lnTo>
                  <a:lnTo>
                    <a:pt x="0" y="18797"/>
                  </a:lnTo>
                  <a:close/>
                </a:path>
              </a:pathLst>
            </a:custGeom>
            <a:solidFill>
              <a:srgbClr val="193F7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163952" y="199391"/>
              <a:ext cx="51435" cy="39116"/>
            </a:xfrm>
            <a:custGeom>
              <a:avLst/>
              <a:gdLst/>
              <a:ahLst/>
              <a:cxnLst/>
              <a:rect r="r" b="b" t="t" l="l"/>
              <a:pathLst>
                <a:path h="39116" w="51435">
                  <a:moveTo>
                    <a:pt x="37846" y="23623"/>
                  </a:moveTo>
                  <a:lnTo>
                    <a:pt x="13208" y="14224"/>
                  </a:lnTo>
                  <a:lnTo>
                    <a:pt x="14732" y="10287"/>
                  </a:lnTo>
                  <a:lnTo>
                    <a:pt x="17907" y="7493"/>
                  </a:lnTo>
                  <a:lnTo>
                    <a:pt x="26162" y="16891"/>
                  </a:lnTo>
                  <a:lnTo>
                    <a:pt x="28702" y="19686"/>
                  </a:lnTo>
                  <a:lnTo>
                    <a:pt x="26162" y="22480"/>
                  </a:lnTo>
                  <a:lnTo>
                    <a:pt x="17907" y="31878"/>
                  </a:lnTo>
                  <a:lnTo>
                    <a:pt x="14732" y="29084"/>
                  </a:lnTo>
                  <a:lnTo>
                    <a:pt x="13208" y="25147"/>
                  </a:lnTo>
                  <a:lnTo>
                    <a:pt x="37846" y="15748"/>
                  </a:lnTo>
                  <a:lnTo>
                    <a:pt x="39370" y="19686"/>
                  </a:lnTo>
                  <a:lnTo>
                    <a:pt x="37846" y="23623"/>
                  </a:lnTo>
                  <a:moveTo>
                    <a:pt x="40894" y="15622"/>
                  </a:moveTo>
                  <a:lnTo>
                    <a:pt x="51435" y="19559"/>
                  </a:lnTo>
                  <a:lnTo>
                    <a:pt x="40894" y="23496"/>
                  </a:lnTo>
                  <a:lnTo>
                    <a:pt x="16256" y="32894"/>
                  </a:lnTo>
                  <a:lnTo>
                    <a:pt x="0" y="39117"/>
                  </a:lnTo>
                  <a:lnTo>
                    <a:pt x="11557" y="26163"/>
                  </a:lnTo>
                  <a:lnTo>
                    <a:pt x="19812" y="16765"/>
                  </a:lnTo>
                  <a:lnTo>
                    <a:pt x="22987" y="19559"/>
                  </a:lnTo>
                  <a:lnTo>
                    <a:pt x="19812" y="22353"/>
                  </a:lnTo>
                  <a:lnTo>
                    <a:pt x="11557" y="12954"/>
                  </a:lnTo>
                  <a:lnTo>
                    <a:pt x="0" y="0"/>
                  </a:lnTo>
                  <a:lnTo>
                    <a:pt x="16256" y="6223"/>
                  </a:lnTo>
                  <a:lnTo>
                    <a:pt x="40894" y="15622"/>
                  </a:lnTo>
                  <a:close/>
                </a:path>
              </a:pathLst>
            </a:custGeom>
            <a:solidFill>
              <a:srgbClr val="193F7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222753" y="66040"/>
              <a:ext cx="910715" cy="377955"/>
            </a:xfrm>
            <a:custGeom>
              <a:avLst/>
              <a:gdLst/>
              <a:ahLst/>
              <a:cxnLst/>
              <a:rect r="r" b="b" t="t" l="l"/>
              <a:pathLst>
                <a:path h="377955" w="910715">
                  <a:moveTo>
                    <a:pt x="0" y="25274"/>
                  </a:moveTo>
                  <a:lnTo>
                    <a:pt x="0" y="352682"/>
                  </a:lnTo>
                  <a:cubicBezTo>
                    <a:pt x="0" y="366652"/>
                    <a:pt x="11303" y="377955"/>
                    <a:pt x="25273" y="377955"/>
                  </a:cubicBezTo>
                  <a:lnTo>
                    <a:pt x="885442" y="377955"/>
                  </a:lnTo>
                  <a:cubicBezTo>
                    <a:pt x="899412" y="377955"/>
                    <a:pt x="910715" y="366652"/>
                    <a:pt x="910715" y="352682"/>
                  </a:cubicBezTo>
                  <a:lnTo>
                    <a:pt x="910715" y="25274"/>
                  </a:lnTo>
                  <a:cubicBezTo>
                    <a:pt x="910715" y="11304"/>
                    <a:pt x="899412" y="0"/>
                    <a:pt x="885442" y="0"/>
                  </a:cubicBezTo>
                  <a:lnTo>
                    <a:pt x="25273" y="0"/>
                  </a:lnTo>
                  <a:cubicBezTo>
                    <a:pt x="11303" y="0"/>
                    <a:pt x="0" y="11304"/>
                    <a:pt x="0" y="25274"/>
                  </a:cubicBezTo>
                  <a:close/>
                </a:path>
              </a:pathLst>
            </a:custGeom>
            <a:solidFill>
              <a:srgbClr val="79B7D7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220213" y="63500"/>
              <a:ext cx="915795" cy="383035"/>
            </a:xfrm>
            <a:custGeom>
              <a:avLst/>
              <a:gdLst/>
              <a:ahLst/>
              <a:cxnLst/>
              <a:rect r="r" b="b" t="t" l="l"/>
              <a:pathLst>
                <a:path h="383035" w="915795">
                  <a:moveTo>
                    <a:pt x="5080" y="27814"/>
                  </a:moveTo>
                  <a:lnTo>
                    <a:pt x="5080" y="355222"/>
                  </a:lnTo>
                  <a:lnTo>
                    <a:pt x="2540" y="355222"/>
                  </a:lnTo>
                  <a:lnTo>
                    <a:pt x="5080" y="355222"/>
                  </a:lnTo>
                  <a:cubicBezTo>
                    <a:pt x="5080" y="367795"/>
                    <a:pt x="15240" y="377955"/>
                    <a:pt x="27813" y="377955"/>
                  </a:cubicBezTo>
                  <a:lnTo>
                    <a:pt x="27813" y="380495"/>
                  </a:lnTo>
                  <a:lnTo>
                    <a:pt x="27813" y="377955"/>
                  </a:lnTo>
                  <a:lnTo>
                    <a:pt x="887982" y="377955"/>
                  </a:lnTo>
                  <a:lnTo>
                    <a:pt x="887982" y="380495"/>
                  </a:lnTo>
                  <a:lnTo>
                    <a:pt x="887982" y="377955"/>
                  </a:lnTo>
                  <a:cubicBezTo>
                    <a:pt x="900555" y="377955"/>
                    <a:pt x="910715" y="367795"/>
                    <a:pt x="910715" y="355222"/>
                  </a:cubicBezTo>
                  <a:lnTo>
                    <a:pt x="913255" y="355222"/>
                  </a:lnTo>
                  <a:lnTo>
                    <a:pt x="910715" y="355222"/>
                  </a:lnTo>
                  <a:lnTo>
                    <a:pt x="910715" y="27814"/>
                  </a:lnTo>
                  <a:lnTo>
                    <a:pt x="913255" y="27814"/>
                  </a:lnTo>
                  <a:lnTo>
                    <a:pt x="910715" y="27814"/>
                  </a:lnTo>
                  <a:cubicBezTo>
                    <a:pt x="910715" y="15241"/>
                    <a:pt x="900555" y="5080"/>
                    <a:pt x="887982" y="5080"/>
                  </a:cubicBezTo>
                  <a:lnTo>
                    <a:pt x="887982" y="2540"/>
                  </a:lnTo>
                  <a:lnTo>
                    <a:pt x="887982" y="5080"/>
                  </a:lnTo>
                  <a:lnTo>
                    <a:pt x="27813" y="5080"/>
                  </a:lnTo>
                  <a:lnTo>
                    <a:pt x="27813" y="2540"/>
                  </a:lnTo>
                  <a:lnTo>
                    <a:pt x="27813" y="5080"/>
                  </a:lnTo>
                  <a:cubicBezTo>
                    <a:pt x="15240" y="5080"/>
                    <a:pt x="5080" y="15241"/>
                    <a:pt x="5080" y="27814"/>
                  </a:cubicBezTo>
                  <a:lnTo>
                    <a:pt x="2540" y="27814"/>
                  </a:lnTo>
                  <a:lnTo>
                    <a:pt x="5080" y="27814"/>
                  </a:lnTo>
                  <a:moveTo>
                    <a:pt x="0" y="27814"/>
                  </a:moveTo>
                  <a:cubicBezTo>
                    <a:pt x="0" y="12447"/>
                    <a:pt x="12446" y="0"/>
                    <a:pt x="27813" y="0"/>
                  </a:cubicBezTo>
                  <a:lnTo>
                    <a:pt x="887982" y="0"/>
                  </a:lnTo>
                  <a:cubicBezTo>
                    <a:pt x="903349" y="0"/>
                    <a:pt x="915795" y="12447"/>
                    <a:pt x="915795" y="27814"/>
                  </a:cubicBezTo>
                  <a:lnTo>
                    <a:pt x="915795" y="355222"/>
                  </a:lnTo>
                  <a:cubicBezTo>
                    <a:pt x="915795" y="370589"/>
                    <a:pt x="903349" y="383035"/>
                    <a:pt x="887982" y="383035"/>
                  </a:cubicBezTo>
                  <a:lnTo>
                    <a:pt x="27813" y="383035"/>
                  </a:lnTo>
                  <a:cubicBezTo>
                    <a:pt x="12446" y="383035"/>
                    <a:pt x="0" y="370589"/>
                    <a:pt x="0" y="355222"/>
                  </a:cubicBezTo>
                  <a:lnTo>
                    <a:pt x="0" y="27814"/>
                  </a:lnTo>
                  <a:close/>
                </a:path>
              </a:pathLst>
            </a:custGeom>
            <a:solidFill>
              <a:srgbClr val="79B7D7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533706" y="-11963"/>
            <a:ext cx="2526230" cy="299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b="true" sz="1693" spc="-1">
                <a:solidFill>
                  <a:srgbClr val="19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PROPOSED</a:t>
            </a:r>
            <a:r>
              <a:rPr lang="en-US" b="true" sz="1693" spc="-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1693" spc="-1">
                <a:solidFill>
                  <a:srgbClr val="19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SOLUTION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49822" y="149190"/>
            <a:ext cx="224771" cy="13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"/>
              </a:lnSpc>
            </a:pPr>
            <a:r>
              <a:rPr lang="en-US" sz="458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Circuit Breakers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473442" y="3130725"/>
            <a:ext cx="829389" cy="8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7"/>
              </a:lnSpc>
            </a:pPr>
            <a:r>
              <a:rPr lang="en-US" sz="448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@SIH Idea submission–Template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533920" y="3123324"/>
            <a:ext cx="42586" cy="105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b="true" sz="5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1190" y="476841"/>
            <a:ext cx="1585836" cy="1779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2"/>
              </a:lnSpc>
            </a:pPr>
            <a:r>
              <a:rPr lang="en-US" b="true" sz="846" spc="0">
                <a:solidFill>
                  <a:srgbClr val="E95D3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</a:t>
            </a:r>
            <a:r>
              <a:rPr lang="en-US" b="true" sz="846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846" spc="0">
                <a:solidFill>
                  <a:srgbClr val="E95D3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</a:t>
            </a:r>
            <a:r>
              <a:rPr lang="en-US" b="true" sz="846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846" spc="0">
                <a:solidFill>
                  <a:srgbClr val="E95D3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Hand</a:t>
            </a:r>
          </a:p>
          <a:p>
            <a:pPr algn="l">
              <a:lnSpc>
                <a:spcPts val="797"/>
              </a:lnSpc>
            </a:pPr>
            <a:r>
              <a:rPr lang="en-US" b="true" sz="64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Reduced</a:t>
            </a:r>
            <a:r>
              <a:rPr lang="en-US" b="true" sz="64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64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Visibility</a:t>
            </a:r>
          </a:p>
          <a:p>
            <a:pPr algn="l">
              <a:lnSpc>
                <a:spcPts val="797"/>
              </a:lnSpc>
            </a:pPr>
            <a:r>
              <a:rPr lang="en-US" sz="64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Dense</a:t>
            </a:r>
            <a:r>
              <a:rPr lang="en-US" sz="64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monsoon</a:t>
            </a:r>
            <a:r>
              <a:rPr lang="en-US" sz="64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fog</a:t>
            </a:r>
            <a:r>
              <a:rPr lang="en-US" sz="64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cuts</a:t>
            </a:r>
            <a:r>
              <a:rPr lang="en-US" sz="64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sight</a:t>
            </a:r>
            <a:r>
              <a:rPr lang="en-US" sz="64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distance to</a:t>
            </a:r>
            <a:r>
              <a:rPr lang="en-US" sz="64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3–5</a:t>
            </a:r>
            <a:r>
              <a:rPr lang="en-US" sz="64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m</a:t>
            </a:r>
            <a:r>
              <a:rPr lang="en-US" sz="64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on</a:t>
            </a:r>
            <a:r>
              <a:rPr lang="en-US" sz="64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Bailadila</a:t>
            </a:r>
            <a:r>
              <a:rPr lang="en-US" sz="64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haul</a:t>
            </a:r>
            <a:r>
              <a:rPr lang="en-US" sz="64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roads.</a:t>
            </a:r>
          </a:p>
          <a:p>
            <a:pPr algn="l" rtl="true">
              <a:lnSpc>
                <a:spcPts val="797"/>
              </a:lnSpc>
            </a:pPr>
          </a:p>
          <a:p>
            <a:pPr algn="l">
              <a:lnSpc>
                <a:spcPts val="797"/>
              </a:lnSpc>
            </a:pPr>
            <a:r>
              <a:rPr lang="en-US" b="true" sz="64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Delayed</a:t>
            </a:r>
            <a:r>
              <a:rPr lang="en-US" b="true" sz="64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64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Hazard</a:t>
            </a:r>
            <a:r>
              <a:rPr lang="en-US" b="true" sz="64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64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Detection</a:t>
            </a:r>
          </a:p>
          <a:p>
            <a:pPr algn="l">
              <a:lnSpc>
                <a:spcPts val="797"/>
              </a:lnSpc>
            </a:pPr>
            <a:r>
              <a:rPr lang="en-US" sz="64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Operators</a:t>
            </a:r>
            <a:r>
              <a:rPr lang="en-US" sz="64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spot</a:t>
            </a:r>
            <a:r>
              <a:rPr lang="en-US" sz="64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obstacles</a:t>
            </a:r>
            <a:r>
              <a:rPr lang="en-US" sz="64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and</a:t>
            </a:r>
            <a:r>
              <a:rPr lang="en-US" sz="64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other</a:t>
            </a:r>
            <a:r>
              <a:rPr lang="en-US" sz="64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ve- hicles</a:t>
            </a:r>
            <a:r>
              <a:rPr lang="en-US" sz="64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too</a:t>
            </a:r>
            <a:r>
              <a:rPr lang="en-US" sz="64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late</a:t>
            </a:r>
            <a:r>
              <a:rPr lang="en-US" sz="64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to</a:t>
            </a:r>
            <a:r>
              <a:rPr lang="en-US" sz="64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react</a:t>
            </a:r>
            <a:r>
              <a:rPr lang="en-US" sz="64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safely.</a:t>
            </a:r>
          </a:p>
          <a:p>
            <a:pPr algn="l" rtl="true">
              <a:lnSpc>
                <a:spcPts val="797"/>
              </a:lnSpc>
            </a:pPr>
          </a:p>
          <a:p>
            <a:pPr algn="l">
              <a:lnSpc>
                <a:spcPts val="797"/>
              </a:lnSpc>
            </a:pPr>
            <a:r>
              <a:rPr lang="en-US" b="true" sz="64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Communication</a:t>
            </a:r>
            <a:r>
              <a:rPr lang="en-US" b="true" sz="64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64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Gaps</a:t>
            </a:r>
          </a:p>
          <a:p>
            <a:pPr algn="l">
              <a:lnSpc>
                <a:spcPts val="797"/>
              </a:lnSpc>
            </a:pPr>
            <a:r>
              <a:rPr lang="en-US" sz="6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Dumpers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have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no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real-time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link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to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warn each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other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or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control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room.</a:t>
            </a:r>
          </a:p>
          <a:p>
            <a:pPr algn="l" rtl="true">
              <a:lnSpc>
                <a:spcPts val="797"/>
              </a:lnSpc>
            </a:pPr>
          </a:p>
          <a:p>
            <a:pPr algn="l">
              <a:lnSpc>
                <a:spcPts val="797"/>
              </a:lnSpc>
            </a:pPr>
            <a:r>
              <a:rPr lang="en-US" b="true" sz="64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Haul</a:t>
            </a:r>
            <a:r>
              <a:rPr lang="en-US" b="true" sz="64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64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Road</a:t>
            </a:r>
            <a:r>
              <a:rPr lang="en-US" b="true" sz="64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64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Congestion</a:t>
            </a:r>
          </a:p>
          <a:p>
            <a:pPr algn="l">
              <a:lnSpc>
                <a:spcPts val="797"/>
              </a:lnSpc>
            </a:pPr>
            <a:r>
              <a:rPr lang="en-US" sz="6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Forced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slowdowns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and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halts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cut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fleet productivity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and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ore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evacuation.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961998" y="467316"/>
            <a:ext cx="632765" cy="144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5"/>
              </a:lnSpc>
            </a:pPr>
            <a:r>
              <a:rPr lang="en-US" b="true" sz="846" spc="0">
                <a:solidFill>
                  <a:srgbClr val="11954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Our</a:t>
            </a:r>
            <a:r>
              <a:rPr lang="en-US" b="true" sz="846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846" spc="0">
                <a:solidFill>
                  <a:srgbClr val="11954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Solution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122001" y="467316"/>
            <a:ext cx="653082" cy="144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5"/>
              </a:lnSpc>
            </a:pPr>
            <a:r>
              <a:rPr lang="en-US" b="true" sz="846" spc="0">
                <a:solidFill>
                  <a:srgbClr val="7543A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</a:t>
            </a:r>
            <a:r>
              <a:rPr lang="en-US" b="true" sz="846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846" spc="0">
                <a:solidFill>
                  <a:srgbClr val="7543A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Features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98006" y="2536126"/>
            <a:ext cx="1588856" cy="308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"/>
              </a:lnSpc>
            </a:pPr>
            <a:r>
              <a:rPr lang="en-US" b="true" sz="647" spc="0">
                <a:solidFill>
                  <a:srgbClr val="193F7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Adaptive: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193F7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Continuously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193F70"/>
                </a:solidFill>
                <a:latin typeface="IBM Plex Sans"/>
                <a:ea typeface="IBM Plex Sans"/>
                <a:cs typeface="IBM Plex Sans"/>
                <a:sym typeface="IBM Plex Sans"/>
              </a:rPr>
              <a:t>adjusts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193F70"/>
                </a:solidFill>
                <a:latin typeface="IBM Plex Sans"/>
                <a:ea typeface="IBM Plex Sans"/>
                <a:cs typeface="IBM Plex Sans"/>
                <a:sym typeface="IBM Plex Sans"/>
              </a:rPr>
              <a:t>speed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193F70"/>
                </a:solidFill>
                <a:latin typeface="IBM Plex Sans"/>
                <a:ea typeface="IBM Plex Sans"/>
                <a:cs typeface="IBM Plex Sans"/>
                <a:sym typeface="IBM Plex Sans"/>
              </a:rPr>
              <a:t>and alerts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193F70"/>
                </a:solidFill>
                <a:latin typeface="IBM Plex Sans"/>
                <a:ea typeface="IBM Plex Sans"/>
                <a:cs typeface="IBM Plex Sans"/>
                <a:sym typeface="IBM Plex Sans"/>
              </a:rPr>
              <a:t>to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193F7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real-time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193F70"/>
                </a:solidFill>
                <a:latin typeface="IBM Plex Sans"/>
                <a:ea typeface="IBM Plex Sans"/>
                <a:cs typeface="IBM Plex Sans"/>
                <a:sym typeface="IBM Plex Sans"/>
              </a:rPr>
              <a:t>fog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193F70"/>
                </a:solidFill>
                <a:latin typeface="IBM Plex Sans"/>
                <a:ea typeface="IBM Plex Sans"/>
                <a:cs typeface="IBM Plex Sans"/>
                <a:sym typeface="IBM Plex Sans"/>
              </a:rPr>
              <a:t>density—not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193F70"/>
                </a:solidFill>
                <a:latin typeface="IBM Plex Sans"/>
                <a:ea typeface="IBM Plex Sans"/>
                <a:cs typeface="IBM Plex Sans"/>
                <a:sym typeface="IBM Plex Sans"/>
              </a:rPr>
              <a:t>fixed limits.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972789" y="674341"/>
            <a:ext cx="1974942" cy="218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"/>
              </a:lnSpc>
            </a:pPr>
            <a:r>
              <a:rPr lang="en-US" b="true" sz="697" i="true" spc="-3">
                <a:solidFill>
                  <a:srgbClr val="293E4F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AI-Based</a:t>
            </a:r>
            <a:r>
              <a:rPr lang="en-US" b="true" sz="697" i="true" spc="-3">
                <a:solidFill>
                  <a:srgbClr val="FFFFFF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 </a:t>
            </a:r>
            <a:r>
              <a:rPr lang="en-US" b="true" sz="697" i="true" spc="-3">
                <a:solidFill>
                  <a:srgbClr val="293E4F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Fog</a:t>
            </a:r>
            <a:r>
              <a:rPr lang="en-US" b="true" sz="697" i="true" spc="-3">
                <a:solidFill>
                  <a:srgbClr val="FFFFFF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 </a:t>
            </a:r>
            <a:r>
              <a:rPr lang="en-US" b="true" sz="697" i="true" spc="-3">
                <a:solidFill>
                  <a:srgbClr val="293E4F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Navigation</a:t>
            </a:r>
            <a:r>
              <a:rPr lang="en-US" b="true" sz="697" i="true" spc="-3">
                <a:solidFill>
                  <a:srgbClr val="FFFFFF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 </a:t>
            </a:r>
            <a:r>
              <a:rPr lang="en-US" b="true" sz="697" i="true" spc="-3">
                <a:solidFill>
                  <a:srgbClr val="293E4F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&amp;</a:t>
            </a:r>
            <a:r>
              <a:rPr lang="en-US" b="true" sz="697" i="true" spc="-3">
                <a:solidFill>
                  <a:srgbClr val="FFFFFF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 </a:t>
            </a:r>
            <a:r>
              <a:rPr lang="en-US" b="true" sz="697" i="true" spc="-3">
                <a:solidFill>
                  <a:srgbClr val="293E4F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Collision-Avoidance System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132793" y="720176"/>
            <a:ext cx="1344006" cy="711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97"/>
              </a:lnSpc>
            </a:pPr>
            <a:r>
              <a:rPr lang="en-US" sz="6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•Thermal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&amp;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LiDAR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Vision •Radar-Based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Obstacle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Detection •Visibility-Adaptive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Speed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Advisory </a:t>
            </a:r>
            <a:r>
              <a:rPr lang="en-US" sz="6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•V2V/V2IHazardBroadcast</a:t>
            </a:r>
          </a:p>
          <a:p>
            <a:pPr algn="just" rtl="true">
              <a:lnSpc>
                <a:spcPts val="797"/>
              </a:lnSpc>
            </a:pPr>
          </a:p>
          <a:p>
            <a:pPr algn="just">
              <a:lnSpc>
                <a:spcPts val="797"/>
              </a:lnSpc>
            </a:pPr>
            <a:r>
              <a:rPr lang="en-US" sz="6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•Real-TimeFleetMonitoring </a:t>
            </a:r>
            <a:r>
              <a:rPr lang="en-US" sz="6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•ModularRetrofitArchitecture</a:t>
            </a:r>
          </a:p>
          <a:p>
            <a:pPr algn="just">
              <a:lnSpc>
                <a:spcPts val="797"/>
              </a:lnSpc>
            </a:pPr>
            <a:r>
              <a:rPr lang="en-US" sz="6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•DGPS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Tracking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201532" y="1028329"/>
            <a:ext cx="382133" cy="150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5"/>
              </a:lnSpc>
            </a:pPr>
            <a:r>
              <a:rPr lang="en-US" b="true" sz="7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NMDC</a:t>
            </a:r>
            <a:r>
              <a:rPr lang="en-US" sz="797" spc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164396" y="970674"/>
            <a:ext cx="686638" cy="382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4"/>
              </a:lnSpc>
            </a:pPr>
            <a:r>
              <a:rPr lang="en-US" sz="6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AI-basedfognavi-</a:t>
            </a:r>
          </a:p>
          <a:p>
            <a:pPr algn="l">
              <a:lnSpc>
                <a:spcPts val="1594"/>
              </a:lnSpc>
            </a:pPr>
            <a:r>
              <a:rPr lang="en-US" sz="6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gation&amp;collision- </a:t>
            </a:r>
            <a:r>
              <a:rPr lang="en-US" sz="6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avoidancemodule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972656" y="1146010"/>
            <a:ext cx="804453" cy="146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5"/>
              </a:lnSpc>
            </a:pPr>
            <a:r>
              <a:rPr lang="en-US" b="true" sz="7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HAULDUMPER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972789" y="1449915"/>
            <a:ext cx="1777127" cy="123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6"/>
              </a:lnSpc>
            </a:pPr>
            <a:r>
              <a:rPr lang="en-US" sz="647" spc="0">
                <a:solidFill>
                  <a:srgbClr val="119549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•Fuses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119549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thermal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119549"/>
                </a:solidFill>
                <a:latin typeface="IBM Plex Sans"/>
                <a:ea typeface="IBM Plex Sans"/>
                <a:cs typeface="IBM Plex Sans"/>
                <a:sym typeface="IBM Plex Sans"/>
              </a:rPr>
              <a:t>camera,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119549"/>
                </a:solidFill>
                <a:latin typeface="IBM Plex Sans"/>
                <a:ea typeface="IBM Plex Sans"/>
                <a:cs typeface="IBM Plex Sans"/>
                <a:sym typeface="IBM Plex Sans"/>
              </a:rPr>
              <a:t>LiDAR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119549"/>
                </a:solidFill>
                <a:latin typeface="IBM Plex Sans"/>
                <a:ea typeface="IBM Plex Sans"/>
                <a:cs typeface="IBM Plex Sans"/>
                <a:sym typeface="IBM Plex Sans"/>
              </a:rPr>
              <a:t>and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119549"/>
                </a:solidFill>
                <a:latin typeface="IBM Plex Sans"/>
                <a:ea typeface="IBM Plex Sans"/>
                <a:cs typeface="IBM Plex Sans"/>
                <a:sym typeface="IBM Plex Sans"/>
              </a:rPr>
              <a:t>radar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119549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042703" y="1551137"/>
            <a:ext cx="909733" cy="123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6"/>
              </a:lnSpc>
            </a:pPr>
            <a:r>
              <a:rPr lang="en-US" sz="647" spc="0">
                <a:solidFill>
                  <a:srgbClr val="119549"/>
                </a:solidFill>
                <a:latin typeface="IBM Plex Sans"/>
                <a:ea typeface="IBM Plex Sans"/>
                <a:cs typeface="IBM Plex Sans"/>
                <a:sym typeface="IBM Plex Sans"/>
              </a:rPr>
              <a:t>through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119549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119549"/>
                </a:solidFill>
                <a:latin typeface="IBM Plex Sans"/>
                <a:ea typeface="IBM Plex Sans"/>
                <a:cs typeface="IBM Plex Sans"/>
                <a:sym typeface="IBM Plex Sans"/>
              </a:rPr>
              <a:t>fusion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119549"/>
                </a:solidFill>
                <a:latin typeface="IBM Plex Sans"/>
                <a:ea typeface="IBM Plex Sans"/>
                <a:cs typeface="IBM Plex Sans"/>
                <a:sym typeface="IBM Plex Sans"/>
              </a:rPr>
              <a:t>engine.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972789" y="1652368"/>
            <a:ext cx="2018481" cy="123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6"/>
              </a:lnSpc>
            </a:pPr>
            <a:r>
              <a:rPr lang="en-US" sz="647" spc="1">
                <a:solidFill>
                  <a:srgbClr val="119549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•Detects</a:t>
            </a:r>
            <a:r>
              <a:rPr lang="en-US" sz="64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1">
                <a:solidFill>
                  <a:srgbClr val="119549"/>
                </a:solidFill>
                <a:latin typeface="IBM Plex Sans"/>
                <a:ea typeface="IBM Plex Sans"/>
                <a:cs typeface="IBM Plex Sans"/>
                <a:sym typeface="IBM Plex Sans"/>
              </a:rPr>
              <a:t>obstacles</a:t>
            </a:r>
            <a:r>
              <a:rPr lang="en-US" sz="64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1">
                <a:solidFill>
                  <a:srgbClr val="119549"/>
                </a:solidFill>
                <a:latin typeface="IBM Plex Sans"/>
                <a:ea typeface="IBM Plex Sans"/>
                <a:cs typeface="IBM Plex Sans"/>
                <a:sym typeface="IBM Plex Sans"/>
              </a:rPr>
              <a:t>and</a:t>
            </a:r>
            <a:r>
              <a:rPr lang="en-US" sz="64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1">
                <a:solidFill>
                  <a:srgbClr val="119549"/>
                </a:solidFill>
                <a:latin typeface="IBM Plex Sans"/>
                <a:ea typeface="IBM Plex Sans"/>
                <a:cs typeface="IBM Plex Sans"/>
                <a:sym typeface="IBM Plex Sans"/>
              </a:rPr>
              <a:t>vehicles</a:t>
            </a:r>
            <a:r>
              <a:rPr lang="en-US" sz="64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1">
                <a:solidFill>
                  <a:srgbClr val="119549"/>
                </a:solidFill>
                <a:latin typeface="IBM Plex Sans"/>
                <a:ea typeface="IBM Plex Sans"/>
                <a:cs typeface="IBM Plex Sans"/>
                <a:sym typeface="IBM Plex Sans"/>
              </a:rPr>
              <a:t>beyond</a:t>
            </a:r>
            <a:r>
              <a:rPr lang="en-US" sz="64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1">
                <a:solidFill>
                  <a:srgbClr val="119549"/>
                </a:solidFill>
                <a:latin typeface="IBM Plex Sans"/>
                <a:ea typeface="IBM Plex Sans"/>
                <a:cs typeface="IBM Plex Sans"/>
                <a:sym typeface="IBM Plex Sans"/>
              </a:rPr>
              <a:t>human</a:t>
            </a:r>
            <a:r>
              <a:rPr lang="en-US" sz="64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1">
                <a:solidFill>
                  <a:srgbClr val="119549"/>
                </a:solidFill>
                <a:latin typeface="IBM Plex Sans"/>
                <a:ea typeface="IBM Plex Sans"/>
                <a:cs typeface="IBM Plex Sans"/>
                <a:sym typeface="IBM Plex Sans"/>
              </a:rPr>
              <a:t>visual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042703" y="1753591"/>
            <a:ext cx="228200" cy="123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6"/>
              </a:lnSpc>
            </a:pPr>
            <a:r>
              <a:rPr lang="en-US" sz="647" spc="0">
                <a:solidFill>
                  <a:srgbClr val="119549"/>
                </a:solidFill>
                <a:latin typeface="IBM Plex Sans"/>
                <a:ea typeface="IBM Plex Sans"/>
                <a:cs typeface="IBM Plex Sans"/>
                <a:sym typeface="IBM Plex Sans"/>
              </a:rPr>
              <a:t>range.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972789" y="1854803"/>
            <a:ext cx="1926565" cy="123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6"/>
              </a:lnSpc>
            </a:pPr>
            <a:r>
              <a:rPr lang="en-US" sz="647" spc="0">
                <a:solidFill>
                  <a:srgbClr val="119549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•Adjusts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119549"/>
                </a:solidFill>
                <a:latin typeface="IBM Plex Sans"/>
                <a:ea typeface="IBM Plex Sans"/>
                <a:cs typeface="IBM Plex Sans"/>
                <a:sym typeface="IBM Plex Sans"/>
              </a:rPr>
              <a:t>safe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119549"/>
                </a:solidFill>
                <a:latin typeface="IBM Plex Sans"/>
                <a:ea typeface="IBM Plex Sans"/>
                <a:cs typeface="IBM Plex Sans"/>
                <a:sym typeface="IBM Plex Sans"/>
              </a:rPr>
              <a:t>speed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119549"/>
                </a:solidFill>
                <a:latin typeface="IBM Plex Sans"/>
                <a:ea typeface="IBM Plex Sans"/>
                <a:cs typeface="IBM Plex Sans"/>
                <a:sym typeface="IBM Plex Sans"/>
              </a:rPr>
              <a:t>and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119549"/>
                </a:solidFill>
                <a:latin typeface="IBM Plex Sans"/>
                <a:ea typeface="IBM Plex Sans"/>
                <a:cs typeface="IBM Plex Sans"/>
                <a:sym typeface="IBM Plex Sans"/>
              </a:rPr>
              <a:t>following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119549"/>
                </a:solidFill>
                <a:latin typeface="IBM Plex Sans"/>
                <a:ea typeface="IBM Plex Sans"/>
                <a:cs typeface="IBM Plex Sans"/>
                <a:sym typeface="IBM Plex Sans"/>
              </a:rPr>
              <a:t>distance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119549"/>
                </a:solidFill>
                <a:latin typeface="IBM Plex Sans"/>
                <a:ea typeface="IBM Plex Sans"/>
                <a:cs typeface="IBM Plex Sans"/>
                <a:sym typeface="IBM Plex Sans"/>
              </a:rPr>
              <a:t>to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119549"/>
                </a:solidFill>
                <a:latin typeface="IBM Plex Sans"/>
                <a:ea typeface="IBM Plex Sans"/>
                <a:cs typeface="IBM Plex Sans"/>
                <a:sym typeface="IBM Plex Sans"/>
              </a:rPr>
              <a:t>real-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042703" y="1956025"/>
            <a:ext cx="511502" cy="123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6"/>
              </a:lnSpc>
            </a:pPr>
            <a:r>
              <a:rPr lang="en-US" sz="647" spc="0">
                <a:solidFill>
                  <a:srgbClr val="119549"/>
                </a:solidFill>
                <a:latin typeface="IBM Plex Sans"/>
                <a:ea typeface="IBM Plex Sans"/>
                <a:cs typeface="IBM Plex Sans"/>
                <a:sym typeface="IBM Plex Sans"/>
              </a:rPr>
              <a:t>time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119549"/>
                </a:solidFill>
                <a:latin typeface="IBM Plex Sans"/>
                <a:ea typeface="IBM Plex Sans"/>
                <a:cs typeface="IBM Plex Sans"/>
                <a:sym typeface="IBM Plex Sans"/>
              </a:rPr>
              <a:t>visibility.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972789" y="2057248"/>
            <a:ext cx="1697050" cy="123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6"/>
              </a:lnSpc>
            </a:pPr>
            <a:r>
              <a:rPr lang="en-US" sz="647" spc="1">
                <a:solidFill>
                  <a:srgbClr val="119549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•Broadcasts</a:t>
            </a:r>
            <a:r>
              <a:rPr lang="en-US" sz="64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1">
                <a:solidFill>
                  <a:srgbClr val="119549"/>
                </a:solidFill>
                <a:latin typeface="IBM Plex Sans"/>
                <a:ea typeface="IBM Plex Sans"/>
                <a:cs typeface="IBM Plex Sans"/>
                <a:sym typeface="IBM Plex Sans"/>
              </a:rPr>
              <a:t>vehicle</a:t>
            </a:r>
            <a:r>
              <a:rPr lang="en-US" sz="64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1">
                <a:solidFill>
                  <a:srgbClr val="119549"/>
                </a:solidFill>
                <a:latin typeface="IBM Plex Sans"/>
                <a:ea typeface="IBM Plex Sans"/>
                <a:cs typeface="IBM Plex Sans"/>
                <a:sym typeface="IBM Plex Sans"/>
              </a:rPr>
              <a:t>position</a:t>
            </a:r>
            <a:r>
              <a:rPr lang="en-US" sz="64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1">
                <a:solidFill>
                  <a:srgbClr val="119549"/>
                </a:solidFill>
                <a:latin typeface="IBM Plex Sans"/>
                <a:ea typeface="IBM Plex Sans"/>
                <a:cs typeface="IBM Plex Sans"/>
                <a:sym typeface="IBM Plex Sans"/>
              </a:rPr>
              <a:t>and</a:t>
            </a:r>
            <a:r>
              <a:rPr lang="en-US" sz="64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1">
                <a:solidFill>
                  <a:srgbClr val="119549"/>
                </a:solidFill>
                <a:latin typeface="IBM Plex Sans"/>
                <a:ea typeface="IBM Plex Sans"/>
                <a:cs typeface="IBM Plex Sans"/>
                <a:sym typeface="IBM Plex Sans"/>
              </a:rPr>
              <a:t>hazards</a:t>
            </a:r>
            <a:r>
              <a:rPr lang="en-US" sz="64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1">
                <a:solidFill>
                  <a:srgbClr val="119549"/>
                </a:solidFill>
                <a:latin typeface="IBM Plex Sans"/>
                <a:ea typeface="IBM Plex Sans"/>
                <a:cs typeface="IBM Plex Sans"/>
                <a:sym typeface="IBM Plex Sans"/>
              </a:rPr>
              <a:t>via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042703" y="2158460"/>
            <a:ext cx="559718" cy="123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6"/>
              </a:lnSpc>
            </a:pPr>
            <a:r>
              <a:rPr lang="en-US" sz="647" spc="0">
                <a:solidFill>
                  <a:srgbClr val="119549"/>
                </a:solidFill>
                <a:latin typeface="IBM Plex Sans"/>
                <a:ea typeface="IBM Plex Sans"/>
                <a:cs typeface="IBM Plex Sans"/>
                <a:sym typeface="IBM Plex Sans"/>
              </a:rPr>
              <a:t>V2V/V2I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119549"/>
                </a:solidFill>
                <a:latin typeface="IBM Plex Sans"/>
                <a:ea typeface="IBM Plex Sans"/>
                <a:cs typeface="IBM Plex Sans"/>
                <a:sym typeface="IBM Plex Sans"/>
              </a:rPr>
              <a:t>links.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972789" y="2259682"/>
            <a:ext cx="1893846" cy="123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6"/>
              </a:lnSpc>
            </a:pPr>
            <a:r>
              <a:rPr lang="en-US" sz="647" spc="0">
                <a:solidFill>
                  <a:srgbClr val="119549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•Streams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119549"/>
                </a:solidFill>
                <a:latin typeface="IBM Plex Sans"/>
                <a:ea typeface="IBM Plex Sans"/>
                <a:cs typeface="IBM Plex Sans"/>
                <a:sym typeface="IBM Plex Sans"/>
              </a:rPr>
              <a:t>live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119549"/>
                </a:solidFill>
                <a:latin typeface="IBM Plex Sans"/>
                <a:ea typeface="IBM Plex Sans"/>
                <a:cs typeface="IBM Plex Sans"/>
                <a:sym typeface="IBM Plex Sans"/>
              </a:rPr>
              <a:t>fleet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119549"/>
                </a:solidFill>
                <a:latin typeface="IBM Plex Sans"/>
                <a:ea typeface="IBM Plex Sans"/>
                <a:cs typeface="IBM Plex Sans"/>
                <a:sym typeface="IBM Plex Sans"/>
              </a:rPr>
              <a:t>status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119549"/>
                </a:solidFill>
                <a:latin typeface="IBM Plex Sans"/>
                <a:ea typeface="IBM Plex Sans"/>
                <a:cs typeface="IBM Plex Sans"/>
                <a:sym typeface="IBM Plex Sans"/>
              </a:rPr>
              <a:t>to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119549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119549"/>
                </a:solidFill>
                <a:latin typeface="IBM Plex Sans"/>
                <a:ea typeface="IBM Plex Sans"/>
                <a:cs typeface="IBM Plex Sans"/>
                <a:sym typeface="IBM Plex Sans"/>
              </a:rPr>
              <a:t>digital-twin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119549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control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042703" y="2360905"/>
            <a:ext cx="217541" cy="123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6"/>
              </a:lnSpc>
            </a:pPr>
            <a:r>
              <a:rPr lang="en-US" sz="647" spc="0">
                <a:solidFill>
                  <a:srgbClr val="119549"/>
                </a:solidFill>
                <a:latin typeface="IBM Plex Sans"/>
                <a:ea typeface="IBM Plex Sans"/>
                <a:cs typeface="IBM Plex Sans"/>
                <a:sym typeface="IBM Plex Sans"/>
              </a:rPr>
              <a:t>ro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119549"/>
                </a:solidFill>
                <a:latin typeface="IBM Plex Sans"/>
                <a:ea typeface="IBM Plex Sans"/>
                <a:cs typeface="IBM Plex Sans"/>
                <a:sym typeface="IBM Plex Sans"/>
              </a:rPr>
              <a:t>om.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015995" y="2536126"/>
            <a:ext cx="1661027" cy="20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"/>
              </a:lnSpc>
            </a:pPr>
            <a:r>
              <a:rPr lang="en-US" b="true" sz="647" spc="0">
                <a:solidFill>
                  <a:srgbClr val="193F7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Predictive:</a:t>
            </a:r>
            <a:r>
              <a:rPr lang="en-US" sz="647" spc="0">
                <a:solidFill>
                  <a:srgbClr val="193F70"/>
                </a:solidFill>
                <a:latin typeface="IBM Plex Sans"/>
                <a:ea typeface="IBM Plex Sans"/>
                <a:cs typeface="IBM Plex Sans"/>
                <a:sym typeface="IBM Plex Sans"/>
              </a:rPr>
              <a:t>Flagscollisionriskandhazards</a:t>
            </a:r>
            <a:r>
              <a:rPr lang="en-US" b="true" sz="647" spc="0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647" spc="0">
                <a:solidFill>
                  <a:srgbClr val="193F70"/>
                </a:solidFill>
                <a:latin typeface="IBM Plex Sans"/>
                <a:ea typeface="IBM Plex Sans"/>
                <a:cs typeface="IBM Plex Sans"/>
                <a:sym typeface="IBM Plex Sans"/>
              </a:rPr>
              <a:t>beforetheyoccurusingsensorfusion.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3906002" y="2536126"/>
            <a:ext cx="1686906" cy="20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"/>
              </a:lnSpc>
            </a:pPr>
            <a:r>
              <a:rPr lang="en-US" b="true" sz="647" spc="0">
                <a:solidFill>
                  <a:srgbClr val="193F7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Retrofit-Ready:</a:t>
            </a:r>
            <a:r>
              <a:rPr lang="en-US" sz="647" spc="0">
                <a:solidFill>
                  <a:srgbClr val="193F70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Integrateswithexisting dumperfleetsviaCANbuswithoutredesign.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50273" y="92526"/>
            <a:ext cx="774002" cy="366084"/>
            <a:chOff x="0" y="0"/>
            <a:chExt cx="1032002" cy="4881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2002" cy="488061"/>
            </a:xfrm>
            <a:custGeom>
              <a:avLst/>
              <a:gdLst/>
              <a:ahLst/>
              <a:cxnLst/>
              <a:rect r="r" b="b" t="t" l="l"/>
              <a:pathLst>
                <a:path h="488061" w="1032002">
                  <a:moveTo>
                    <a:pt x="0" y="0"/>
                  </a:moveTo>
                  <a:lnTo>
                    <a:pt x="1032002" y="0"/>
                  </a:lnTo>
                  <a:lnTo>
                    <a:pt x="1032002" y="488061"/>
                  </a:lnTo>
                  <a:lnTo>
                    <a:pt x="0" y="4880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6761" y="117948"/>
            <a:ext cx="426463" cy="210455"/>
            <a:chOff x="0" y="0"/>
            <a:chExt cx="426466" cy="2104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6468" cy="210445"/>
            </a:xfrm>
            <a:custGeom>
              <a:avLst/>
              <a:gdLst/>
              <a:ahLst/>
              <a:cxnLst/>
              <a:rect r="r" b="b" t="t" l="l"/>
              <a:pathLst>
                <a:path h="210445" w="426468">
                  <a:moveTo>
                    <a:pt x="8890" y="29719"/>
                  </a:moveTo>
                  <a:lnTo>
                    <a:pt x="8890" y="180726"/>
                  </a:lnTo>
                  <a:lnTo>
                    <a:pt x="4445" y="180726"/>
                  </a:lnTo>
                  <a:lnTo>
                    <a:pt x="8890" y="180726"/>
                  </a:lnTo>
                  <a:cubicBezTo>
                    <a:pt x="8890" y="192283"/>
                    <a:pt x="18288" y="201555"/>
                    <a:pt x="29718" y="201555"/>
                  </a:cubicBezTo>
                  <a:lnTo>
                    <a:pt x="29718" y="206000"/>
                  </a:lnTo>
                  <a:lnTo>
                    <a:pt x="29718" y="201555"/>
                  </a:lnTo>
                  <a:lnTo>
                    <a:pt x="396750" y="201555"/>
                  </a:lnTo>
                  <a:lnTo>
                    <a:pt x="396750" y="206000"/>
                  </a:lnTo>
                  <a:lnTo>
                    <a:pt x="396750" y="201555"/>
                  </a:lnTo>
                  <a:cubicBezTo>
                    <a:pt x="408307" y="201555"/>
                    <a:pt x="417578" y="192156"/>
                    <a:pt x="417578" y="180726"/>
                  </a:cubicBezTo>
                  <a:lnTo>
                    <a:pt x="422024" y="180726"/>
                  </a:lnTo>
                  <a:lnTo>
                    <a:pt x="417578" y="180726"/>
                  </a:lnTo>
                  <a:lnTo>
                    <a:pt x="417578" y="29719"/>
                  </a:lnTo>
                  <a:lnTo>
                    <a:pt x="422024" y="29719"/>
                  </a:lnTo>
                  <a:lnTo>
                    <a:pt x="417578" y="29719"/>
                  </a:lnTo>
                  <a:cubicBezTo>
                    <a:pt x="417578" y="18162"/>
                    <a:pt x="408180" y="8890"/>
                    <a:pt x="396750" y="8890"/>
                  </a:cubicBezTo>
                  <a:lnTo>
                    <a:pt x="396750" y="4445"/>
                  </a:lnTo>
                  <a:lnTo>
                    <a:pt x="396750" y="8890"/>
                  </a:lnTo>
                  <a:lnTo>
                    <a:pt x="29718" y="8890"/>
                  </a:lnTo>
                  <a:lnTo>
                    <a:pt x="29718" y="4445"/>
                  </a:lnTo>
                  <a:lnTo>
                    <a:pt x="29718" y="8890"/>
                  </a:lnTo>
                  <a:cubicBezTo>
                    <a:pt x="18161" y="8890"/>
                    <a:pt x="8890" y="18162"/>
                    <a:pt x="8890" y="29719"/>
                  </a:cubicBezTo>
                  <a:lnTo>
                    <a:pt x="4445" y="29719"/>
                  </a:lnTo>
                  <a:lnTo>
                    <a:pt x="8890" y="29719"/>
                  </a:lnTo>
                  <a:moveTo>
                    <a:pt x="0" y="29719"/>
                  </a:moveTo>
                  <a:cubicBezTo>
                    <a:pt x="0" y="13335"/>
                    <a:pt x="13335" y="0"/>
                    <a:pt x="29718" y="0"/>
                  </a:cubicBezTo>
                  <a:lnTo>
                    <a:pt x="396750" y="0"/>
                  </a:lnTo>
                  <a:cubicBezTo>
                    <a:pt x="413133" y="0"/>
                    <a:pt x="426468" y="13335"/>
                    <a:pt x="426468" y="29719"/>
                  </a:cubicBezTo>
                  <a:lnTo>
                    <a:pt x="426468" y="180726"/>
                  </a:lnTo>
                  <a:cubicBezTo>
                    <a:pt x="426468" y="197110"/>
                    <a:pt x="413133" y="210445"/>
                    <a:pt x="396750" y="210445"/>
                  </a:cubicBezTo>
                  <a:lnTo>
                    <a:pt x="29718" y="210445"/>
                  </a:lnTo>
                  <a:cubicBezTo>
                    <a:pt x="13335" y="210445"/>
                    <a:pt x="0" y="197110"/>
                    <a:pt x="0" y="180726"/>
                  </a:cubicBezTo>
                  <a:lnTo>
                    <a:pt x="0" y="29719"/>
                  </a:lnTo>
                  <a:close/>
                </a:path>
              </a:pathLst>
            </a:custGeom>
            <a:solidFill>
              <a:srgbClr val="7543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10" y="3132020"/>
            <a:ext cx="5760072" cy="108004"/>
            <a:chOff x="0" y="0"/>
            <a:chExt cx="5760072" cy="1080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760086" cy="107948"/>
            </a:xfrm>
            <a:custGeom>
              <a:avLst/>
              <a:gdLst/>
              <a:ahLst/>
              <a:cxnLst/>
              <a:rect r="r" b="b" t="t" l="l"/>
              <a:pathLst>
                <a:path h="107948" w="5760086">
                  <a:moveTo>
                    <a:pt x="0" y="0"/>
                  </a:moveTo>
                  <a:lnTo>
                    <a:pt x="0" y="107948"/>
                  </a:lnTo>
                  <a:lnTo>
                    <a:pt x="5760086" y="107948"/>
                  </a:lnTo>
                  <a:lnTo>
                    <a:pt x="5760086" y="0"/>
                  </a:lnTo>
                  <a:close/>
                </a:path>
              </a:pathLst>
            </a:custGeom>
            <a:solidFill>
              <a:srgbClr val="087FBD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85163" y="527952"/>
            <a:ext cx="5686930" cy="2508094"/>
          </a:xfrm>
          <a:custGeom>
            <a:avLst/>
            <a:gdLst/>
            <a:ahLst/>
            <a:cxnLst/>
            <a:rect r="r" b="b" t="t" l="l"/>
            <a:pathLst>
              <a:path h="2508094" w="5686930">
                <a:moveTo>
                  <a:pt x="0" y="0"/>
                </a:moveTo>
                <a:lnTo>
                  <a:pt x="5686930" y="0"/>
                </a:lnTo>
                <a:lnTo>
                  <a:pt x="5686930" y="2508094"/>
                </a:lnTo>
                <a:lnTo>
                  <a:pt x="0" y="25080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61411" y="-11963"/>
            <a:ext cx="2673706" cy="299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b="true" sz="1693" spc="-1">
                <a:solidFill>
                  <a:srgbClr val="19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TECHNICAL</a:t>
            </a:r>
            <a:r>
              <a:rPr lang="en-US" b="true" sz="1693" spc="-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1693" spc="-1">
                <a:solidFill>
                  <a:srgbClr val="19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APPROACH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9822" y="149190"/>
            <a:ext cx="224771" cy="13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"/>
              </a:lnSpc>
            </a:pPr>
            <a:r>
              <a:rPr lang="en-US" sz="458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Circuit Breakers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73442" y="3130725"/>
            <a:ext cx="829389" cy="8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7"/>
              </a:lnSpc>
            </a:pPr>
            <a:r>
              <a:rPr lang="en-US" sz="448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@SIH Idea submission–Template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533920" y="3123324"/>
            <a:ext cx="42586" cy="105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b="true" sz="5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5207" y="605942"/>
            <a:ext cx="2536860" cy="543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"/>
              </a:lnSpc>
            </a:pPr>
            <a:r>
              <a:rPr lang="en-US" b="true" sz="69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Hardware</a:t>
            </a:r>
          </a:p>
          <a:p>
            <a:pPr algn="l">
              <a:lnSpc>
                <a:spcPts val="846"/>
              </a:lnSpc>
            </a:pPr>
            <a:r>
              <a:rPr lang="en-US" b="true" sz="697" spc="2">
                <a:solidFill>
                  <a:srgbClr val="293E4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Processing:</a:t>
            </a:r>
            <a:r>
              <a:rPr lang="en-US" sz="697" spc="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2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STM32H7</a:t>
            </a:r>
            <a:r>
              <a:rPr lang="en-US" sz="697" spc="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2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+</a:t>
            </a:r>
            <a:r>
              <a:rPr lang="en-US" sz="697" spc="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2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Raspberry</a:t>
            </a:r>
            <a:r>
              <a:rPr lang="en-US" sz="697" spc="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2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Pi</a:t>
            </a:r>
            <a:r>
              <a:rPr lang="en-US" sz="697" spc="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2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5</a:t>
            </a:r>
            <a:r>
              <a:rPr lang="en-US" sz="697" spc="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2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(8GB)</a:t>
            </a:r>
          </a:p>
          <a:p>
            <a:pPr algn="l">
              <a:lnSpc>
                <a:spcPts val="846"/>
              </a:lnSpc>
            </a:pPr>
            <a:r>
              <a:rPr lang="en-US" b="true" sz="697" spc="2">
                <a:solidFill>
                  <a:srgbClr val="293E4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Sensing:</a:t>
            </a:r>
            <a:r>
              <a:rPr lang="en-US" sz="697" spc="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2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Thermal</a:t>
            </a:r>
            <a:r>
              <a:rPr lang="en-US" sz="697" spc="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2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camera,</a:t>
            </a:r>
            <a:r>
              <a:rPr lang="en-US" sz="697" spc="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2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LiDAR,</a:t>
            </a:r>
            <a:r>
              <a:rPr lang="en-US" sz="697" spc="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2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mmWave</a:t>
            </a:r>
            <a:r>
              <a:rPr lang="en-US" sz="697" spc="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2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radar,</a:t>
            </a:r>
            <a:r>
              <a:rPr lang="en-US" sz="697" spc="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2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DGPS </a:t>
            </a:r>
            <a:r>
              <a:rPr lang="en-US" b="true" sz="697" spc="2">
                <a:solidFill>
                  <a:srgbClr val="293E4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Actuation:</a:t>
            </a:r>
            <a:r>
              <a:rPr lang="en-US" sz="697" spc="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2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HUD/display</a:t>
            </a:r>
            <a:r>
              <a:rPr lang="en-US" sz="697" spc="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2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alerts,</a:t>
            </a:r>
            <a:r>
              <a:rPr lang="en-US" sz="697" spc="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2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buzzer,</a:t>
            </a:r>
            <a:r>
              <a:rPr lang="en-US" sz="697" spc="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2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LoRa/V2V</a:t>
            </a:r>
            <a:r>
              <a:rPr lang="en-US" sz="697" spc="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2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radio,</a:t>
            </a:r>
            <a:r>
              <a:rPr lang="en-US" sz="697" spc="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2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CAN interface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951998" y="605942"/>
            <a:ext cx="2531583" cy="543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"/>
              </a:lnSpc>
            </a:pPr>
            <a:r>
              <a:rPr lang="en-US" b="true" sz="69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Software</a:t>
            </a:r>
          </a:p>
          <a:p>
            <a:pPr algn="l">
              <a:lnSpc>
                <a:spcPts val="846"/>
              </a:lnSpc>
            </a:pPr>
            <a:r>
              <a:rPr lang="en-US" b="true" sz="697" spc="0">
                <a:solidFill>
                  <a:srgbClr val="293E4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Platform: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ROS2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+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Embedded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C</a:t>
            </a:r>
          </a:p>
          <a:p>
            <a:pPr algn="l">
              <a:lnSpc>
                <a:spcPts val="846"/>
              </a:lnSpc>
            </a:pPr>
            <a:r>
              <a:rPr lang="en-US" b="true" sz="697" spc="0">
                <a:solidFill>
                  <a:srgbClr val="293E4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Intelligence: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Sensor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Fusion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+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Kalman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Filter</a:t>
            </a:r>
          </a:p>
          <a:p>
            <a:pPr algn="l">
              <a:lnSpc>
                <a:spcPts val="846"/>
              </a:lnSpc>
            </a:pPr>
            <a:r>
              <a:rPr lang="en-US" b="true" sz="697" spc="0">
                <a:solidFill>
                  <a:srgbClr val="293E4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Sensor</a:t>
            </a:r>
            <a:r>
              <a:rPr lang="en-US" b="true" sz="697" spc="0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697" spc="0">
                <a:solidFill>
                  <a:srgbClr val="293E4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Fusion</a:t>
            </a:r>
            <a:r>
              <a:rPr lang="en-US" b="true" sz="697" spc="0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697" spc="0">
                <a:solidFill>
                  <a:srgbClr val="293E4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+</a:t>
            </a:r>
            <a:r>
              <a:rPr lang="en-US" b="true" sz="697" spc="0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697" spc="0">
                <a:solidFill>
                  <a:srgbClr val="293E4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Navigation: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Multi-sensor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fusion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and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adaptive speed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control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0487" y="1300648"/>
            <a:ext cx="1691078" cy="320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7"/>
              </a:lnSpc>
            </a:pPr>
            <a:r>
              <a:rPr lang="en-US" b="true" sz="64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ThermalImagingCamera</a:t>
            </a:r>
            <a:r>
              <a:rPr lang="en-US" b="true" sz="64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</a:p>
          <a:p>
            <a:pPr algn="ctr">
              <a:lnSpc>
                <a:spcPts val="797"/>
              </a:lnSpc>
            </a:pPr>
            <a:r>
              <a:rPr lang="en-US" sz="6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Thermalcamera—seesthroughfogviaheat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signatures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454221" y="1300648"/>
            <a:ext cx="943108" cy="219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97"/>
              </a:lnSpc>
            </a:pPr>
            <a:r>
              <a:rPr lang="en-US" b="true" sz="64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mmWaveRadarSensor</a:t>
            </a:r>
            <a:r>
              <a:rPr lang="en-US" b="true" sz="64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</a:p>
          <a:p>
            <a:pPr algn="just">
              <a:lnSpc>
                <a:spcPts val="797"/>
              </a:lnSpc>
            </a:pPr>
            <a:r>
              <a:rPr lang="en-US" sz="6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Solid-stateLiDARarray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017502" y="1304106"/>
            <a:ext cx="1476318" cy="316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7"/>
              </a:lnSpc>
            </a:pPr>
            <a:r>
              <a:rPr lang="en-US" b="true" sz="64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DGPS/IMUPositioning</a:t>
            </a:r>
          </a:p>
          <a:p>
            <a:pPr algn="ctr">
              <a:lnSpc>
                <a:spcPts val="797"/>
              </a:lnSpc>
            </a:pPr>
            <a:r>
              <a:rPr lang="en-US" sz="6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DGPS+IMU—sub-metrepositionand heading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97508" y="1844107"/>
            <a:ext cx="3042628" cy="316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7"/>
              </a:lnSpc>
            </a:pPr>
            <a:r>
              <a:rPr lang="en-US" b="true" sz="64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Fog Navigation &amp; Collision-Avoidance Unit—STM32H7/Raspberry Pi 5 (8GB)</a:t>
            </a:r>
          </a:p>
          <a:p>
            <a:pPr algn="ctr">
              <a:lnSpc>
                <a:spcPts val="797"/>
              </a:lnSpc>
            </a:pP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Sensor Fusion Estimator | V2V/V2I Communication Logic</a:t>
            </a:r>
          </a:p>
          <a:p>
            <a:pPr algn="ctr">
              <a:lnSpc>
                <a:spcPts val="797"/>
              </a:lnSpc>
            </a:pP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10 Hz Cycle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2768" y="2402253"/>
            <a:ext cx="1321632" cy="316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7"/>
              </a:lnSpc>
            </a:pPr>
            <a:r>
              <a:rPr lang="en-US" b="true" sz="64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01Thermal&amp;LiDARPerception</a:t>
            </a:r>
            <a:r>
              <a:rPr lang="en-US" b="true" sz="64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</a:p>
          <a:p>
            <a:pPr algn="ctr">
              <a:lnSpc>
                <a:spcPts val="797"/>
              </a:lnSpc>
            </a:pPr>
            <a:r>
              <a:rPr lang="en-US" sz="6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Visibility-adaptivespeedadvisory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+HUDalerts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06591" y="2402253"/>
            <a:ext cx="1313069" cy="473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7"/>
              </a:lnSpc>
            </a:pPr>
            <a:r>
              <a:rPr lang="en-US" b="true" sz="64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02ObstacleDetection</a:t>
            </a:r>
            <a:r>
              <a:rPr lang="en-US" b="true" sz="64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</a:p>
          <a:p>
            <a:pPr algn="ctr">
              <a:lnSpc>
                <a:spcPts val="797"/>
              </a:lnSpc>
            </a:pPr>
            <a:r>
              <a:rPr lang="en-US" sz="6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Thermal+LiDAR+radarfusion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forrangeandclassification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E95D32"/>
                </a:solidFill>
                <a:latin typeface="IBM Plex Sans"/>
                <a:ea typeface="IBM Plex Sans"/>
                <a:cs typeface="IBM Plex Sans"/>
                <a:sym typeface="IBM Plex Sans"/>
              </a:rPr>
              <a:t>→DelayedHazardDetection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045828" y="2402253"/>
            <a:ext cx="1234421" cy="320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7"/>
              </a:lnSpc>
            </a:pPr>
            <a:r>
              <a:rPr lang="en-US" b="true" sz="64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03V2V/V2IAlertBroadcaster</a:t>
            </a:r>
            <a:r>
              <a:rPr lang="en-US" b="true" sz="64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</a:p>
          <a:p>
            <a:pPr algn="ctr">
              <a:lnSpc>
                <a:spcPts val="797"/>
              </a:lnSpc>
            </a:pPr>
            <a:r>
              <a:rPr lang="en-US" sz="6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Broadcastsposition,speedand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hazardalertstonearbyvehicles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488571" y="2402253"/>
            <a:ext cx="1102843" cy="470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7"/>
              </a:lnSpc>
            </a:pPr>
            <a:r>
              <a:rPr lang="en-US" b="true" sz="64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04FleetDashboard</a:t>
            </a:r>
          </a:p>
          <a:p>
            <a:pPr algn="ctr">
              <a:lnSpc>
                <a:spcPts val="797"/>
              </a:lnSpc>
            </a:pPr>
            <a:r>
              <a:rPr lang="en-US" sz="6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Digital-twinfleetviewforthe controlroom </a:t>
            </a:r>
            <a:r>
              <a:rPr lang="en-US" sz="647" spc="0">
                <a:solidFill>
                  <a:srgbClr val="E95D32"/>
                </a:solidFill>
                <a:latin typeface="IBM Plex Sans"/>
                <a:ea typeface="IBM Plex Sans"/>
                <a:cs typeface="IBM Plex Sans"/>
                <a:sym typeface="IBM Plex Sans"/>
              </a:rPr>
              <a:t>→HaulRoadCongestion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40350" y="2704052"/>
            <a:ext cx="790785" cy="159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6"/>
              </a:lnSpc>
            </a:pPr>
            <a:r>
              <a:rPr lang="en-US" sz="647" spc="0">
                <a:solidFill>
                  <a:srgbClr val="E95D32"/>
                </a:solidFill>
                <a:latin typeface="IBM Plex Sans"/>
                <a:ea typeface="IBM Plex Sans"/>
                <a:cs typeface="IBM Plex Sans"/>
                <a:sym typeface="IBM Plex Sans"/>
              </a:rPr>
              <a:t>→ReducedVisibility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175473" y="2707510"/>
            <a:ext cx="924820" cy="159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6"/>
              </a:lnSpc>
            </a:pPr>
            <a:r>
              <a:rPr lang="en-US" sz="647" spc="0">
                <a:solidFill>
                  <a:srgbClr val="E95D32"/>
                </a:solidFill>
                <a:latin typeface="IBM Plex Sans"/>
                <a:ea typeface="IBM Plex Sans"/>
                <a:cs typeface="IBM Plex Sans"/>
                <a:sym typeface="IBM Plex Sans"/>
              </a:rPr>
              <a:t>→CommunicationGaps</a:t>
            </a:r>
            <a:r>
              <a:rPr lang="en-US" sz="6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50273" y="92526"/>
            <a:ext cx="774002" cy="366084"/>
            <a:chOff x="0" y="0"/>
            <a:chExt cx="1032002" cy="4881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2002" cy="488061"/>
            </a:xfrm>
            <a:custGeom>
              <a:avLst/>
              <a:gdLst/>
              <a:ahLst/>
              <a:cxnLst/>
              <a:rect r="r" b="b" t="t" l="l"/>
              <a:pathLst>
                <a:path h="488061" w="1032002">
                  <a:moveTo>
                    <a:pt x="0" y="0"/>
                  </a:moveTo>
                  <a:lnTo>
                    <a:pt x="1032002" y="0"/>
                  </a:lnTo>
                  <a:lnTo>
                    <a:pt x="1032002" y="488061"/>
                  </a:lnTo>
                  <a:lnTo>
                    <a:pt x="0" y="4880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3132020"/>
            <a:ext cx="5760072" cy="108004"/>
            <a:chOff x="0" y="0"/>
            <a:chExt cx="5760072" cy="1080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760086" cy="107948"/>
            </a:xfrm>
            <a:custGeom>
              <a:avLst/>
              <a:gdLst/>
              <a:ahLst/>
              <a:cxnLst/>
              <a:rect r="r" b="b" t="t" l="l"/>
              <a:pathLst>
                <a:path h="107948" w="5760086">
                  <a:moveTo>
                    <a:pt x="0" y="0"/>
                  </a:moveTo>
                  <a:lnTo>
                    <a:pt x="0" y="107948"/>
                  </a:lnTo>
                  <a:lnTo>
                    <a:pt x="5760086" y="107948"/>
                  </a:lnTo>
                  <a:lnTo>
                    <a:pt x="5760086" y="0"/>
                  </a:lnTo>
                  <a:close/>
                </a:path>
              </a:pathLst>
            </a:custGeom>
            <a:solidFill>
              <a:srgbClr val="087FB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6761" y="117948"/>
            <a:ext cx="426463" cy="210455"/>
            <a:chOff x="0" y="0"/>
            <a:chExt cx="426466" cy="2104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6468" cy="210445"/>
            </a:xfrm>
            <a:custGeom>
              <a:avLst/>
              <a:gdLst/>
              <a:ahLst/>
              <a:cxnLst/>
              <a:rect r="r" b="b" t="t" l="l"/>
              <a:pathLst>
                <a:path h="210445" w="426468">
                  <a:moveTo>
                    <a:pt x="8890" y="29719"/>
                  </a:moveTo>
                  <a:lnTo>
                    <a:pt x="8890" y="180726"/>
                  </a:lnTo>
                  <a:lnTo>
                    <a:pt x="4445" y="180726"/>
                  </a:lnTo>
                  <a:lnTo>
                    <a:pt x="8890" y="180726"/>
                  </a:lnTo>
                  <a:cubicBezTo>
                    <a:pt x="8890" y="192283"/>
                    <a:pt x="18288" y="201555"/>
                    <a:pt x="29718" y="201555"/>
                  </a:cubicBezTo>
                  <a:lnTo>
                    <a:pt x="29718" y="206000"/>
                  </a:lnTo>
                  <a:lnTo>
                    <a:pt x="29718" y="201555"/>
                  </a:lnTo>
                  <a:lnTo>
                    <a:pt x="396750" y="201555"/>
                  </a:lnTo>
                  <a:lnTo>
                    <a:pt x="396750" y="206000"/>
                  </a:lnTo>
                  <a:lnTo>
                    <a:pt x="396750" y="201555"/>
                  </a:lnTo>
                  <a:cubicBezTo>
                    <a:pt x="408307" y="201555"/>
                    <a:pt x="417578" y="192156"/>
                    <a:pt x="417578" y="180726"/>
                  </a:cubicBezTo>
                  <a:lnTo>
                    <a:pt x="422024" y="180726"/>
                  </a:lnTo>
                  <a:lnTo>
                    <a:pt x="417578" y="180726"/>
                  </a:lnTo>
                  <a:lnTo>
                    <a:pt x="417578" y="29719"/>
                  </a:lnTo>
                  <a:lnTo>
                    <a:pt x="422024" y="29719"/>
                  </a:lnTo>
                  <a:lnTo>
                    <a:pt x="417578" y="29719"/>
                  </a:lnTo>
                  <a:cubicBezTo>
                    <a:pt x="417578" y="18162"/>
                    <a:pt x="408180" y="8890"/>
                    <a:pt x="396750" y="8890"/>
                  </a:cubicBezTo>
                  <a:lnTo>
                    <a:pt x="396750" y="4445"/>
                  </a:lnTo>
                  <a:lnTo>
                    <a:pt x="396750" y="8890"/>
                  </a:lnTo>
                  <a:lnTo>
                    <a:pt x="29718" y="8890"/>
                  </a:lnTo>
                  <a:lnTo>
                    <a:pt x="29718" y="4445"/>
                  </a:lnTo>
                  <a:lnTo>
                    <a:pt x="29718" y="8890"/>
                  </a:lnTo>
                  <a:cubicBezTo>
                    <a:pt x="18161" y="8890"/>
                    <a:pt x="8890" y="18162"/>
                    <a:pt x="8890" y="29719"/>
                  </a:cubicBezTo>
                  <a:lnTo>
                    <a:pt x="4445" y="29719"/>
                  </a:lnTo>
                  <a:lnTo>
                    <a:pt x="8890" y="29719"/>
                  </a:lnTo>
                  <a:moveTo>
                    <a:pt x="0" y="29719"/>
                  </a:moveTo>
                  <a:cubicBezTo>
                    <a:pt x="0" y="13335"/>
                    <a:pt x="13335" y="0"/>
                    <a:pt x="29718" y="0"/>
                  </a:cubicBezTo>
                  <a:lnTo>
                    <a:pt x="396750" y="0"/>
                  </a:lnTo>
                  <a:cubicBezTo>
                    <a:pt x="413133" y="0"/>
                    <a:pt x="426468" y="13335"/>
                    <a:pt x="426468" y="29719"/>
                  </a:cubicBezTo>
                  <a:lnTo>
                    <a:pt x="426468" y="180726"/>
                  </a:lnTo>
                  <a:cubicBezTo>
                    <a:pt x="426468" y="197110"/>
                    <a:pt x="413133" y="210445"/>
                    <a:pt x="396750" y="210445"/>
                  </a:cubicBezTo>
                  <a:lnTo>
                    <a:pt x="29718" y="210445"/>
                  </a:lnTo>
                  <a:cubicBezTo>
                    <a:pt x="13335" y="210445"/>
                    <a:pt x="0" y="197110"/>
                    <a:pt x="0" y="180726"/>
                  </a:cubicBezTo>
                  <a:lnTo>
                    <a:pt x="0" y="29719"/>
                  </a:lnTo>
                  <a:close/>
                </a:path>
              </a:pathLst>
            </a:custGeom>
            <a:solidFill>
              <a:srgbClr val="7543A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85163" y="689962"/>
            <a:ext cx="5587203" cy="2073554"/>
            <a:chOff x="0" y="0"/>
            <a:chExt cx="5587200" cy="20735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6040" y="66040"/>
              <a:ext cx="5400040" cy="377952"/>
            </a:xfrm>
            <a:custGeom>
              <a:avLst/>
              <a:gdLst/>
              <a:ahLst/>
              <a:cxnLst/>
              <a:rect r="r" b="b" t="t" l="l"/>
              <a:pathLst>
                <a:path h="377952" w="5400040">
                  <a:moveTo>
                    <a:pt x="0" y="25273"/>
                  </a:moveTo>
                  <a:lnTo>
                    <a:pt x="0" y="352679"/>
                  </a:lnTo>
                  <a:cubicBezTo>
                    <a:pt x="0" y="366649"/>
                    <a:pt x="11303" y="377953"/>
                    <a:pt x="25273" y="377953"/>
                  </a:cubicBezTo>
                  <a:lnTo>
                    <a:pt x="5374767" y="377953"/>
                  </a:lnTo>
                  <a:cubicBezTo>
                    <a:pt x="5388738" y="377953"/>
                    <a:pt x="5400040" y="366649"/>
                    <a:pt x="5400040" y="352679"/>
                  </a:cubicBezTo>
                  <a:lnTo>
                    <a:pt x="5400040" y="25273"/>
                  </a:lnTo>
                  <a:cubicBezTo>
                    <a:pt x="5400040" y="11303"/>
                    <a:pt x="5388738" y="0"/>
                    <a:pt x="5374767" y="0"/>
                  </a:cubicBezTo>
                  <a:lnTo>
                    <a:pt x="25273" y="0"/>
                  </a:lnTo>
                  <a:cubicBezTo>
                    <a:pt x="11303" y="0"/>
                    <a:pt x="0" y="11303"/>
                    <a:pt x="0" y="25273"/>
                  </a:cubicBezTo>
                  <a:close/>
                </a:path>
              </a:pathLst>
            </a:custGeom>
            <a:solidFill>
              <a:srgbClr val="79B69A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3500" y="63500"/>
              <a:ext cx="5405120" cy="383032"/>
            </a:xfrm>
            <a:custGeom>
              <a:avLst/>
              <a:gdLst/>
              <a:ahLst/>
              <a:cxnLst/>
              <a:rect r="r" b="b" t="t" l="l"/>
              <a:pathLst>
                <a:path h="383032" w="5405120">
                  <a:moveTo>
                    <a:pt x="5080" y="27813"/>
                  </a:moveTo>
                  <a:lnTo>
                    <a:pt x="5080" y="355219"/>
                  </a:lnTo>
                  <a:lnTo>
                    <a:pt x="2540" y="355219"/>
                  </a:lnTo>
                  <a:lnTo>
                    <a:pt x="5080" y="355219"/>
                  </a:lnTo>
                  <a:cubicBezTo>
                    <a:pt x="5080" y="367792"/>
                    <a:pt x="15240" y="377953"/>
                    <a:pt x="27813" y="377953"/>
                  </a:cubicBezTo>
                  <a:lnTo>
                    <a:pt x="27813" y="380493"/>
                  </a:lnTo>
                  <a:lnTo>
                    <a:pt x="27813" y="377953"/>
                  </a:lnTo>
                  <a:lnTo>
                    <a:pt x="5377307" y="377953"/>
                  </a:lnTo>
                  <a:lnTo>
                    <a:pt x="5377307" y="380493"/>
                  </a:lnTo>
                  <a:lnTo>
                    <a:pt x="5377307" y="377953"/>
                  </a:lnTo>
                  <a:cubicBezTo>
                    <a:pt x="5389880" y="377953"/>
                    <a:pt x="5400041" y="367792"/>
                    <a:pt x="5400041" y="355219"/>
                  </a:cubicBezTo>
                  <a:lnTo>
                    <a:pt x="5402580" y="355219"/>
                  </a:lnTo>
                  <a:lnTo>
                    <a:pt x="5400041" y="355219"/>
                  </a:lnTo>
                  <a:lnTo>
                    <a:pt x="5400041" y="27813"/>
                  </a:lnTo>
                  <a:lnTo>
                    <a:pt x="5402580" y="27813"/>
                  </a:lnTo>
                  <a:lnTo>
                    <a:pt x="5400041" y="27813"/>
                  </a:lnTo>
                  <a:cubicBezTo>
                    <a:pt x="5400041" y="15240"/>
                    <a:pt x="5389880" y="5080"/>
                    <a:pt x="5377307" y="5080"/>
                  </a:cubicBezTo>
                  <a:lnTo>
                    <a:pt x="5377307" y="2540"/>
                  </a:lnTo>
                  <a:lnTo>
                    <a:pt x="5377307" y="5080"/>
                  </a:lnTo>
                  <a:lnTo>
                    <a:pt x="27813" y="5080"/>
                  </a:lnTo>
                  <a:lnTo>
                    <a:pt x="27813" y="2540"/>
                  </a:lnTo>
                  <a:lnTo>
                    <a:pt x="27813" y="5080"/>
                  </a:lnTo>
                  <a:cubicBezTo>
                    <a:pt x="15240" y="5080"/>
                    <a:pt x="5080" y="15240"/>
                    <a:pt x="5080" y="27813"/>
                  </a:cubicBezTo>
                  <a:lnTo>
                    <a:pt x="2540" y="27813"/>
                  </a:lnTo>
                  <a:lnTo>
                    <a:pt x="5080" y="27813"/>
                  </a:lnTo>
                  <a:moveTo>
                    <a:pt x="0" y="27813"/>
                  </a:moveTo>
                  <a:cubicBezTo>
                    <a:pt x="0" y="12446"/>
                    <a:pt x="12446" y="0"/>
                    <a:pt x="27813" y="0"/>
                  </a:cubicBezTo>
                  <a:lnTo>
                    <a:pt x="5377307" y="0"/>
                  </a:lnTo>
                  <a:cubicBezTo>
                    <a:pt x="5392674" y="0"/>
                    <a:pt x="5405120" y="12446"/>
                    <a:pt x="5405120" y="27813"/>
                  </a:cubicBezTo>
                  <a:lnTo>
                    <a:pt x="5405120" y="355219"/>
                  </a:lnTo>
                  <a:cubicBezTo>
                    <a:pt x="5405120" y="370586"/>
                    <a:pt x="5392674" y="383032"/>
                    <a:pt x="5377307" y="383032"/>
                  </a:cubicBezTo>
                  <a:lnTo>
                    <a:pt x="27813" y="383032"/>
                  </a:lnTo>
                  <a:cubicBezTo>
                    <a:pt x="12446" y="383032"/>
                    <a:pt x="0" y="370586"/>
                    <a:pt x="0" y="355219"/>
                  </a:cubicBezTo>
                  <a:lnTo>
                    <a:pt x="0" y="27813"/>
                  </a:lnTo>
                  <a:close/>
                </a:path>
              </a:pathLst>
            </a:custGeom>
            <a:solidFill>
              <a:srgbClr val="79B7D7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6040" y="569977"/>
              <a:ext cx="5457698" cy="187325"/>
            </a:xfrm>
            <a:custGeom>
              <a:avLst/>
              <a:gdLst/>
              <a:ahLst/>
              <a:cxnLst/>
              <a:rect r="r" b="b" t="t" l="l"/>
              <a:pathLst>
                <a:path h="187325" w="5457698">
                  <a:moveTo>
                    <a:pt x="0" y="0"/>
                  </a:moveTo>
                  <a:lnTo>
                    <a:pt x="0" y="187325"/>
                  </a:lnTo>
                  <a:lnTo>
                    <a:pt x="5457698" y="187325"/>
                  </a:lnTo>
                  <a:lnTo>
                    <a:pt x="5457698" y="0"/>
                  </a:lnTo>
                  <a:close/>
                </a:path>
              </a:pathLst>
            </a:custGeom>
            <a:solidFill>
              <a:srgbClr val="087FBD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6040" y="757302"/>
              <a:ext cx="5457698" cy="406782"/>
            </a:xfrm>
            <a:custGeom>
              <a:avLst/>
              <a:gdLst/>
              <a:ahLst/>
              <a:cxnLst/>
              <a:rect r="r" b="b" t="t" l="l"/>
              <a:pathLst>
                <a:path h="406782" w="5457698">
                  <a:moveTo>
                    <a:pt x="0" y="0"/>
                  </a:moveTo>
                  <a:lnTo>
                    <a:pt x="0" y="406781"/>
                  </a:lnTo>
                  <a:lnTo>
                    <a:pt x="5457698" y="406781"/>
                  </a:lnTo>
                  <a:lnTo>
                    <a:pt x="5457698" y="0"/>
                  </a:lnTo>
                  <a:close/>
                </a:path>
              </a:pathLst>
            </a:custGeom>
            <a:solidFill>
              <a:srgbClr val="79B7D7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6040" y="1164083"/>
              <a:ext cx="5457698" cy="359918"/>
            </a:xfrm>
            <a:custGeom>
              <a:avLst/>
              <a:gdLst/>
              <a:ahLst/>
              <a:cxnLst/>
              <a:rect r="r" b="b" t="t" l="l"/>
              <a:pathLst>
                <a:path h="359918" w="5457698">
                  <a:moveTo>
                    <a:pt x="0" y="0"/>
                  </a:moveTo>
                  <a:lnTo>
                    <a:pt x="0" y="359919"/>
                  </a:lnTo>
                  <a:lnTo>
                    <a:pt x="5457698" y="359919"/>
                  </a:lnTo>
                  <a:lnTo>
                    <a:pt x="5457698" y="0"/>
                  </a:lnTo>
                  <a:close/>
                </a:path>
              </a:pathLst>
            </a:custGeom>
            <a:solidFill>
              <a:srgbClr val="E6F0FA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6040" y="1524002"/>
              <a:ext cx="5457698" cy="486030"/>
            </a:xfrm>
            <a:custGeom>
              <a:avLst/>
              <a:gdLst/>
              <a:ahLst/>
              <a:cxnLst/>
              <a:rect r="r" b="b" t="t" l="l"/>
              <a:pathLst>
                <a:path h="486030" w="5457698">
                  <a:moveTo>
                    <a:pt x="0" y="0"/>
                  </a:moveTo>
                  <a:lnTo>
                    <a:pt x="0" y="486029"/>
                  </a:lnTo>
                  <a:lnTo>
                    <a:pt x="5457698" y="486029"/>
                  </a:lnTo>
                  <a:lnTo>
                    <a:pt x="5457698" y="0"/>
                  </a:lnTo>
                  <a:close/>
                </a:path>
              </a:pathLst>
            </a:custGeom>
            <a:solidFill>
              <a:srgbClr val="79B7D7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194978" y="-11963"/>
            <a:ext cx="3217193" cy="299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b="true" sz="1693" spc="-1">
                <a:solidFill>
                  <a:srgbClr val="19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FEASIBILITY</a:t>
            </a:r>
            <a:r>
              <a:rPr lang="en-US" b="true" sz="1693" spc="-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1693" spc="-1">
                <a:solidFill>
                  <a:srgbClr val="19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AND</a:t>
            </a:r>
            <a:r>
              <a:rPr lang="en-US" b="true" sz="1693" spc="-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1693" spc="-1">
                <a:solidFill>
                  <a:srgbClr val="19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VIABILITY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49822" y="149190"/>
            <a:ext cx="224771" cy="13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"/>
              </a:lnSpc>
            </a:pPr>
            <a:r>
              <a:rPr lang="en-US" sz="458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Circuit Breakers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473442" y="3130725"/>
            <a:ext cx="829389" cy="8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7"/>
              </a:lnSpc>
            </a:pPr>
            <a:r>
              <a:rPr lang="en-US" sz="448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@SIH Idea submission–Template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533920" y="3123324"/>
            <a:ext cx="42586" cy="105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b="true" sz="5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5998" y="800462"/>
            <a:ext cx="5352212" cy="218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"/>
              </a:lnSpc>
            </a:pPr>
            <a:r>
              <a:rPr lang="en-US" b="true" sz="69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Why</a:t>
            </a:r>
            <a:r>
              <a:rPr lang="en-US" b="true" sz="6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69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it</a:t>
            </a:r>
            <a:r>
              <a:rPr lang="en-US" b="true" sz="6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69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is</a:t>
            </a:r>
            <a:r>
              <a:rPr lang="en-US" b="true" sz="6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69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feasible:</a:t>
            </a:r>
            <a:r>
              <a:rPr lang="en-US" b="true" sz="6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69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</a:t>
            </a:r>
            <a:r>
              <a:rPr lang="en-US" b="true" sz="6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69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proposed</a:t>
            </a:r>
            <a:r>
              <a:rPr lang="en-US" b="true" sz="6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69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system</a:t>
            </a:r>
            <a:r>
              <a:rPr lang="en-US" b="true" sz="6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69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combines</a:t>
            </a:r>
            <a:r>
              <a:rPr lang="en-US" b="true" sz="6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69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proven</a:t>
            </a:r>
            <a:r>
              <a:rPr lang="en-US" b="true" sz="6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69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COTS</a:t>
            </a:r>
            <a:r>
              <a:rPr lang="en-US" b="true" sz="6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69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sensors</a:t>
            </a:r>
            <a:r>
              <a:rPr lang="en-US" b="true" sz="6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69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(thermal,</a:t>
            </a:r>
            <a:r>
              <a:rPr lang="en-US" b="true" sz="6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69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LiDAR,</a:t>
            </a:r>
            <a:r>
              <a:rPr lang="en-US" b="true" sz="6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69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radar,</a:t>
            </a:r>
            <a:r>
              <a:rPr lang="en-US" b="true" sz="6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69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DGPS)</a:t>
            </a:r>
            <a:r>
              <a:rPr lang="en-US" b="true" sz="6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69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with</a:t>
            </a:r>
            <a:r>
              <a:rPr lang="en-US" b="true" sz="6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69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established</a:t>
            </a:r>
            <a:r>
              <a:rPr lang="en-US" b="true" sz="6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69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sensor- fusion</a:t>
            </a:r>
            <a:r>
              <a:rPr lang="en-US" b="true" sz="6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69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and</a:t>
            </a:r>
            <a:r>
              <a:rPr lang="en-US" b="true" sz="6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69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V2V</a:t>
            </a:r>
            <a:r>
              <a:rPr lang="en-US" b="true" sz="6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69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communication</a:t>
            </a:r>
            <a:r>
              <a:rPr lang="en-US" b="true" sz="6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69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techniques.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26800" y="1279141"/>
            <a:ext cx="2044332" cy="1206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"/>
              </a:lnSpc>
            </a:pPr>
            <a:r>
              <a:rPr lang="en-US" b="true" sz="6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Engineering Challenge</a:t>
            </a:r>
          </a:p>
          <a:p>
            <a:pPr algn="l" rtl="true">
              <a:lnSpc>
                <a:spcPts val="846"/>
              </a:lnSpc>
            </a:pPr>
          </a:p>
          <a:p>
            <a:pPr algn="l">
              <a:lnSpc>
                <a:spcPts val="846"/>
              </a:lnSpc>
            </a:pP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Fog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and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rain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degrading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camera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and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radar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signal quality</a:t>
            </a:r>
          </a:p>
          <a:p>
            <a:pPr algn="l" rtl="true">
              <a:lnSpc>
                <a:spcPts val="846"/>
              </a:lnSpc>
            </a:pPr>
          </a:p>
          <a:p>
            <a:pPr algn="l" rtl="true">
              <a:lnSpc>
                <a:spcPts val="846"/>
              </a:lnSpc>
            </a:pPr>
          </a:p>
          <a:p>
            <a:pPr algn="l">
              <a:lnSpc>
                <a:spcPts val="846"/>
              </a:lnSpc>
            </a:pP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GPS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signal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loss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in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hilltop/pit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terrain</a:t>
            </a:r>
          </a:p>
          <a:p>
            <a:pPr algn="l" rtl="true">
              <a:lnSpc>
                <a:spcPts val="846"/>
              </a:lnSpc>
            </a:pPr>
          </a:p>
          <a:p>
            <a:pPr algn="l" rtl="true">
              <a:lnSpc>
                <a:spcPts val="846"/>
              </a:lnSpc>
            </a:pPr>
          </a:p>
          <a:p>
            <a:pPr algn="l">
              <a:lnSpc>
                <a:spcPts val="846"/>
              </a:lnSpc>
            </a:pP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Rugged</a:t>
            </a:r>
            <a:r>
              <a:rPr lang="en-US" sz="69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operation</a:t>
            </a:r>
            <a:r>
              <a:rPr lang="en-US" sz="69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in</a:t>
            </a:r>
            <a:r>
              <a:rPr lang="en-US" sz="69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dust</a:t>
            </a:r>
            <a:r>
              <a:rPr lang="en-US" sz="69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and</a:t>
            </a:r>
            <a:r>
              <a:rPr lang="en-US" sz="69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monsoon</a:t>
            </a:r>
            <a:r>
              <a:rPr lang="en-US" sz="69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conditions; integration</a:t>
            </a:r>
            <a:r>
              <a:rPr lang="en-US" sz="69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with</a:t>
            </a:r>
            <a:r>
              <a:rPr lang="en-US" sz="69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fielded</a:t>
            </a:r>
            <a:r>
              <a:rPr lang="en-US" sz="69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dumper</a:t>
            </a:r>
            <a:r>
              <a:rPr lang="en-US" sz="69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fleets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483996" y="1279141"/>
            <a:ext cx="3044847" cy="1211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"/>
              </a:lnSpc>
            </a:pPr>
            <a:r>
              <a:rPr lang="en-US" b="true" sz="6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Mitigation Strategy</a:t>
            </a:r>
          </a:p>
          <a:p>
            <a:pPr algn="l" rtl="true">
              <a:lnSpc>
                <a:spcPts val="846"/>
              </a:lnSpc>
            </a:pPr>
          </a:p>
          <a:p>
            <a:pPr algn="l">
              <a:lnSpc>
                <a:spcPts val="846"/>
              </a:lnSpc>
            </a:pP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Sensor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fusion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cross-validates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thermal,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LiDAR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and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radar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readings;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radar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pen- etrates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fog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where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optical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sensors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fail</a:t>
            </a:r>
          </a:p>
          <a:p>
            <a:pPr algn="l" rtl="true">
              <a:lnSpc>
                <a:spcPts val="846"/>
              </a:lnSpc>
            </a:pPr>
          </a:p>
          <a:p>
            <a:pPr algn="l" rtl="true">
              <a:lnSpc>
                <a:spcPts val="846"/>
              </a:lnSpc>
            </a:pPr>
          </a:p>
          <a:p>
            <a:pPr algn="l">
              <a:lnSpc>
                <a:spcPts val="846"/>
              </a:lnSpc>
            </a:pP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DGPS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with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IMU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dead-reckoning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bridges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GPS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gaps</a:t>
            </a:r>
          </a:p>
          <a:p>
            <a:pPr algn="l" rtl="true">
              <a:lnSpc>
                <a:spcPts val="846"/>
              </a:lnSpc>
            </a:pPr>
          </a:p>
          <a:p>
            <a:pPr algn="l" rtl="true">
              <a:lnSpc>
                <a:spcPts val="846"/>
              </a:lnSpc>
            </a:pPr>
          </a:p>
          <a:p>
            <a:pPr algn="l">
              <a:lnSpc>
                <a:spcPts val="846"/>
              </a:lnSpc>
            </a:pP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IP67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enclosures,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vibration-rated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mounts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and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non-invasive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CAN/V2V retrofit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kit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needing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no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dumper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redesign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50273" y="92526"/>
            <a:ext cx="774002" cy="366084"/>
            <a:chOff x="0" y="0"/>
            <a:chExt cx="1032002" cy="4881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2002" cy="488061"/>
            </a:xfrm>
            <a:custGeom>
              <a:avLst/>
              <a:gdLst/>
              <a:ahLst/>
              <a:cxnLst/>
              <a:rect r="r" b="b" t="t" l="l"/>
              <a:pathLst>
                <a:path h="488061" w="1032002">
                  <a:moveTo>
                    <a:pt x="0" y="0"/>
                  </a:moveTo>
                  <a:lnTo>
                    <a:pt x="1032002" y="0"/>
                  </a:lnTo>
                  <a:lnTo>
                    <a:pt x="1032002" y="488061"/>
                  </a:lnTo>
                  <a:lnTo>
                    <a:pt x="0" y="4880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6761" y="117948"/>
            <a:ext cx="426463" cy="210455"/>
            <a:chOff x="0" y="0"/>
            <a:chExt cx="426466" cy="2104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6468" cy="210445"/>
            </a:xfrm>
            <a:custGeom>
              <a:avLst/>
              <a:gdLst/>
              <a:ahLst/>
              <a:cxnLst/>
              <a:rect r="r" b="b" t="t" l="l"/>
              <a:pathLst>
                <a:path h="210445" w="426468">
                  <a:moveTo>
                    <a:pt x="8890" y="29719"/>
                  </a:moveTo>
                  <a:lnTo>
                    <a:pt x="8890" y="180726"/>
                  </a:lnTo>
                  <a:lnTo>
                    <a:pt x="4445" y="180726"/>
                  </a:lnTo>
                  <a:lnTo>
                    <a:pt x="8890" y="180726"/>
                  </a:lnTo>
                  <a:cubicBezTo>
                    <a:pt x="8890" y="192283"/>
                    <a:pt x="18288" y="201555"/>
                    <a:pt x="29718" y="201555"/>
                  </a:cubicBezTo>
                  <a:lnTo>
                    <a:pt x="29718" y="206000"/>
                  </a:lnTo>
                  <a:lnTo>
                    <a:pt x="29718" y="201555"/>
                  </a:lnTo>
                  <a:lnTo>
                    <a:pt x="396750" y="201555"/>
                  </a:lnTo>
                  <a:lnTo>
                    <a:pt x="396750" y="206000"/>
                  </a:lnTo>
                  <a:lnTo>
                    <a:pt x="396750" y="201555"/>
                  </a:lnTo>
                  <a:cubicBezTo>
                    <a:pt x="408307" y="201555"/>
                    <a:pt x="417578" y="192156"/>
                    <a:pt x="417578" y="180726"/>
                  </a:cubicBezTo>
                  <a:lnTo>
                    <a:pt x="422024" y="180726"/>
                  </a:lnTo>
                  <a:lnTo>
                    <a:pt x="417578" y="180726"/>
                  </a:lnTo>
                  <a:lnTo>
                    <a:pt x="417578" y="29719"/>
                  </a:lnTo>
                  <a:lnTo>
                    <a:pt x="422024" y="29719"/>
                  </a:lnTo>
                  <a:lnTo>
                    <a:pt x="417578" y="29719"/>
                  </a:lnTo>
                  <a:cubicBezTo>
                    <a:pt x="417578" y="18162"/>
                    <a:pt x="408180" y="8890"/>
                    <a:pt x="396750" y="8890"/>
                  </a:cubicBezTo>
                  <a:lnTo>
                    <a:pt x="396750" y="4445"/>
                  </a:lnTo>
                  <a:lnTo>
                    <a:pt x="396750" y="8890"/>
                  </a:lnTo>
                  <a:lnTo>
                    <a:pt x="29718" y="8890"/>
                  </a:lnTo>
                  <a:lnTo>
                    <a:pt x="29718" y="4445"/>
                  </a:lnTo>
                  <a:lnTo>
                    <a:pt x="29718" y="8890"/>
                  </a:lnTo>
                  <a:cubicBezTo>
                    <a:pt x="18161" y="8890"/>
                    <a:pt x="8890" y="18162"/>
                    <a:pt x="8890" y="29719"/>
                  </a:cubicBezTo>
                  <a:lnTo>
                    <a:pt x="4445" y="29719"/>
                  </a:lnTo>
                  <a:lnTo>
                    <a:pt x="8890" y="29719"/>
                  </a:lnTo>
                  <a:moveTo>
                    <a:pt x="0" y="29719"/>
                  </a:moveTo>
                  <a:cubicBezTo>
                    <a:pt x="0" y="13335"/>
                    <a:pt x="13335" y="0"/>
                    <a:pt x="29718" y="0"/>
                  </a:cubicBezTo>
                  <a:lnTo>
                    <a:pt x="396750" y="0"/>
                  </a:lnTo>
                  <a:cubicBezTo>
                    <a:pt x="413133" y="0"/>
                    <a:pt x="426468" y="13335"/>
                    <a:pt x="426468" y="29719"/>
                  </a:cubicBezTo>
                  <a:lnTo>
                    <a:pt x="426468" y="180726"/>
                  </a:lnTo>
                  <a:cubicBezTo>
                    <a:pt x="426468" y="197110"/>
                    <a:pt x="413133" y="210445"/>
                    <a:pt x="396750" y="210445"/>
                  </a:cubicBezTo>
                  <a:lnTo>
                    <a:pt x="29718" y="210445"/>
                  </a:lnTo>
                  <a:cubicBezTo>
                    <a:pt x="13335" y="210445"/>
                    <a:pt x="0" y="197110"/>
                    <a:pt x="0" y="180726"/>
                  </a:cubicBezTo>
                  <a:lnTo>
                    <a:pt x="0" y="29719"/>
                  </a:lnTo>
                  <a:close/>
                </a:path>
              </a:pathLst>
            </a:custGeom>
            <a:solidFill>
              <a:srgbClr val="7543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098815" y="1864804"/>
            <a:ext cx="1562414" cy="176403"/>
            <a:chOff x="0" y="0"/>
            <a:chExt cx="1562418" cy="1764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62480" cy="176402"/>
            </a:xfrm>
            <a:custGeom>
              <a:avLst/>
              <a:gdLst/>
              <a:ahLst/>
              <a:cxnLst/>
              <a:rect r="r" b="b" t="t" l="l"/>
              <a:pathLst>
                <a:path h="176402" w="1562480">
                  <a:moveTo>
                    <a:pt x="0" y="0"/>
                  </a:moveTo>
                  <a:lnTo>
                    <a:pt x="0" y="176402"/>
                  </a:lnTo>
                  <a:lnTo>
                    <a:pt x="1562480" y="176402"/>
                  </a:lnTo>
                  <a:lnTo>
                    <a:pt x="1562480" y="0"/>
                  </a:lnTo>
                  <a:close/>
                </a:path>
              </a:pathLst>
            </a:custGeom>
            <a:solidFill>
              <a:srgbClr val="E6F0F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46018" y="705593"/>
            <a:ext cx="2268026" cy="176403"/>
            <a:chOff x="0" y="0"/>
            <a:chExt cx="2268030" cy="1764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7972" cy="176407"/>
            </a:xfrm>
            <a:custGeom>
              <a:avLst/>
              <a:gdLst/>
              <a:ahLst/>
              <a:cxnLst/>
              <a:rect r="r" b="b" t="t" l="l"/>
              <a:pathLst>
                <a:path h="176407" w="2267972">
                  <a:moveTo>
                    <a:pt x="0" y="0"/>
                  </a:moveTo>
                  <a:lnTo>
                    <a:pt x="0" y="176407"/>
                  </a:lnTo>
                  <a:lnTo>
                    <a:pt x="2267972" y="176407"/>
                  </a:lnTo>
                  <a:lnTo>
                    <a:pt x="2267972" y="0"/>
                  </a:lnTo>
                  <a:close/>
                </a:path>
              </a:pathLst>
            </a:custGeom>
            <a:solidFill>
              <a:srgbClr val="E6F0F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5163" y="995963"/>
            <a:ext cx="5589727" cy="762067"/>
            <a:chOff x="0" y="0"/>
            <a:chExt cx="5589727" cy="7620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6040" y="66040"/>
              <a:ext cx="1738756" cy="629916"/>
            </a:xfrm>
            <a:custGeom>
              <a:avLst/>
              <a:gdLst/>
              <a:ahLst/>
              <a:cxnLst/>
              <a:rect r="r" b="b" t="t" l="l"/>
              <a:pathLst>
                <a:path h="629916" w="1738756">
                  <a:moveTo>
                    <a:pt x="0" y="25272"/>
                  </a:moveTo>
                  <a:lnTo>
                    <a:pt x="0" y="604643"/>
                  </a:lnTo>
                  <a:cubicBezTo>
                    <a:pt x="0" y="618612"/>
                    <a:pt x="11303" y="629915"/>
                    <a:pt x="25273" y="629915"/>
                  </a:cubicBezTo>
                  <a:lnTo>
                    <a:pt x="1713483" y="629915"/>
                  </a:lnTo>
                  <a:cubicBezTo>
                    <a:pt x="1727453" y="629915"/>
                    <a:pt x="1738756" y="618612"/>
                    <a:pt x="1738756" y="604643"/>
                  </a:cubicBezTo>
                  <a:lnTo>
                    <a:pt x="1738756" y="25272"/>
                  </a:lnTo>
                  <a:cubicBezTo>
                    <a:pt x="1738756" y="11302"/>
                    <a:pt x="1727453" y="0"/>
                    <a:pt x="1713483" y="0"/>
                  </a:cubicBezTo>
                  <a:lnTo>
                    <a:pt x="25273" y="0"/>
                  </a:lnTo>
                  <a:cubicBezTo>
                    <a:pt x="11303" y="0"/>
                    <a:pt x="0" y="11302"/>
                    <a:pt x="0" y="25272"/>
                  </a:cubicBezTo>
                  <a:close/>
                </a:path>
              </a:pathLst>
            </a:custGeom>
            <a:solidFill>
              <a:srgbClr val="79B7D7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3500" y="63500"/>
              <a:ext cx="1743836" cy="634997"/>
            </a:xfrm>
            <a:custGeom>
              <a:avLst/>
              <a:gdLst/>
              <a:ahLst/>
              <a:cxnLst/>
              <a:rect r="r" b="b" t="t" l="l"/>
              <a:pathLst>
                <a:path h="634997" w="1743836">
                  <a:moveTo>
                    <a:pt x="5080" y="27812"/>
                  </a:moveTo>
                  <a:lnTo>
                    <a:pt x="5080" y="607183"/>
                  </a:lnTo>
                  <a:lnTo>
                    <a:pt x="2540" y="607183"/>
                  </a:lnTo>
                  <a:lnTo>
                    <a:pt x="5080" y="607183"/>
                  </a:lnTo>
                  <a:cubicBezTo>
                    <a:pt x="5080" y="619755"/>
                    <a:pt x="15240" y="629915"/>
                    <a:pt x="27813" y="629915"/>
                  </a:cubicBezTo>
                  <a:lnTo>
                    <a:pt x="27813" y="632455"/>
                  </a:lnTo>
                  <a:lnTo>
                    <a:pt x="27813" y="629915"/>
                  </a:lnTo>
                  <a:lnTo>
                    <a:pt x="1716023" y="629915"/>
                  </a:lnTo>
                  <a:lnTo>
                    <a:pt x="1716023" y="632455"/>
                  </a:lnTo>
                  <a:lnTo>
                    <a:pt x="1716023" y="629915"/>
                  </a:lnTo>
                  <a:cubicBezTo>
                    <a:pt x="1728596" y="629915"/>
                    <a:pt x="1738756" y="619755"/>
                    <a:pt x="1738756" y="607183"/>
                  </a:cubicBezTo>
                  <a:lnTo>
                    <a:pt x="1741296" y="607183"/>
                  </a:lnTo>
                  <a:lnTo>
                    <a:pt x="1738756" y="607183"/>
                  </a:lnTo>
                  <a:lnTo>
                    <a:pt x="1738756" y="27812"/>
                  </a:lnTo>
                  <a:lnTo>
                    <a:pt x="1741296" y="27812"/>
                  </a:lnTo>
                  <a:lnTo>
                    <a:pt x="1738756" y="27812"/>
                  </a:lnTo>
                  <a:cubicBezTo>
                    <a:pt x="1738756" y="15239"/>
                    <a:pt x="1728596" y="5080"/>
                    <a:pt x="1716023" y="5080"/>
                  </a:cubicBezTo>
                  <a:lnTo>
                    <a:pt x="1716023" y="2540"/>
                  </a:lnTo>
                  <a:lnTo>
                    <a:pt x="1716023" y="5080"/>
                  </a:lnTo>
                  <a:lnTo>
                    <a:pt x="27813" y="5080"/>
                  </a:lnTo>
                  <a:lnTo>
                    <a:pt x="27813" y="2540"/>
                  </a:lnTo>
                  <a:lnTo>
                    <a:pt x="27813" y="5080"/>
                  </a:lnTo>
                  <a:cubicBezTo>
                    <a:pt x="15240" y="5080"/>
                    <a:pt x="5080" y="15239"/>
                    <a:pt x="5080" y="27812"/>
                  </a:cubicBezTo>
                  <a:lnTo>
                    <a:pt x="2540" y="27812"/>
                  </a:lnTo>
                  <a:lnTo>
                    <a:pt x="5080" y="27812"/>
                  </a:lnTo>
                  <a:moveTo>
                    <a:pt x="0" y="27812"/>
                  </a:moveTo>
                  <a:cubicBezTo>
                    <a:pt x="0" y="12445"/>
                    <a:pt x="12446" y="0"/>
                    <a:pt x="27813" y="0"/>
                  </a:cubicBezTo>
                  <a:lnTo>
                    <a:pt x="1716023" y="0"/>
                  </a:lnTo>
                  <a:cubicBezTo>
                    <a:pt x="1731390" y="0"/>
                    <a:pt x="1743836" y="12445"/>
                    <a:pt x="1743836" y="27812"/>
                  </a:cubicBezTo>
                  <a:lnTo>
                    <a:pt x="1743836" y="607183"/>
                  </a:lnTo>
                  <a:cubicBezTo>
                    <a:pt x="1743836" y="622549"/>
                    <a:pt x="1731390" y="634995"/>
                    <a:pt x="1716023" y="634995"/>
                  </a:cubicBezTo>
                  <a:lnTo>
                    <a:pt x="27813" y="634995"/>
                  </a:lnTo>
                  <a:cubicBezTo>
                    <a:pt x="12446" y="635122"/>
                    <a:pt x="0" y="622549"/>
                    <a:pt x="0" y="607183"/>
                  </a:cubicBezTo>
                  <a:lnTo>
                    <a:pt x="0" y="27812"/>
                  </a:lnTo>
                  <a:close/>
                </a:path>
              </a:pathLst>
            </a:custGeom>
            <a:solidFill>
              <a:srgbClr val="79B7D7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927224" y="66040"/>
              <a:ext cx="1738756" cy="629916"/>
            </a:xfrm>
            <a:custGeom>
              <a:avLst/>
              <a:gdLst/>
              <a:ahLst/>
              <a:cxnLst/>
              <a:rect r="r" b="b" t="t" l="l"/>
              <a:pathLst>
                <a:path h="629916" w="1738756">
                  <a:moveTo>
                    <a:pt x="0" y="25272"/>
                  </a:moveTo>
                  <a:lnTo>
                    <a:pt x="0" y="604643"/>
                  </a:lnTo>
                  <a:cubicBezTo>
                    <a:pt x="0" y="618612"/>
                    <a:pt x="11303" y="629915"/>
                    <a:pt x="25273" y="629915"/>
                  </a:cubicBezTo>
                  <a:lnTo>
                    <a:pt x="1713483" y="629915"/>
                  </a:lnTo>
                  <a:cubicBezTo>
                    <a:pt x="1727453" y="629915"/>
                    <a:pt x="1738756" y="618612"/>
                    <a:pt x="1738756" y="604643"/>
                  </a:cubicBezTo>
                  <a:lnTo>
                    <a:pt x="1738756" y="25272"/>
                  </a:lnTo>
                  <a:cubicBezTo>
                    <a:pt x="1738756" y="11302"/>
                    <a:pt x="1727453" y="0"/>
                    <a:pt x="1713483" y="0"/>
                  </a:cubicBezTo>
                  <a:lnTo>
                    <a:pt x="25273" y="0"/>
                  </a:lnTo>
                  <a:cubicBezTo>
                    <a:pt x="11303" y="0"/>
                    <a:pt x="0" y="11302"/>
                    <a:pt x="0" y="25272"/>
                  </a:cubicBezTo>
                  <a:close/>
                </a:path>
              </a:pathLst>
            </a:custGeom>
            <a:solidFill>
              <a:srgbClr val="79B7D7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924684" y="63500"/>
              <a:ext cx="1743836" cy="634996"/>
            </a:xfrm>
            <a:custGeom>
              <a:avLst/>
              <a:gdLst/>
              <a:ahLst/>
              <a:cxnLst/>
              <a:rect r="r" b="b" t="t" l="l"/>
              <a:pathLst>
                <a:path h="634996" w="1743836">
                  <a:moveTo>
                    <a:pt x="5080" y="27812"/>
                  </a:moveTo>
                  <a:lnTo>
                    <a:pt x="5080" y="607183"/>
                  </a:lnTo>
                  <a:lnTo>
                    <a:pt x="2540" y="607183"/>
                  </a:lnTo>
                  <a:lnTo>
                    <a:pt x="5080" y="607183"/>
                  </a:lnTo>
                  <a:cubicBezTo>
                    <a:pt x="5080" y="619755"/>
                    <a:pt x="15240" y="629915"/>
                    <a:pt x="27813" y="629915"/>
                  </a:cubicBezTo>
                  <a:lnTo>
                    <a:pt x="27813" y="632455"/>
                  </a:lnTo>
                  <a:lnTo>
                    <a:pt x="27813" y="629915"/>
                  </a:lnTo>
                  <a:lnTo>
                    <a:pt x="1716023" y="629915"/>
                  </a:lnTo>
                  <a:lnTo>
                    <a:pt x="1716023" y="632455"/>
                  </a:lnTo>
                  <a:lnTo>
                    <a:pt x="1716023" y="629915"/>
                  </a:lnTo>
                  <a:cubicBezTo>
                    <a:pt x="1728596" y="629915"/>
                    <a:pt x="1738756" y="619755"/>
                    <a:pt x="1738756" y="607183"/>
                  </a:cubicBezTo>
                  <a:lnTo>
                    <a:pt x="1741296" y="607183"/>
                  </a:lnTo>
                  <a:lnTo>
                    <a:pt x="1738756" y="607183"/>
                  </a:lnTo>
                  <a:lnTo>
                    <a:pt x="1738756" y="27812"/>
                  </a:lnTo>
                  <a:lnTo>
                    <a:pt x="1741296" y="27812"/>
                  </a:lnTo>
                  <a:lnTo>
                    <a:pt x="1738756" y="27812"/>
                  </a:lnTo>
                  <a:cubicBezTo>
                    <a:pt x="1738756" y="15239"/>
                    <a:pt x="1728596" y="5080"/>
                    <a:pt x="1716023" y="5080"/>
                  </a:cubicBezTo>
                  <a:lnTo>
                    <a:pt x="1716023" y="2540"/>
                  </a:lnTo>
                  <a:lnTo>
                    <a:pt x="1716023" y="5080"/>
                  </a:lnTo>
                  <a:lnTo>
                    <a:pt x="27813" y="5080"/>
                  </a:lnTo>
                  <a:lnTo>
                    <a:pt x="27813" y="2540"/>
                  </a:lnTo>
                  <a:lnTo>
                    <a:pt x="27813" y="5080"/>
                  </a:lnTo>
                  <a:cubicBezTo>
                    <a:pt x="15240" y="5080"/>
                    <a:pt x="5080" y="15239"/>
                    <a:pt x="5080" y="27812"/>
                  </a:cubicBezTo>
                  <a:lnTo>
                    <a:pt x="2540" y="27812"/>
                  </a:lnTo>
                  <a:lnTo>
                    <a:pt x="5080" y="27812"/>
                  </a:lnTo>
                  <a:moveTo>
                    <a:pt x="0" y="27812"/>
                  </a:moveTo>
                  <a:cubicBezTo>
                    <a:pt x="0" y="12445"/>
                    <a:pt x="12446" y="0"/>
                    <a:pt x="27813" y="0"/>
                  </a:cubicBezTo>
                  <a:lnTo>
                    <a:pt x="1716023" y="0"/>
                  </a:lnTo>
                  <a:cubicBezTo>
                    <a:pt x="1731390" y="0"/>
                    <a:pt x="1743836" y="12445"/>
                    <a:pt x="1743836" y="27812"/>
                  </a:cubicBezTo>
                  <a:lnTo>
                    <a:pt x="1743836" y="607183"/>
                  </a:lnTo>
                  <a:cubicBezTo>
                    <a:pt x="1743836" y="622549"/>
                    <a:pt x="1731390" y="634995"/>
                    <a:pt x="1716023" y="634995"/>
                  </a:cubicBezTo>
                  <a:lnTo>
                    <a:pt x="27813" y="634995"/>
                  </a:lnTo>
                  <a:cubicBezTo>
                    <a:pt x="12446" y="634995"/>
                    <a:pt x="0" y="622549"/>
                    <a:pt x="0" y="607183"/>
                  </a:cubicBezTo>
                  <a:lnTo>
                    <a:pt x="0" y="27812"/>
                  </a:lnTo>
                  <a:close/>
                </a:path>
              </a:pathLst>
            </a:custGeom>
            <a:solidFill>
              <a:srgbClr val="79B7D7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784852" y="66040"/>
              <a:ext cx="1738756" cy="629916"/>
            </a:xfrm>
            <a:custGeom>
              <a:avLst/>
              <a:gdLst/>
              <a:ahLst/>
              <a:cxnLst/>
              <a:rect r="r" b="b" t="t" l="l"/>
              <a:pathLst>
                <a:path h="629916" w="1738756">
                  <a:moveTo>
                    <a:pt x="0" y="25272"/>
                  </a:moveTo>
                  <a:lnTo>
                    <a:pt x="0" y="604643"/>
                  </a:lnTo>
                  <a:cubicBezTo>
                    <a:pt x="0" y="618612"/>
                    <a:pt x="11303" y="629915"/>
                    <a:pt x="25273" y="629915"/>
                  </a:cubicBezTo>
                  <a:lnTo>
                    <a:pt x="1713483" y="629915"/>
                  </a:lnTo>
                  <a:cubicBezTo>
                    <a:pt x="1727453" y="629915"/>
                    <a:pt x="1738756" y="618612"/>
                    <a:pt x="1738756" y="604643"/>
                  </a:cubicBezTo>
                  <a:lnTo>
                    <a:pt x="1738756" y="25272"/>
                  </a:lnTo>
                  <a:cubicBezTo>
                    <a:pt x="1738756" y="11302"/>
                    <a:pt x="1727453" y="0"/>
                    <a:pt x="1713483" y="0"/>
                  </a:cubicBezTo>
                  <a:lnTo>
                    <a:pt x="25273" y="0"/>
                  </a:lnTo>
                  <a:cubicBezTo>
                    <a:pt x="11303" y="0"/>
                    <a:pt x="0" y="11302"/>
                    <a:pt x="0" y="25272"/>
                  </a:cubicBezTo>
                  <a:close/>
                </a:path>
              </a:pathLst>
            </a:custGeom>
            <a:solidFill>
              <a:srgbClr val="79B7D7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782312" y="63500"/>
              <a:ext cx="1743836" cy="634996"/>
            </a:xfrm>
            <a:custGeom>
              <a:avLst/>
              <a:gdLst/>
              <a:ahLst/>
              <a:cxnLst/>
              <a:rect r="r" b="b" t="t" l="l"/>
              <a:pathLst>
                <a:path h="634996" w="1743836">
                  <a:moveTo>
                    <a:pt x="5080" y="27812"/>
                  </a:moveTo>
                  <a:lnTo>
                    <a:pt x="5080" y="607183"/>
                  </a:lnTo>
                  <a:lnTo>
                    <a:pt x="2540" y="607183"/>
                  </a:lnTo>
                  <a:lnTo>
                    <a:pt x="5080" y="607183"/>
                  </a:lnTo>
                  <a:cubicBezTo>
                    <a:pt x="5080" y="619755"/>
                    <a:pt x="15240" y="629915"/>
                    <a:pt x="27813" y="629915"/>
                  </a:cubicBezTo>
                  <a:lnTo>
                    <a:pt x="27813" y="632455"/>
                  </a:lnTo>
                  <a:lnTo>
                    <a:pt x="27813" y="629915"/>
                  </a:lnTo>
                  <a:lnTo>
                    <a:pt x="1716023" y="629915"/>
                  </a:lnTo>
                  <a:lnTo>
                    <a:pt x="1716023" y="632455"/>
                  </a:lnTo>
                  <a:lnTo>
                    <a:pt x="1716023" y="629915"/>
                  </a:lnTo>
                  <a:cubicBezTo>
                    <a:pt x="1728596" y="629915"/>
                    <a:pt x="1738756" y="619755"/>
                    <a:pt x="1738756" y="607183"/>
                  </a:cubicBezTo>
                  <a:lnTo>
                    <a:pt x="1741296" y="607183"/>
                  </a:lnTo>
                  <a:lnTo>
                    <a:pt x="1738756" y="607183"/>
                  </a:lnTo>
                  <a:lnTo>
                    <a:pt x="1738756" y="27812"/>
                  </a:lnTo>
                  <a:lnTo>
                    <a:pt x="1741296" y="27812"/>
                  </a:lnTo>
                  <a:lnTo>
                    <a:pt x="1738756" y="27812"/>
                  </a:lnTo>
                  <a:cubicBezTo>
                    <a:pt x="1738756" y="15239"/>
                    <a:pt x="1728596" y="5080"/>
                    <a:pt x="1716023" y="5080"/>
                  </a:cubicBezTo>
                  <a:lnTo>
                    <a:pt x="1716023" y="2540"/>
                  </a:lnTo>
                  <a:lnTo>
                    <a:pt x="1716023" y="5080"/>
                  </a:lnTo>
                  <a:lnTo>
                    <a:pt x="27813" y="5080"/>
                  </a:lnTo>
                  <a:lnTo>
                    <a:pt x="27813" y="2540"/>
                  </a:lnTo>
                  <a:lnTo>
                    <a:pt x="27813" y="5080"/>
                  </a:lnTo>
                  <a:cubicBezTo>
                    <a:pt x="15240" y="5080"/>
                    <a:pt x="5080" y="15239"/>
                    <a:pt x="5080" y="27812"/>
                  </a:cubicBezTo>
                  <a:lnTo>
                    <a:pt x="2540" y="27812"/>
                  </a:lnTo>
                  <a:lnTo>
                    <a:pt x="5080" y="27812"/>
                  </a:lnTo>
                  <a:moveTo>
                    <a:pt x="0" y="27812"/>
                  </a:moveTo>
                  <a:cubicBezTo>
                    <a:pt x="0" y="12445"/>
                    <a:pt x="12446" y="0"/>
                    <a:pt x="27813" y="0"/>
                  </a:cubicBezTo>
                  <a:lnTo>
                    <a:pt x="1716023" y="0"/>
                  </a:lnTo>
                  <a:cubicBezTo>
                    <a:pt x="1731390" y="0"/>
                    <a:pt x="1743836" y="12445"/>
                    <a:pt x="1743836" y="27812"/>
                  </a:cubicBezTo>
                  <a:lnTo>
                    <a:pt x="1743836" y="607183"/>
                  </a:lnTo>
                  <a:cubicBezTo>
                    <a:pt x="1743836" y="622549"/>
                    <a:pt x="1731390" y="634995"/>
                    <a:pt x="1716023" y="634995"/>
                  </a:cubicBezTo>
                  <a:lnTo>
                    <a:pt x="27813" y="634995"/>
                  </a:lnTo>
                  <a:cubicBezTo>
                    <a:pt x="12446" y="634995"/>
                    <a:pt x="0" y="622549"/>
                    <a:pt x="0" y="607183"/>
                  </a:cubicBezTo>
                  <a:lnTo>
                    <a:pt x="0" y="27812"/>
                  </a:lnTo>
                  <a:close/>
                </a:path>
              </a:pathLst>
            </a:custGeom>
            <a:solidFill>
              <a:srgbClr val="79B7D7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-63513" y="2147973"/>
            <a:ext cx="5887069" cy="1155544"/>
            <a:chOff x="0" y="0"/>
            <a:chExt cx="5887072" cy="11555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3500" y="983998"/>
              <a:ext cx="5760086" cy="107950"/>
            </a:xfrm>
            <a:custGeom>
              <a:avLst/>
              <a:gdLst/>
              <a:ahLst/>
              <a:cxnLst/>
              <a:rect r="r" b="b" t="t" l="l"/>
              <a:pathLst>
                <a:path h="107950" w="5760086">
                  <a:moveTo>
                    <a:pt x="0" y="0"/>
                  </a:moveTo>
                  <a:lnTo>
                    <a:pt x="0" y="107950"/>
                  </a:lnTo>
                  <a:lnTo>
                    <a:pt x="5760086" y="107950"/>
                  </a:lnTo>
                  <a:lnTo>
                    <a:pt x="5760086" y="0"/>
                  </a:lnTo>
                  <a:close/>
                </a:path>
              </a:pathLst>
            </a:custGeom>
            <a:solidFill>
              <a:srgbClr val="087FBD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14757" y="66040"/>
              <a:ext cx="1738757" cy="810007"/>
            </a:xfrm>
            <a:custGeom>
              <a:avLst/>
              <a:gdLst/>
              <a:ahLst/>
              <a:cxnLst/>
              <a:rect r="r" b="b" t="t" l="l"/>
              <a:pathLst>
                <a:path h="810007" w="1738757">
                  <a:moveTo>
                    <a:pt x="0" y="25273"/>
                  </a:moveTo>
                  <a:lnTo>
                    <a:pt x="0" y="784734"/>
                  </a:lnTo>
                  <a:cubicBezTo>
                    <a:pt x="0" y="798704"/>
                    <a:pt x="11303" y="810007"/>
                    <a:pt x="25273" y="810007"/>
                  </a:cubicBezTo>
                  <a:lnTo>
                    <a:pt x="1713484" y="810007"/>
                  </a:lnTo>
                  <a:cubicBezTo>
                    <a:pt x="1727454" y="810007"/>
                    <a:pt x="1738757" y="798704"/>
                    <a:pt x="1738757" y="784734"/>
                  </a:cubicBezTo>
                  <a:lnTo>
                    <a:pt x="1738757" y="25273"/>
                  </a:lnTo>
                  <a:cubicBezTo>
                    <a:pt x="1738757" y="11303"/>
                    <a:pt x="1727454" y="0"/>
                    <a:pt x="1713484" y="0"/>
                  </a:cubicBezTo>
                  <a:lnTo>
                    <a:pt x="25273" y="0"/>
                  </a:lnTo>
                  <a:cubicBezTo>
                    <a:pt x="11303" y="0"/>
                    <a:pt x="0" y="11303"/>
                    <a:pt x="0" y="25273"/>
                  </a:cubicBezTo>
                  <a:close/>
                </a:path>
              </a:pathLst>
            </a:custGeom>
            <a:solidFill>
              <a:srgbClr val="79B7D7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12217" y="63500"/>
              <a:ext cx="1743837" cy="815087"/>
            </a:xfrm>
            <a:custGeom>
              <a:avLst/>
              <a:gdLst/>
              <a:ahLst/>
              <a:cxnLst/>
              <a:rect r="r" b="b" t="t" l="l"/>
              <a:pathLst>
                <a:path h="815087" w="1743837">
                  <a:moveTo>
                    <a:pt x="4953" y="27813"/>
                  </a:moveTo>
                  <a:lnTo>
                    <a:pt x="4953" y="787274"/>
                  </a:lnTo>
                  <a:lnTo>
                    <a:pt x="2413" y="787274"/>
                  </a:lnTo>
                  <a:lnTo>
                    <a:pt x="4953" y="787274"/>
                  </a:lnTo>
                  <a:cubicBezTo>
                    <a:pt x="4953" y="799847"/>
                    <a:pt x="15113" y="810007"/>
                    <a:pt x="27686" y="810007"/>
                  </a:cubicBezTo>
                  <a:lnTo>
                    <a:pt x="27686" y="812547"/>
                  </a:lnTo>
                  <a:lnTo>
                    <a:pt x="27686" y="810007"/>
                  </a:lnTo>
                  <a:lnTo>
                    <a:pt x="1716024" y="810007"/>
                  </a:lnTo>
                  <a:lnTo>
                    <a:pt x="1716024" y="812547"/>
                  </a:lnTo>
                  <a:lnTo>
                    <a:pt x="1716024" y="810007"/>
                  </a:lnTo>
                  <a:cubicBezTo>
                    <a:pt x="1728597" y="810007"/>
                    <a:pt x="1738757" y="799847"/>
                    <a:pt x="1738757" y="787274"/>
                  </a:cubicBezTo>
                  <a:lnTo>
                    <a:pt x="1741297" y="787274"/>
                  </a:lnTo>
                  <a:lnTo>
                    <a:pt x="1738757" y="787274"/>
                  </a:lnTo>
                  <a:lnTo>
                    <a:pt x="1738757" y="27813"/>
                  </a:lnTo>
                  <a:lnTo>
                    <a:pt x="1741297" y="27813"/>
                  </a:lnTo>
                  <a:lnTo>
                    <a:pt x="1738757" y="27813"/>
                  </a:lnTo>
                  <a:cubicBezTo>
                    <a:pt x="1738757" y="15240"/>
                    <a:pt x="1728597" y="5080"/>
                    <a:pt x="1716024" y="5080"/>
                  </a:cubicBezTo>
                  <a:lnTo>
                    <a:pt x="1716024" y="2540"/>
                  </a:lnTo>
                  <a:lnTo>
                    <a:pt x="1716024" y="5080"/>
                  </a:lnTo>
                  <a:lnTo>
                    <a:pt x="27813" y="5080"/>
                  </a:lnTo>
                  <a:lnTo>
                    <a:pt x="27813" y="2540"/>
                  </a:lnTo>
                  <a:lnTo>
                    <a:pt x="27813" y="5080"/>
                  </a:lnTo>
                  <a:cubicBezTo>
                    <a:pt x="15240" y="5080"/>
                    <a:pt x="5080" y="15240"/>
                    <a:pt x="5080" y="27813"/>
                  </a:cubicBezTo>
                  <a:lnTo>
                    <a:pt x="2540" y="27813"/>
                  </a:lnTo>
                  <a:lnTo>
                    <a:pt x="5080" y="27813"/>
                  </a:lnTo>
                  <a:moveTo>
                    <a:pt x="0" y="27813"/>
                  </a:moveTo>
                  <a:cubicBezTo>
                    <a:pt x="0" y="12446"/>
                    <a:pt x="12446" y="0"/>
                    <a:pt x="27813" y="0"/>
                  </a:cubicBezTo>
                  <a:lnTo>
                    <a:pt x="1716024" y="0"/>
                  </a:lnTo>
                  <a:cubicBezTo>
                    <a:pt x="1731391" y="0"/>
                    <a:pt x="1743837" y="12446"/>
                    <a:pt x="1743837" y="27813"/>
                  </a:cubicBezTo>
                  <a:lnTo>
                    <a:pt x="1743837" y="787274"/>
                  </a:lnTo>
                  <a:cubicBezTo>
                    <a:pt x="1743837" y="802641"/>
                    <a:pt x="1731391" y="815087"/>
                    <a:pt x="1716024" y="815087"/>
                  </a:cubicBezTo>
                  <a:lnTo>
                    <a:pt x="27813" y="815087"/>
                  </a:lnTo>
                  <a:cubicBezTo>
                    <a:pt x="12446" y="815087"/>
                    <a:pt x="0" y="802641"/>
                    <a:pt x="0" y="787274"/>
                  </a:cubicBezTo>
                  <a:lnTo>
                    <a:pt x="0" y="27813"/>
                  </a:lnTo>
                  <a:close/>
                </a:path>
              </a:pathLst>
            </a:custGeom>
            <a:solidFill>
              <a:srgbClr val="79B7D7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075942" y="66040"/>
              <a:ext cx="1738757" cy="810007"/>
            </a:xfrm>
            <a:custGeom>
              <a:avLst/>
              <a:gdLst/>
              <a:ahLst/>
              <a:cxnLst/>
              <a:rect r="r" b="b" t="t" l="l"/>
              <a:pathLst>
                <a:path h="810007" w="1738757">
                  <a:moveTo>
                    <a:pt x="0" y="25273"/>
                  </a:moveTo>
                  <a:lnTo>
                    <a:pt x="0" y="784734"/>
                  </a:lnTo>
                  <a:cubicBezTo>
                    <a:pt x="0" y="798704"/>
                    <a:pt x="11303" y="810007"/>
                    <a:pt x="25274" y="810007"/>
                  </a:cubicBezTo>
                  <a:lnTo>
                    <a:pt x="1713485" y="810007"/>
                  </a:lnTo>
                  <a:cubicBezTo>
                    <a:pt x="1727455" y="810007"/>
                    <a:pt x="1738758" y="798704"/>
                    <a:pt x="1738758" y="784734"/>
                  </a:cubicBezTo>
                  <a:lnTo>
                    <a:pt x="1738758" y="25273"/>
                  </a:lnTo>
                  <a:cubicBezTo>
                    <a:pt x="1738758" y="11303"/>
                    <a:pt x="1727455" y="0"/>
                    <a:pt x="1713485" y="0"/>
                  </a:cubicBezTo>
                  <a:lnTo>
                    <a:pt x="25273" y="0"/>
                  </a:lnTo>
                  <a:cubicBezTo>
                    <a:pt x="11303" y="0"/>
                    <a:pt x="0" y="11303"/>
                    <a:pt x="0" y="25273"/>
                  </a:cubicBezTo>
                  <a:close/>
                </a:path>
              </a:pathLst>
            </a:custGeom>
            <a:solidFill>
              <a:srgbClr val="79B7D7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2073402" y="63500"/>
              <a:ext cx="1743838" cy="815087"/>
            </a:xfrm>
            <a:custGeom>
              <a:avLst/>
              <a:gdLst/>
              <a:ahLst/>
              <a:cxnLst/>
              <a:rect r="r" b="b" t="t" l="l"/>
              <a:pathLst>
                <a:path h="815087" w="1743838">
                  <a:moveTo>
                    <a:pt x="5080" y="27813"/>
                  </a:moveTo>
                  <a:lnTo>
                    <a:pt x="5080" y="787274"/>
                  </a:lnTo>
                  <a:lnTo>
                    <a:pt x="2540" y="787274"/>
                  </a:lnTo>
                  <a:lnTo>
                    <a:pt x="5080" y="787274"/>
                  </a:lnTo>
                  <a:cubicBezTo>
                    <a:pt x="5080" y="799847"/>
                    <a:pt x="15240" y="810007"/>
                    <a:pt x="27813" y="810007"/>
                  </a:cubicBezTo>
                  <a:lnTo>
                    <a:pt x="27813" y="812547"/>
                  </a:lnTo>
                  <a:lnTo>
                    <a:pt x="27813" y="810007"/>
                  </a:lnTo>
                  <a:lnTo>
                    <a:pt x="1716025" y="810007"/>
                  </a:lnTo>
                  <a:lnTo>
                    <a:pt x="1716025" y="812547"/>
                  </a:lnTo>
                  <a:lnTo>
                    <a:pt x="1716025" y="810007"/>
                  </a:lnTo>
                  <a:cubicBezTo>
                    <a:pt x="1728598" y="810007"/>
                    <a:pt x="1738758" y="799847"/>
                    <a:pt x="1738758" y="787274"/>
                  </a:cubicBezTo>
                  <a:lnTo>
                    <a:pt x="1741298" y="787274"/>
                  </a:lnTo>
                  <a:lnTo>
                    <a:pt x="1738758" y="787274"/>
                  </a:lnTo>
                  <a:lnTo>
                    <a:pt x="1738758" y="27813"/>
                  </a:lnTo>
                  <a:lnTo>
                    <a:pt x="1741298" y="27813"/>
                  </a:lnTo>
                  <a:lnTo>
                    <a:pt x="1738758" y="27813"/>
                  </a:lnTo>
                  <a:cubicBezTo>
                    <a:pt x="1738758" y="15240"/>
                    <a:pt x="1728598" y="5080"/>
                    <a:pt x="1716025" y="5080"/>
                  </a:cubicBezTo>
                  <a:lnTo>
                    <a:pt x="1716025" y="2540"/>
                  </a:lnTo>
                  <a:lnTo>
                    <a:pt x="1716025" y="5080"/>
                  </a:lnTo>
                  <a:lnTo>
                    <a:pt x="27813" y="5080"/>
                  </a:lnTo>
                  <a:lnTo>
                    <a:pt x="27813" y="2540"/>
                  </a:lnTo>
                  <a:lnTo>
                    <a:pt x="27813" y="5080"/>
                  </a:lnTo>
                  <a:cubicBezTo>
                    <a:pt x="15240" y="5080"/>
                    <a:pt x="5080" y="15240"/>
                    <a:pt x="5080" y="27813"/>
                  </a:cubicBezTo>
                  <a:lnTo>
                    <a:pt x="2540" y="27813"/>
                  </a:lnTo>
                  <a:lnTo>
                    <a:pt x="5080" y="27813"/>
                  </a:lnTo>
                  <a:moveTo>
                    <a:pt x="0" y="27813"/>
                  </a:moveTo>
                  <a:cubicBezTo>
                    <a:pt x="0" y="12446"/>
                    <a:pt x="12446" y="0"/>
                    <a:pt x="27813" y="0"/>
                  </a:cubicBezTo>
                  <a:lnTo>
                    <a:pt x="1716025" y="0"/>
                  </a:lnTo>
                  <a:cubicBezTo>
                    <a:pt x="1731392" y="0"/>
                    <a:pt x="1743838" y="12446"/>
                    <a:pt x="1743838" y="27813"/>
                  </a:cubicBezTo>
                  <a:lnTo>
                    <a:pt x="1743838" y="787274"/>
                  </a:lnTo>
                  <a:cubicBezTo>
                    <a:pt x="1743838" y="802641"/>
                    <a:pt x="1731392" y="815087"/>
                    <a:pt x="1716025" y="815087"/>
                  </a:cubicBezTo>
                  <a:lnTo>
                    <a:pt x="27813" y="815087"/>
                  </a:lnTo>
                  <a:cubicBezTo>
                    <a:pt x="12446" y="815087"/>
                    <a:pt x="0" y="802641"/>
                    <a:pt x="0" y="787274"/>
                  </a:cubicBezTo>
                  <a:lnTo>
                    <a:pt x="0" y="27813"/>
                  </a:lnTo>
                  <a:close/>
                </a:path>
              </a:pathLst>
            </a:custGeom>
            <a:solidFill>
              <a:srgbClr val="79B7D7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3933572" y="66040"/>
              <a:ext cx="1738757" cy="810007"/>
            </a:xfrm>
            <a:custGeom>
              <a:avLst/>
              <a:gdLst/>
              <a:ahLst/>
              <a:cxnLst/>
              <a:rect r="r" b="b" t="t" l="l"/>
              <a:pathLst>
                <a:path h="810007" w="1738757">
                  <a:moveTo>
                    <a:pt x="0" y="25273"/>
                  </a:moveTo>
                  <a:lnTo>
                    <a:pt x="0" y="784734"/>
                  </a:lnTo>
                  <a:cubicBezTo>
                    <a:pt x="0" y="798704"/>
                    <a:pt x="11303" y="810007"/>
                    <a:pt x="25273" y="810007"/>
                  </a:cubicBezTo>
                  <a:lnTo>
                    <a:pt x="1713484" y="810007"/>
                  </a:lnTo>
                  <a:cubicBezTo>
                    <a:pt x="1727454" y="810007"/>
                    <a:pt x="1738757" y="798704"/>
                    <a:pt x="1738757" y="784734"/>
                  </a:cubicBezTo>
                  <a:lnTo>
                    <a:pt x="1738757" y="25273"/>
                  </a:lnTo>
                  <a:cubicBezTo>
                    <a:pt x="1738757" y="11303"/>
                    <a:pt x="1727454" y="0"/>
                    <a:pt x="1713484" y="0"/>
                  </a:cubicBezTo>
                  <a:lnTo>
                    <a:pt x="25273" y="0"/>
                  </a:lnTo>
                  <a:cubicBezTo>
                    <a:pt x="11303" y="0"/>
                    <a:pt x="0" y="11303"/>
                    <a:pt x="0" y="25273"/>
                  </a:cubicBezTo>
                  <a:close/>
                </a:path>
              </a:pathLst>
            </a:custGeom>
            <a:solidFill>
              <a:srgbClr val="79B7D7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3931032" y="63500"/>
              <a:ext cx="1743837" cy="815087"/>
            </a:xfrm>
            <a:custGeom>
              <a:avLst/>
              <a:gdLst/>
              <a:ahLst/>
              <a:cxnLst/>
              <a:rect r="r" b="b" t="t" l="l"/>
              <a:pathLst>
                <a:path h="815087" w="1743837">
                  <a:moveTo>
                    <a:pt x="5080" y="27813"/>
                  </a:moveTo>
                  <a:lnTo>
                    <a:pt x="5080" y="787274"/>
                  </a:lnTo>
                  <a:lnTo>
                    <a:pt x="2540" y="787274"/>
                  </a:lnTo>
                  <a:lnTo>
                    <a:pt x="5080" y="787274"/>
                  </a:lnTo>
                  <a:cubicBezTo>
                    <a:pt x="5080" y="799847"/>
                    <a:pt x="15240" y="810007"/>
                    <a:pt x="27813" y="810007"/>
                  </a:cubicBezTo>
                  <a:lnTo>
                    <a:pt x="27813" y="812547"/>
                  </a:lnTo>
                  <a:lnTo>
                    <a:pt x="27813" y="810007"/>
                  </a:lnTo>
                  <a:lnTo>
                    <a:pt x="1716024" y="810007"/>
                  </a:lnTo>
                  <a:lnTo>
                    <a:pt x="1716024" y="812547"/>
                  </a:lnTo>
                  <a:lnTo>
                    <a:pt x="1716024" y="810007"/>
                  </a:lnTo>
                  <a:cubicBezTo>
                    <a:pt x="1728597" y="810007"/>
                    <a:pt x="1738757" y="799847"/>
                    <a:pt x="1738757" y="787274"/>
                  </a:cubicBezTo>
                  <a:lnTo>
                    <a:pt x="1741297" y="787274"/>
                  </a:lnTo>
                  <a:lnTo>
                    <a:pt x="1738757" y="787274"/>
                  </a:lnTo>
                  <a:lnTo>
                    <a:pt x="1738757" y="27813"/>
                  </a:lnTo>
                  <a:lnTo>
                    <a:pt x="1741297" y="27813"/>
                  </a:lnTo>
                  <a:lnTo>
                    <a:pt x="1738757" y="27813"/>
                  </a:lnTo>
                  <a:cubicBezTo>
                    <a:pt x="1738757" y="15240"/>
                    <a:pt x="1728597" y="5080"/>
                    <a:pt x="1716024" y="5080"/>
                  </a:cubicBezTo>
                  <a:lnTo>
                    <a:pt x="1716024" y="2540"/>
                  </a:lnTo>
                  <a:lnTo>
                    <a:pt x="1716024" y="5080"/>
                  </a:lnTo>
                  <a:lnTo>
                    <a:pt x="27813" y="5080"/>
                  </a:lnTo>
                  <a:lnTo>
                    <a:pt x="27813" y="2540"/>
                  </a:lnTo>
                  <a:lnTo>
                    <a:pt x="27813" y="5080"/>
                  </a:lnTo>
                  <a:cubicBezTo>
                    <a:pt x="15240" y="5080"/>
                    <a:pt x="5080" y="15240"/>
                    <a:pt x="5080" y="27813"/>
                  </a:cubicBezTo>
                  <a:lnTo>
                    <a:pt x="2540" y="27813"/>
                  </a:lnTo>
                  <a:lnTo>
                    <a:pt x="5080" y="27813"/>
                  </a:lnTo>
                  <a:moveTo>
                    <a:pt x="0" y="27813"/>
                  </a:moveTo>
                  <a:cubicBezTo>
                    <a:pt x="0" y="12446"/>
                    <a:pt x="12446" y="0"/>
                    <a:pt x="27813" y="0"/>
                  </a:cubicBezTo>
                  <a:lnTo>
                    <a:pt x="1716024" y="0"/>
                  </a:lnTo>
                  <a:cubicBezTo>
                    <a:pt x="1731391" y="0"/>
                    <a:pt x="1743837" y="12446"/>
                    <a:pt x="1743837" y="27813"/>
                  </a:cubicBezTo>
                  <a:lnTo>
                    <a:pt x="1743837" y="787274"/>
                  </a:lnTo>
                  <a:cubicBezTo>
                    <a:pt x="1743837" y="802641"/>
                    <a:pt x="1731391" y="815087"/>
                    <a:pt x="1716024" y="815087"/>
                  </a:cubicBezTo>
                  <a:lnTo>
                    <a:pt x="27813" y="815087"/>
                  </a:lnTo>
                  <a:cubicBezTo>
                    <a:pt x="12446" y="815087"/>
                    <a:pt x="0" y="802641"/>
                    <a:pt x="0" y="787274"/>
                  </a:cubicBezTo>
                  <a:lnTo>
                    <a:pt x="0" y="27813"/>
                  </a:lnTo>
                  <a:close/>
                </a:path>
              </a:pathLst>
            </a:custGeom>
            <a:solidFill>
              <a:srgbClr val="79B7D7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458735" y="-11963"/>
            <a:ext cx="2679040" cy="299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b="true" sz="1693" spc="-1">
                <a:solidFill>
                  <a:srgbClr val="19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IMPACT</a:t>
            </a:r>
            <a:r>
              <a:rPr lang="en-US" b="true" sz="1693" spc="-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1693" spc="-1">
                <a:solidFill>
                  <a:srgbClr val="19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AND</a:t>
            </a:r>
            <a:r>
              <a:rPr lang="en-US" b="true" sz="1693" spc="-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1693" spc="-1">
                <a:solidFill>
                  <a:srgbClr val="19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BENEFITS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49822" y="149190"/>
            <a:ext cx="224771" cy="13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"/>
              </a:lnSpc>
            </a:pPr>
            <a:r>
              <a:rPr lang="en-US" sz="458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Circuit Breakers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473442" y="3130725"/>
            <a:ext cx="829389" cy="8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7"/>
              </a:lnSpc>
            </a:pPr>
            <a:r>
              <a:rPr lang="en-US" sz="448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@SIH Idea submission–Template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511019" y="1842430"/>
            <a:ext cx="752723" cy="146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5"/>
              </a:lnSpc>
            </a:pPr>
            <a:r>
              <a:rPr lang="en-US" b="true" sz="797" spc="0">
                <a:solidFill>
                  <a:srgbClr val="19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Benefit</a:t>
            </a:r>
            <a:r>
              <a:rPr lang="en-US" b="true" sz="7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797" spc="0">
                <a:solidFill>
                  <a:srgbClr val="19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Analysis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067877" y="683228"/>
            <a:ext cx="1656750" cy="146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5"/>
              </a:lnSpc>
            </a:pPr>
            <a:r>
              <a:rPr lang="en-US" b="true" sz="797" spc="0">
                <a:solidFill>
                  <a:srgbClr val="19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Target</a:t>
            </a:r>
            <a:r>
              <a:rPr lang="en-US" b="true" sz="7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797" spc="0">
                <a:solidFill>
                  <a:srgbClr val="19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Audience</a:t>
            </a:r>
            <a:r>
              <a:rPr lang="en-US" b="true" sz="7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797" spc="0">
                <a:solidFill>
                  <a:srgbClr val="19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&amp;</a:t>
            </a:r>
            <a:r>
              <a:rPr lang="en-US" b="true" sz="7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797" spc="0">
                <a:solidFill>
                  <a:srgbClr val="19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Impact</a:t>
            </a:r>
            <a:r>
              <a:rPr lang="en-US" b="true" sz="7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797" spc="0">
                <a:solidFill>
                  <a:srgbClr val="19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Analysis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934787" y="1088460"/>
            <a:ext cx="1590856" cy="543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"/>
              </a:lnSpc>
            </a:pPr>
            <a:r>
              <a:rPr lang="en-US" b="true" sz="69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Ministry</a:t>
            </a:r>
            <a:r>
              <a:rPr lang="en-US" b="true" sz="6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69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of</a:t>
            </a:r>
            <a:r>
              <a:rPr lang="en-US" b="true" sz="6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69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Steel</a:t>
            </a:r>
            <a:r>
              <a:rPr lang="en-US" b="true" sz="6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69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/</a:t>
            </a:r>
            <a:r>
              <a:rPr lang="en-US" b="true" sz="6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69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National</a:t>
            </a:r>
            <a:r>
              <a:rPr lang="en-US" b="true" sz="6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69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Steel</a:t>
            </a:r>
            <a:r>
              <a:rPr lang="en-US" b="true" sz="6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69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Pol- icy</a:t>
            </a:r>
          </a:p>
          <a:p>
            <a:pPr algn="l">
              <a:lnSpc>
                <a:spcPts val="846"/>
              </a:lnSpc>
            </a:pP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Supports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100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MT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by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2030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target</a:t>
            </a:r>
          </a:p>
          <a:p>
            <a:pPr algn="l">
              <a:lnSpc>
                <a:spcPts val="846"/>
              </a:lnSpc>
            </a:pP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by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protecting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production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continuity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at Bailadila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during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monsoon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season.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15998" y="2240337"/>
            <a:ext cx="1573120" cy="220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"/>
              </a:lnSpc>
            </a:pPr>
            <a:r>
              <a:rPr lang="en-US" b="true" sz="69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Operational</a:t>
            </a:r>
            <a:r>
              <a:rPr lang="en-US" b="true" sz="6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69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reliability</a:t>
            </a:r>
          </a:p>
          <a:p>
            <a:pPr algn="l">
              <a:lnSpc>
                <a:spcPts val="846"/>
              </a:lnSpc>
            </a:pP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•Detects</a:t>
            </a:r>
            <a:r>
              <a:rPr lang="en-US" sz="69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hazards</a:t>
            </a:r>
            <a:r>
              <a:rPr lang="en-US" sz="69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before</a:t>
            </a:r>
            <a:r>
              <a:rPr lang="en-US" sz="69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lang="en-US" sz="69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collision</a:t>
            </a:r>
            <a:r>
              <a:rPr lang="en-US" sz="69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oc-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91284" y="2445363"/>
            <a:ext cx="161792" cy="121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6"/>
              </a:lnSpc>
            </a:pP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curs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15998" y="2552919"/>
            <a:ext cx="1527343" cy="121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6"/>
              </a:lnSpc>
            </a:pP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•Keeps</a:t>
            </a:r>
            <a:r>
              <a:rPr lang="en-US" sz="69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haul</a:t>
            </a:r>
            <a:r>
              <a:rPr lang="en-US" sz="69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cycle</a:t>
            </a:r>
            <a:r>
              <a:rPr lang="en-US" sz="69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times</a:t>
            </a:r>
            <a:r>
              <a:rPr lang="en-US" sz="69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stable</a:t>
            </a:r>
            <a:r>
              <a:rPr lang="en-US" sz="69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across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91284" y="2660456"/>
            <a:ext cx="757838" cy="121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6"/>
              </a:lnSpc>
            </a:pP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visibility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conditions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15998" y="1084745"/>
            <a:ext cx="1600200" cy="435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"/>
              </a:lnSpc>
            </a:pPr>
            <a:r>
              <a:rPr lang="en-US" b="true" sz="69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NMDC</a:t>
            </a:r>
            <a:r>
              <a:rPr lang="en-US" b="true" sz="6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69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Haul</a:t>
            </a:r>
            <a:r>
              <a:rPr lang="en-US" b="true" sz="6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69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Truck</a:t>
            </a:r>
            <a:r>
              <a:rPr lang="en-US" b="true" sz="6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69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Operators</a:t>
            </a:r>
          </a:p>
          <a:p>
            <a:pPr algn="l">
              <a:lnSpc>
                <a:spcPts val="846"/>
              </a:lnSpc>
            </a:pP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Safer</a:t>
            </a:r>
            <a:r>
              <a:rPr lang="en-US" sz="69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driving</a:t>
            </a:r>
            <a:r>
              <a:rPr lang="en-US" sz="69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in</a:t>
            </a:r>
            <a:r>
              <a:rPr lang="en-US" sz="69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dense</a:t>
            </a:r>
            <a:r>
              <a:rPr lang="en-US" sz="69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monsoon</a:t>
            </a:r>
            <a:r>
              <a:rPr lang="en-US" sz="69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fog, fewer</a:t>
            </a:r>
            <a:r>
              <a:rPr lang="en-US" sz="69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forced</a:t>
            </a:r>
            <a:r>
              <a:rPr lang="en-US" sz="69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slowdowns</a:t>
            </a:r>
            <a:r>
              <a:rPr lang="en-US" sz="69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or</a:t>
            </a:r>
            <a:r>
              <a:rPr lang="en-US" sz="69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halts,</a:t>
            </a:r>
            <a:r>
              <a:rPr lang="en-US" sz="69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and fewer</a:t>
            </a:r>
            <a:r>
              <a:rPr lang="en-US" sz="69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near-miss</a:t>
            </a:r>
            <a:r>
              <a:rPr lang="en-US" sz="69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incidents</a:t>
            </a:r>
            <a:r>
              <a:rPr lang="en-US" sz="69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on</a:t>
            </a:r>
            <a:r>
              <a:rPr lang="en-US" sz="69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haul</a:t>
            </a:r>
            <a:r>
              <a:rPr lang="en-US" sz="69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roads.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077202" y="1084745"/>
            <a:ext cx="1494463" cy="435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"/>
              </a:lnSpc>
            </a:pPr>
            <a:r>
              <a:rPr lang="en-US" b="true" sz="69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NMDC</a:t>
            </a:r>
            <a:r>
              <a:rPr lang="en-US" b="true" sz="6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69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Mine</a:t>
            </a:r>
            <a:r>
              <a:rPr lang="en-US" b="true" sz="6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69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Management</a:t>
            </a:r>
          </a:p>
          <a:p>
            <a:pPr algn="l">
              <a:lnSpc>
                <a:spcPts val="846"/>
              </a:lnSpc>
            </a:pP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scalable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system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that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sustains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ore evacuation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during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monsoon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fog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while cutting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accident-related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downtime.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077202" y="2240337"/>
            <a:ext cx="1381906" cy="220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"/>
              </a:lnSpc>
            </a:pPr>
            <a:r>
              <a:rPr lang="en-US" b="true" sz="69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Cost</a:t>
            </a:r>
            <a:r>
              <a:rPr lang="en-US" b="true" sz="6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69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&amp;</a:t>
            </a:r>
            <a:r>
              <a:rPr lang="en-US" b="true" sz="6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69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logistics</a:t>
            </a:r>
            <a:r>
              <a:rPr lang="en-US" b="true" sz="6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69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savings</a:t>
            </a:r>
          </a:p>
          <a:p>
            <a:pPr algn="l">
              <a:lnSpc>
                <a:spcPts val="846"/>
              </a:lnSpc>
            </a:pP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•Cuts</a:t>
            </a:r>
            <a:r>
              <a:rPr lang="en-US" sz="69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production</a:t>
            </a:r>
            <a:r>
              <a:rPr lang="en-US" sz="69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losses</a:t>
            </a:r>
            <a:r>
              <a:rPr lang="en-US" sz="69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from</a:t>
            </a:r>
            <a:r>
              <a:rPr lang="en-US" sz="69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fog-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152488" y="2445363"/>
            <a:ext cx="493328" cy="121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6"/>
              </a:lnSpc>
            </a:pP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related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halts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077202" y="2552919"/>
            <a:ext cx="1555147" cy="121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6"/>
              </a:lnSpc>
            </a:pP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•Reuses</a:t>
            </a:r>
            <a:r>
              <a:rPr lang="en-US" sz="69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one</a:t>
            </a:r>
            <a:r>
              <a:rPr lang="en-US" sz="69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retrofit</a:t>
            </a:r>
            <a:r>
              <a:rPr lang="en-US" sz="69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kit</a:t>
            </a:r>
            <a:r>
              <a:rPr lang="en-US" sz="69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across</a:t>
            </a:r>
            <a:r>
              <a:rPr lang="en-US" sz="69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</a:t>
            </a:r>
            <a:r>
              <a:rPr lang="en-US" sz="69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en-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152488" y="2660456"/>
            <a:ext cx="671341" cy="121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6"/>
              </a:lnSpc>
            </a:pPr>
            <a:r>
              <a:rPr lang="en-US" sz="697" spc="2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tire</a:t>
            </a:r>
            <a:r>
              <a:rPr lang="en-US" sz="697" spc="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2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dumper</a:t>
            </a:r>
            <a:r>
              <a:rPr lang="en-US" sz="697" spc="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2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fleet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934787" y="2240337"/>
            <a:ext cx="1639719" cy="220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"/>
              </a:lnSpc>
            </a:pPr>
            <a:r>
              <a:rPr lang="en-US" b="true" sz="69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Mission</a:t>
            </a:r>
            <a:r>
              <a:rPr lang="en-US" b="true" sz="6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69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&amp;</a:t>
            </a:r>
            <a:r>
              <a:rPr lang="en-US" b="true" sz="6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69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safety</a:t>
            </a:r>
            <a:r>
              <a:rPr lang="en-US" b="true" sz="6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697" spc="0">
                <a:solidFill>
                  <a:srgbClr val="293E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impact</a:t>
            </a:r>
          </a:p>
          <a:p>
            <a:pPr algn="l">
              <a:lnSpc>
                <a:spcPts val="846"/>
              </a:lnSpc>
            </a:pP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•Prevents</a:t>
            </a:r>
            <a:r>
              <a:rPr lang="en-US" sz="69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collisions</a:t>
            </a:r>
            <a:r>
              <a:rPr lang="en-US" sz="69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between</a:t>
            </a:r>
            <a:r>
              <a:rPr lang="en-US" sz="69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dumpers</a:t>
            </a:r>
            <a:r>
              <a:rPr lang="en-US" sz="697" spc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1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in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010073" y="2445363"/>
            <a:ext cx="378533" cy="121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6"/>
              </a:lnSpc>
            </a:pP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dense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fog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934787" y="2552919"/>
            <a:ext cx="1620488" cy="121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6"/>
              </a:lnSpc>
            </a:pP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•Reduces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haul-road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accidents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and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near-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010073" y="2660456"/>
            <a:ext cx="252174" cy="121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6"/>
              </a:lnSpc>
            </a:pP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misses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934787" y="2768003"/>
            <a:ext cx="1561481" cy="121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6"/>
              </a:lnSpc>
            </a:pP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•Gives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operators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real-time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hazard</a:t>
            </a:r>
            <a:r>
              <a:rPr lang="en-US" sz="69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visi-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010073" y="2875550"/>
            <a:ext cx="194443" cy="121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6"/>
              </a:lnSpc>
            </a:pPr>
            <a:r>
              <a:rPr lang="en-US" sz="69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bility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533920" y="3123324"/>
            <a:ext cx="42586" cy="105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b="true" sz="5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50273" y="92526"/>
            <a:ext cx="774002" cy="366084"/>
            <a:chOff x="0" y="0"/>
            <a:chExt cx="1032002" cy="4881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2002" cy="488061"/>
            </a:xfrm>
            <a:custGeom>
              <a:avLst/>
              <a:gdLst/>
              <a:ahLst/>
              <a:cxnLst/>
              <a:rect r="r" b="b" t="t" l="l"/>
              <a:pathLst>
                <a:path h="488061" w="1032002">
                  <a:moveTo>
                    <a:pt x="0" y="0"/>
                  </a:moveTo>
                  <a:lnTo>
                    <a:pt x="1032002" y="0"/>
                  </a:lnTo>
                  <a:lnTo>
                    <a:pt x="1032002" y="488061"/>
                  </a:lnTo>
                  <a:lnTo>
                    <a:pt x="0" y="4880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3132020"/>
            <a:ext cx="5760072" cy="108004"/>
            <a:chOff x="0" y="0"/>
            <a:chExt cx="5760072" cy="1080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760086" cy="107948"/>
            </a:xfrm>
            <a:custGeom>
              <a:avLst/>
              <a:gdLst/>
              <a:ahLst/>
              <a:cxnLst/>
              <a:rect r="r" b="b" t="t" l="l"/>
              <a:pathLst>
                <a:path h="107948" w="5760086">
                  <a:moveTo>
                    <a:pt x="0" y="0"/>
                  </a:moveTo>
                  <a:lnTo>
                    <a:pt x="0" y="107948"/>
                  </a:lnTo>
                  <a:lnTo>
                    <a:pt x="5760086" y="107948"/>
                  </a:lnTo>
                  <a:lnTo>
                    <a:pt x="5760086" y="0"/>
                  </a:lnTo>
                  <a:close/>
                </a:path>
              </a:pathLst>
            </a:custGeom>
            <a:solidFill>
              <a:srgbClr val="087FB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6761" y="117948"/>
            <a:ext cx="426463" cy="210455"/>
            <a:chOff x="0" y="0"/>
            <a:chExt cx="426466" cy="2104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6468" cy="210445"/>
            </a:xfrm>
            <a:custGeom>
              <a:avLst/>
              <a:gdLst/>
              <a:ahLst/>
              <a:cxnLst/>
              <a:rect r="r" b="b" t="t" l="l"/>
              <a:pathLst>
                <a:path h="210445" w="426468">
                  <a:moveTo>
                    <a:pt x="8890" y="29719"/>
                  </a:moveTo>
                  <a:lnTo>
                    <a:pt x="8890" y="180726"/>
                  </a:lnTo>
                  <a:lnTo>
                    <a:pt x="4445" y="180726"/>
                  </a:lnTo>
                  <a:lnTo>
                    <a:pt x="8890" y="180726"/>
                  </a:lnTo>
                  <a:cubicBezTo>
                    <a:pt x="8890" y="192283"/>
                    <a:pt x="18288" y="201555"/>
                    <a:pt x="29718" y="201555"/>
                  </a:cubicBezTo>
                  <a:lnTo>
                    <a:pt x="29718" y="206000"/>
                  </a:lnTo>
                  <a:lnTo>
                    <a:pt x="29718" y="201555"/>
                  </a:lnTo>
                  <a:lnTo>
                    <a:pt x="396750" y="201555"/>
                  </a:lnTo>
                  <a:lnTo>
                    <a:pt x="396750" y="206000"/>
                  </a:lnTo>
                  <a:lnTo>
                    <a:pt x="396750" y="201555"/>
                  </a:lnTo>
                  <a:cubicBezTo>
                    <a:pt x="408307" y="201555"/>
                    <a:pt x="417578" y="192156"/>
                    <a:pt x="417578" y="180726"/>
                  </a:cubicBezTo>
                  <a:lnTo>
                    <a:pt x="422024" y="180726"/>
                  </a:lnTo>
                  <a:lnTo>
                    <a:pt x="417578" y="180726"/>
                  </a:lnTo>
                  <a:lnTo>
                    <a:pt x="417578" y="29719"/>
                  </a:lnTo>
                  <a:lnTo>
                    <a:pt x="422024" y="29719"/>
                  </a:lnTo>
                  <a:lnTo>
                    <a:pt x="417578" y="29719"/>
                  </a:lnTo>
                  <a:cubicBezTo>
                    <a:pt x="417578" y="18162"/>
                    <a:pt x="408180" y="8890"/>
                    <a:pt x="396750" y="8890"/>
                  </a:cubicBezTo>
                  <a:lnTo>
                    <a:pt x="396750" y="4445"/>
                  </a:lnTo>
                  <a:lnTo>
                    <a:pt x="396750" y="8890"/>
                  </a:lnTo>
                  <a:lnTo>
                    <a:pt x="29718" y="8890"/>
                  </a:lnTo>
                  <a:lnTo>
                    <a:pt x="29718" y="4445"/>
                  </a:lnTo>
                  <a:lnTo>
                    <a:pt x="29718" y="8890"/>
                  </a:lnTo>
                  <a:cubicBezTo>
                    <a:pt x="18161" y="8890"/>
                    <a:pt x="8890" y="18162"/>
                    <a:pt x="8890" y="29719"/>
                  </a:cubicBezTo>
                  <a:lnTo>
                    <a:pt x="4445" y="29719"/>
                  </a:lnTo>
                  <a:lnTo>
                    <a:pt x="8890" y="29719"/>
                  </a:lnTo>
                  <a:moveTo>
                    <a:pt x="0" y="29719"/>
                  </a:moveTo>
                  <a:cubicBezTo>
                    <a:pt x="0" y="13335"/>
                    <a:pt x="13335" y="0"/>
                    <a:pt x="29718" y="0"/>
                  </a:cubicBezTo>
                  <a:lnTo>
                    <a:pt x="396750" y="0"/>
                  </a:lnTo>
                  <a:cubicBezTo>
                    <a:pt x="413133" y="0"/>
                    <a:pt x="426468" y="13335"/>
                    <a:pt x="426468" y="29719"/>
                  </a:cubicBezTo>
                  <a:lnTo>
                    <a:pt x="426468" y="180726"/>
                  </a:lnTo>
                  <a:cubicBezTo>
                    <a:pt x="426468" y="197110"/>
                    <a:pt x="413133" y="210445"/>
                    <a:pt x="396750" y="210445"/>
                  </a:cubicBezTo>
                  <a:lnTo>
                    <a:pt x="29718" y="210445"/>
                  </a:lnTo>
                  <a:cubicBezTo>
                    <a:pt x="13335" y="210445"/>
                    <a:pt x="0" y="197110"/>
                    <a:pt x="0" y="180726"/>
                  </a:cubicBezTo>
                  <a:lnTo>
                    <a:pt x="0" y="29719"/>
                  </a:lnTo>
                  <a:close/>
                </a:path>
              </a:pathLst>
            </a:custGeom>
            <a:solidFill>
              <a:srgbClr val="7543A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85163" y="635956"/>
            <a:ext cx="5589727" cy="2184083"/>
            <a:chOff x="0" y="0"/>
            <a:chExt cx="5589727" cy="21840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6040" y="66040"/>
              <a:ext cx="5457568" cy="2051937"/>
            </a:xfrm>
            <a:custGeom>
              <a:avLst/>
              <a:gdLst/>
              <a:ahLst/>
              <a:cxnLst/>
              <a:rect r="r" b="b" t="t" l="l"/>
              <a:pathLst>
                <a:path h="2051937" w="5457568">
                  <a:moveTo>
                    <a:pt x="0" y="25273"/>
                  </a:moveTo>
                  <a:lnTo>
                    <a:pt x="0" y="2026663"/>
                  </a:lnTo>
                  <a:cubicBezTo>
                    <a:pt x="0" y="2040634"/>
                    <a:pt x="11303" y="2051937"/>
                    <a:pt x="25273" y="2051937"/>
                  </a:cubicBezTo>
                  <a:lnTo>
                    <a:pt x="5432295" y="2051937"/>
                  </a:lnTo>
                  <a:cubicBezTo>
                    <a:pt x="5446265" y="2051937"/>
                    <a:pt x="5457568" y="2040634"/>
                    <a:pt x="5457568" y="2026663"/>
                  </a:cubicBezTo>
                  <a:lnTo>
                    <a:pt x="5457568" y="25273"/>
                  </a:lnTo>
                  <a:cubicBezTo>
                    <a:pt x="5457568" y="11303"/>
                    <a:pt x="5446265" y="0"/>
                    <a:pt x="5432295" y="0"/>
                  </a:cubicBezTo>
                  <a:lnTo>
                    <a:pt x="25273" y="0"/>
                  </a:lnTo>
                  <a:cubicBezTo>
                    <a:pt x="11303" y="0"/>
                    <a:pt x="0" y="11303"/>
                    <a:pt x="0" y="25273"/>
                  </a:cubicBezTo>
                  <a:close/>
                </a:path>
              </a:pathLst>
            </a:custGeom>
            <a:solidFill>
              <a:srgbClr val="79B7D7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3500" y="63500"/>
              <a:ext cx="5462648" cy="2057017"/>
            </a:xfrm>
            <a:custGeom>
              <a:avLst/>
              <a:gdLst/>
              <a:ahLst/>
              <a:cxnLst/>
              <a:rect r="r" b="b" t="t" l="l"/>
              <a:pathLst>
                <a:path h="2057017" w="5462648">
                  <a:moveTo>
                    <a:pt x="5080" y="27813"/>
                  </a:moveTo>
                  <a:lnTo>
                    <a:pt x="5080" y="2029203"/>
                  </a:lnTo>
                  <a:lnTo>
                    <a:pt x="2540" y="2029203"/>
                  </a:lnTo>
                  <a:lnTo>
                    <a:pt x="5080" y="2029203"/>
                  </a:lnTo>
                  <a:cubicBezTo>
                    <a:pt x="5080" y="2041777"/>
                    <a:pt x="15240" y="2051936"/>
                    <a:pt x="27813" y="2051936"/>
                  </a:cubicBezTo>
                  <a:lnTo>
                    <a:pt x="27813" y="2054477"/>
                  </a:lnTo>
                  <a:lnTo>
                    <a:pt x="27813" y="2051936"/>
                  </a:lnTo>
                  <a:lnTo>
                    <a:pt x="5434835" y="2051936"/>
                  </a:lnTo>
                  <a:lnTo>
                    <a:pt x="5434835" y="2054477"/>
                  </a:lnTo>
                  <a:lnTo>
                    <a:pt x="5434835" y="2051936"/>
                  </a:lnTo>
                  <a:cubicBezTo>
                    <a:pt x="5447408" y="2051936"/>
                    <a:pt x="5457568" y="2041777"/>
                    <a:pt x="5457568" y="2029203"/>
                  </a:cubicBezTo>
                  <a:lnTo>
                    <a:pt x="5460108" y="2029203"/>
                  </a:lnTo>
                  <a:lnTo>
                    <a:pt x="5457568" y="2029203"/>
                  </a:lnTo>
                  <a:lnTo>
                    <a:pt x="5457568" y="27813"/>
                  </a:lnTo>
                  <a:lnTo>
                    <a:pt x="5460108" y="27813"/>
                  </a:lnTo>
                  <a:lnTo>
                    <a:pt x="5457568" y="27813"/>
                  </a:lnTo>
                  <a:cubicBezTo>
                    <a:pt x="5457568" y="15240"/>
                    <a:pt x="5447408" y="5080"/>
                    <a:pt x="5434835" y="5080"/>
                  </a:cubicBezTo>
                  <a:lnTo>
                    <a:pt x="5434835" y="2540"/>
                  </a:lnTo>
                  <a:lnTo>
                    <a:pt x="5434835" y="5080"/>
                  </a:lnTo>
                  <a:lnTo>
                    <a:pt x="27813" y="5080"/>
                  </a:lnTo>
                  <a:lnTo>
                    <a:pt x="27813" y="2540"/>
                  </a:lnTo>
                  <a:lnTo>
                    <a:pt x="27813" y="5080"/>
                  </a:lnTo>
                  <a:cubicBezTo>
                    <a:pt x="15240" y="5080"/>
                    <a:pt x="5080" y="15240"/>
                    <a:pt x="5080" y="27813"/>
                  </a:cubicBezTo>
                  <a:lnTo>
                    <a:pt x="2540" y="27813"/>
                  </a:lnTo>
                  <a:lnTo>
                    <a:pt x="5080" y="27813"/>
                  </a:lnTo>
                  <a:moveTo>
                    <a:pt x="0" y="27813"/>
                  </a:moveTo>
                  <a:cubicBezTo>
                    <a:pt x="0" y="12446"/>
                    <a:pt x="12446" y="0"/>
                    <a:pt x="27813" y="0"/>
                  </a:cubicBezTo>
                  <a:lnTo>
                    <a:pt x="5434835" y="0"/>
                  </a:lnTo>
                  <a:cubicBezTo>
                    <a:pt x="5450202" y="0"/>
                    <a:pt x="5462648" y="12446"/>
                    <a:pt x="5462648" y="27813"/>
                  </a:cubicBezTo>
                  <a:lnTo>
                    <a:pt x="5462648" y="2029203"/>
                  </a:lnTo>
                  <a:cubicBezTo>
                    <a:pt x="5462648" y="2044571"/>
                    <a:pt x="5450202" y="2057016"/>
                    <a:pt x="5434835" y="2057016"/>
                  </a:cubicBezTo>
                  <a:lnTo>
                    <a:pt x="27813" y="2057016"/>
                  </a:lnTo>
                  <a:cubicBezTo>
                    <a:pt x="12446" y="2057016"/>
                    <a:pt x="0" y="2044571"/>
                    <a:pt x="0" y="2029203"/>
                  </a:cubicBezTo>
                  <a:lnTo>
                    <a:pt x="0" y="27813"/>
                  </a:lnTo>
                  <a:close/>
                </a:path>
              </a:pathLst>
            </a:custGeom>
            <a:solidFill>
              <a:srgbClr val="79B7D7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128893" y="-11963"/>
            <a:ext cx="3351905" cy="299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b="true" sz="1693" spc="-1">
                <a:solidFill>
                  <a:srgbClr val="19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RESEARCH</a:t>
            </a:r>
            <a:r>
              <a:rPr lang="en-US" b="true" sz="1693" spc="-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1693" spc="-1">
                <a:solidFill>
                  <a:srgbClr val="19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AND</a:t>
            </a:r>
            <a:r>
              <a:rPr lang="en-US" b="true" sz="1693" spc="-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1693" spc="-1">
                <a:solidFill>
                  <a:srgbClr val="19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REFERENCES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9822" y="149190"/>
            <a:ext cx="224771" cy="13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"/>
              </a:lnSpc>
            </a:pPr>
            <a:r>
              <a:rPr lang="en-US" sz="458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Circuit Breakers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73442" y="3130725"/>
            <a:ext cx="829389" cy="8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7"/>
              </a:lnSpc>
            </a:pPr>
            <a:r>
              <a:rPr lang="en-US" sz="448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@SIH Idea submission–Template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533920" y="3123324"/>
            <a:ext cx="42586" cy="105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b="true" sz="5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62804" y="737225"/>
            <a:ext cx="1569377" cy="146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5"/>
              </a:lnSpc>
            </a:pPr>
            <a:r>
              <a:rPr lang="en-US" b="true" sz="797" spc="0">
                <a:solidFill>
                  <a:srgbClr val="19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Technical</a:t>
            </a:r>
            <a:r>
              <a:rPr lang="en-US" b="true" sz="7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797" spc="0">
                <a:solidFill>
                  <a:srgbClr val="19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Foundation</a:t>
            </a:r>
            <a:r>
              <a:rPr lang="en-US" b="true" sz="7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797" spc="0">
                <a:solidFill>
                  <a:srgbClr val="19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&amp;</a:t>
            </a:r>
            <a:r>
              <a:rPr lang="en-US" b="true" sz="7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797" spc="0">
                <a:solidFill>
                  <a:srgbClr val="19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Prior</a:t>
            </a:r>
            <a:r>
              <a:rPr lang="en-US" b="true" sz="797" spc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797" spc="0">
                <a:solidFill>
                  <a:srgbClr val="19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62804" y="984999"/>
            <a:ext cx="5251161" cy="395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3"/>
              </a:lnSpc>
            </a:pP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•DGMS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Safety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Circulars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on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HEMM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Operation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in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Low-Visibility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and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Monsoon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Conditions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in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Opencast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Mines.</a:t>
            </a:r>
          </a:p>
          <a:p>
            <a:pPr algn="l">
              <a:lnSpc>
                <a:spcPts val="1643"/>
              </a:lnSpc>
            </a:pP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•Multi-Sensor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Fusion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(Thermal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+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LiDAR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+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Radar)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for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All-Weather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Obstacle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Detection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in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Autonomous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Off-Road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Vehicles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43462" y="1383773"/>
            <a:ext cx="1286199" cy="129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6"/>
              </a:lnSpc>
            </a:pP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(IEEE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Sensors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Journal,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2023).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62804" y="1592542"/>
            <a:ext cx="5157445" cy="129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6"/>
              </a:lnSpc>
            </a:pP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•V2V/V2I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Communication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Standards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and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Field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Trials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for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Collision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Avoidance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in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Mining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and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Off-Highway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Vehicles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(SAE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43462" y="1725387"/>
            <a:ext cx="1019346" cy="129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6"/>
              </a:lnSpc>
            </a:pP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Technical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Paper,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2024).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62804" y="1877016"/>
            <a:ext cx="5119868" cy="395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3"/>
              </a:lnSpc>
            </a:pP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•NMDC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Sustainability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&amp;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Annual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Reports—Bailadila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Production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Targets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and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Monsoon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Operational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Constraints.</a:t>
            </a:r>
          </a:p>
          <a:p>
            <a:pPr algn="l">
              <a:lnSpc>
                <a:spcPts val="1643"/>
              </a:lnSpc>
            </a:pP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•SIH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2026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Problem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Statement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SIH26007—Defines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Fog/Low-Visibility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Challenge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Context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for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NMDC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Bailadila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Haul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43462" y="2275780"/>
            <a:ext cx="288465" cy="129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6"/>
              </a:lnSpc>
            </a:pP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Roads.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62804" y="2484539"/>
            <a:ext cx="3710235" cy="130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6"/>
              </a:lnSpc>
            </a:pP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  <a:hlinkClick r:id="rId3" tooltip="https://www.nmdc.co.in/"/>
              </a:rPr>
              <a:t>•</a:t>
            </a:r>
            <a:r>
              <a:rPr lang="en-US" sz="747" spc="0">
                <a:solidFill>
                  <a:srgbClr val="087FBD"/>
                </a:solidFill>
                <a:latin typeface="IBM Plex Sans"/>
                <a:ea typeface="IBM Plex Sans"/>
                <a:cs typeface="IBM Plex Sans"/>
                <a:sym typeface="IBM Plex Sans"/>
                <a:hlinkClick r:id="rId4" tooltip="https://www.nmdc.co.in/"/>
              </a:rPr>
              <a:t>https://www.nmdc.co.in/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  <a:hlinkClick r:id="rId5" tooltip="https://www.nmdc.co.in/"/>
              </a:rPr>
              <a:t>—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NMDC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Limited,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Production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and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Sustainability</a:t>
            </a:r>
            <a:r>
              <a:rPr lang="en-US" sz="747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47" spc="0">
                <a:solidFill>
                  <a:srgbClr val="293E4F"/>
                </a:solidFill>
                <a:latin typeface="IBM Plex Sans"/>
                <a:ea typeface="IBM Plex Sans"/>
                <a:cs typeface="IBM Plex Sans"/>
                <a:sym typeface="IBM Plex Sans"/>
              </a:rPr>
              <a:t>Reports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DAHVLSz9ogI</dc:identifier>
  <dcterms:modified xsi:type="dcterms:W3CDTF">2011-08-01T06:04:30Z</dcterms:modified>
  <cp:revision>1</cp:revision>
  <dc:title>SIH26-A0H-T341_Presentation_PS2</dc:title>
</cp:coreProperties>
</file>